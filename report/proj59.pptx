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handoutMasters/handoutMaster1.xml" ContentType="application/vnd.openxmlformats-officedocument.presentationml.handoutMaster+xml"/>
  <Override PartName="/ppt/media/image15.svg" ContentType="image/svg+xml"/>
  <Override PartName="/ppt/media/image19.svg" ContentType="image/svg+xml"/>
  <Override PartName="/ppt/media/image22.svg" ContentType="image/svg+xml"/>
  <Override PartName="/ppt/media/image4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handoutMasterIdLst>
    <p:handoutMasterId r:id="rId39"/>
  </p:handoutMasterIdLst>
  <p:sldIdLst>
    <p:sldId id="256" r:id="rId3"/>
    <p:sldId id="257" r:id="rId5"/>
    <p:sldId id="258" r:id="rId6"/>
    <p:sldId id="259" r:id="rId7"/>
    <p:sldId id="260" r:id="rId8"/>
    <p:sldId id="261" r:id="rId9"/>
    <p:sldId id="262" r:id="rId10"/>
    <p:sldId id="290" r:id="rId11"/>
    <p:sldId id="264" r:id="rId12"/>
    <p:sldId id="283" r:id="rId13"/>
    <p:sldId id="267" r:id="rId14"/>
    <p:sldId id="265" r:id="rId15"/>
    <p:sldId id="268" r:id="rId16"/>
    <p:sldId id="269" r:id="rId17"/>
    <p:sldId id="271" r:id="rId18"/>
    <p:sldId id="272" r:id="rId19"/>
    <p:sldId id="273" r:id="rId20"/>
    <p:sldId id="274" r:id="rId21"/>
    <p:sldId id="275" r:id="rId22"/>
    <p:sldId id="280" r:id="rId23"/>
    <p:sldId id="276" r:id="rId24"/>
    <p:sldId id="277" r:id="rId25"/>
    <p:sldId id="278" r:id="rId26"/>
    <p:sldId id="279" r:id="rId27"/>
    <p:sldId id="282" r:id="rId28"/>
    <p:sldId id="332" r:id="rId29"/>
    <p:sldId id="284" r:id="rId30"/>
    <p:sldId id="285" r:id="rId31"/>
    <p:sldId id="286" r:id="rId32"/>
    <p:sldId id="287" r:id="rId33"/>
    <p:sldId id="334" r:id="rId34"/>
    <p:sldId id="339" r:id="rId35"/>
    <p:sldId id="344" r:id="rId36"/>
    <p:sldId id="340" r:id="rId37"/>
    <p:sldId id="288" r:id="rId38"/>
  </p:sldIdLst>
  <p:sldSz cx="18288000" cy="10287000"/>
  <p:notesSz cx="6858000" cy="9144000"/>
  <p:embeddedFontLst>
    <p:embeddedFont>
      <p:font typeface="黑体" panose="02010609060101010101" charset="-122"/>
      <p:regular r:id="rId43"/>
    </p:embeddedFont>
    <p:embeddedFont>
      <p:font typeface="Calibri (MS)" panose="020F0502020204030204"/>
      <p:regular r:id="rId44"/>
    </p:embeddedFont>
    <p:embeddedFont>
      <p:font typeface="Calibri" panose="020F0502020204030204" charset="0"/>
      <p:regular r:id="rId45"/>
      <p:bold r:id="rId46"/>
      <p:italic r:id="rId47"/>
      <p:boldItalic r:id="rId48"/>
    </p:embeddedFont>
    <p:embeddedFont>
      <p:font typeface="华文中宋" panose="02010600040101010101" charset="-122"/>
      <p:regular r:id="rId49"/>
    </p:embeddedFont>
  </p:embeddedFontLst>
  <p:custDataLst>
    <p:tags r:id="rId5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8" userDrawn="1">
          <p15:clr>
            <a:srgbClr val="A4A3A4"/>
          </p15:clr>
        </p15:guide>
        <p15:guide id="2" pos="28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E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088"/>
        <p:guide pos="2872"/>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0" Type="http://schemas.openxmlformats.org/officeDocument/2006/relationships/tags" Target="tags/tag40.xml"/><Relationship Id="rId5" Type="http://schemas.openxmlformats.org/officeDocument/2006/relationships/slide" Target="slides/slide2.xml"/><Relationship Id="rId49" Type="http://schemas.openxmlformats.org/officeDocument/2006/relationships/font" Target="fonts/font7.fntdata"/><Relationship Id="rId48" Type="http://schemas.openxmlformats.org/officeDocument/2006/relationships/font" Target="fonts/font6.fntdata"/><Relationship Id="rId47" Type="http://schemas.openxmlformats.org/officeDocument/2006/relationships/font" Target="fonts/font5.fntdata"/><Relationship Id="rId46" Type="http://schemas.openxmlformats.org/officeDocument/2006/relationships/font" Target="fonts/font4.fntdata"/><Relationship Id="rId45" Type="http://schemas.openxmlformats.org/officeDocument/2006/relationships/font" Target="fonts/font3.fntdata"/><Relationship Id="rId44" Type="http://schemas.openxmlformats.org/officeDocument/2006/relationships/font" Target="fonts/font2.fntdata"/><Relationship Id="rId43" Type="http://schemas.openxmlformats.org/officeDocument/2006/relationships/font" Target="fonts/font1.fntdata"/><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notesMaster" Target="notesMasters/notesMaster1.xml"/><Relationship Id="rId39" Type="http://schemas.openxmlformats.org/officeDocument/2006/relationships/handoutMaster" Target="handoutMasters/handoutMaster1.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a:t>
            </a:r>
            <a:endParaRPr lang="en-US"/>
          </a:p>
          <a:p>
            <a:r>
              <a:rPr lang="en-US"/>
              <a:t>2</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a:t>
            </a:r>
            <a:endParaRPr lang="en-US"/>
          </a:p>
          <a:p>
            <a:r>
              <a:rPr lang="en-US"/>
              <a:t>3</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PPT作者请关注公众号壹课，请尊重原作者。</a:t>
            </a:r>
            <a:endParaRPr lang="en-US"/>
          </a:p>
          <a:p>
            <a:r>
              <a:rPr lang="en-US"/>
              <a:t>5</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a:t>
            </a:r>
            <a:endParaRPr lang="en-US"/>
          </a:p>
          <a:p>
            <a:r>
              <a:rPr lang="en-US"/>
              <a:t>6</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a:t>
            </a:r>
            <a:endParaRPr lang="en-US"/>
          </a:p>
          <a:p>
            <a:r>
              <a:rPr lang="en-US"/>
              <a:t>6</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PPT作者请关注公众号壹课，请尊重原作者。</a:t>
            </a:r>
            <a:endParaRPr lang="en-US"/>
          </a:p>
          <a:p>
            <a:r>
              <a:rPr lang="en-US"/>
              <a:t>7</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PPT作者请关注公众号壹课，请尊重原作者。</a:t>
            </a:r>
            <a:endParaRPr lang="en-US"/>
          </a:p>
          <a:p>
            <a:r>
              <a:rPr lang="en-US"/>
              <a:t>12</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PPT作者请关注公众号壹课，请尊重原作者。</a:t>
            </a:r>
            <a:endParaRPr lang="en-US"/>
          </a:p>
          <a:p>
            <a:r>
              <a:rPr lang="en-US"/>
              <a:t>14</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PPT作者请关注公众号壹课，请尊重原作者。</a:t>
            </a:r>
            <a:endParaRPr lang="en-US"/>
          </a:p>
          <a:p>
            <a:r>
              <a:rPr lang="en-US"/>
              <a:t>29</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PPT作者请关注公众号壹课。PPT作者请关注公众号壹课，请尊重原作者。</a:t>
            </a:r>
            <a:endParaRPr lang="en-US"/>
          </a:p>
          <a:p/>
          <a:p>
            <a:r>
              <a:rPr lang="en-US"/>
              <a:t>30</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PPT作者请关注公众号壹课，请尊重原作者。</a:t>
            </a:r>
            <a:endParaRPr lang="en-US"/>
          </a:p>
          <a:p>
            <a:r>
              <a:rPr lang="en-US"/>
              <a:t>5</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公众号壹课</a:t>
            </a:r>
            <a:endParaRPr lang="en-US"/>
          </a:p>
          <a:p>
            <a:r>
              <a:rPr lang="en-US"/>
              <a:t>38</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7.xml"/><Relationship Id="rId4" Type="http://schemas.openxmlformats.org/officeDocument/2006/relationships/image" Target="../media/image3.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3" Type="http://schemas.openxmlformats.org/officeDocument/2006/relationships/notesSlide" Target="../notesSlides/notesSlide4.xml"/><Relationship Id="rId42" Type="http://schemas.openxmlformats.org/officeDocument/2006/relationships/slideLayout" Target="../slideLayouts/slideLayout7.xml"/><Relationship Id="rId41" Type="http://schemas.openxmlformats.org/officeDocument/2006/relationships/image" Target="../media/image4.png"/><Relationship Id="rId40" Type="http://schemas.openxmlformats.org/officeDocument/2006/relationships/tags" Target="../tags/tag38.xml"/><Relationship Id="rId4" Type="http://schemas.openxmlformats.org/officeDocument/2006/relationships/tags" Target="../tags/tag3.xml"/><Relationship Id="rId39" Type="http://schemas.openxmlformats.org/officeDocument/2006/relationships/tags" Target="../tags/tag37.xml"/><Relationship Id="rId38" Type="http://schemas.openxmlformats.org/officeDocument/2006/relationships/image" Target="../media/image10.png"/><Relationship Id="rId37" Type="http://schemas.openxmlformats.org/officeDocument/2006/relationships/tags" Target="../tags/tag36.xml"/><Relationship Id="rId36" Type="http://schemas.openxmlformats.org/officeDocument/2006/relationships/tags" Target="../tags/tag35.xml"/><Relationship Id="rId35" Type="http://schemas.openxmlformats.org/officeDocument/2006/relationships/tags" Target="../tags/tag34.xml"/><Relationship Id="rId34" Type="http://schemas.openxmlformats.org/officeDocument/2006/relationships/tags" Target="../tags/tag33.xml"/><Relationship Id="rId33" Type="http://schemas.openxmlformats.org/officeDocument/2006/relationships/tags" Target="../tags/tag32.xml"/><Relationship Id="rId32" Type="http://schemas.openxmlformats.org/officeDocument/2006/relationships/tags" Target="../tags/tag31.xml"/><Relationship Id="rId31" Type="http://schemas.openxmlformats.org/officeDocument/2006/relationships/tags" Target="../tags/tag30.xml"/><Relationship Id="rId30" Type="http://schemas.openxmlformats.org/officeDocument/2006/relationships/tags" Target="../tags/tag29.xml"/><Relationship Id="rId3" Type="http://schemas.openxmlformats.org/officeDocument/2006/relationships/tags" Target="../tags/tag2.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svg"/><Relationship Id="rId3"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7.xml"/><Relationship Id="rId3" Type="http://schemas.openxmlformats.org/officeDocument/2006/relationships/tags" Target="../tags/tag39.xml"/><Relationship Id="rId2" Type="http://schemas.openxmlformats.org/officeDocument/2006/relationships/image" Target="../media/image7.png"/><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image" Target="../media/image18.png"/><Relationship Id="rId2" Type="http://schemas.openxmlformats.org/officeDocument/2006/relationships/image" Target="../media/image7.png"/><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7.png"/><Relationship Id="rId3" Type="http://schemas.openxmlformats.org/officeDocument/2006/relationships/image" Target="../media/image19.svg"/><Relationship Id="rId2" Type="http://schemas.openxmlformats.org/officeDocument/2006/relationships/image" Target="../media/image14.png"/><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image" Target="../media/image6.jpe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image" Target="../media/image7.png"/><Relationship Id="rId2" Type="http://schemas.openxmlformats.org/officeDocument/2006/relationships/image" Target="../media/image22.svg"/><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7.png"/><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7.png"/><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7.png"/><Relationship Id="rId2" Type="http://schemas.openxmlformats.org/officeDocument/2006/relationships/image" Target="../media/image22.svg"/><Relationship Id="rId1" Type="http://schemas.openxmlformats.org/officeDocument/2006/relationships/image" Target="../media/image21.pn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7.png"/><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image" Target="../media/image6.jpe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7.xml"/><Relationship Id="rId4" Type="http://schemas.openxmlformats.org/officeDocument/2006/relationships/image" Target="../media/image30.png"/><Relationship Id="rId3" Type="http://schemas.openxmlformats.org/officeDocument/2006/relationships/image" Target="../media/image7.png"/><Relationship Id="rId2" Type="http://schemas.openxmlformats.org/officeDocument/2006/relationships/image" Target="../media/image22.svg"/><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22.xml"/><Relationship Id="rId7" Type="http://schemas.openxmlformats.org/officeDocument/2006/relationships/slideLayout" Target="../slideLayouts/slideLayout7.xml"/><Relationship Id="rId6" Type="http://schemas.openxmlformats.org/officeDocument/2006/relationships/slide" Target="slide4.xml"/><Relationship Id="rId5" Type="http://schemas.openxmlformats.org/officeDocument/2006/relationships/image" Target="../media/image31.png"/><Relationship Id="rId4" Type="http://schemas.openxmlformats.org/officeDocument/2006/relationships/image" Target="../media/image7.png"/><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image" Target="../media/image6.jpeg"/></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7.png"/><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image" Target="../media/image6.jpeg"/></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24.xml"/><Relationship Id="rId7"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7.png"/><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image" Target="../media/image6.jpe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image" Target="../media/image6.jpeg"/></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26.xml"/><Relationship Id="rId6"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 Id="rId3"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image" Target="../media/image6.jpeg"/></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image" Target="../media/image6.jpeg"/></Relationships>
</file>

<file path=ppt/slides/_rels/slide28.xml.rels><?xml version="1.0" encoding="UTF-8" standalone="yes"?>
<Relationships xmlns="http://schemas.openxmlformats.org/package/2006/relationships"><Relationship Id="rId8" Type="http://schemas.openxmlformats.org/officeDocument/2006/relationships/notesSlide" Target="../notesSlides/notesSlide28.xml"/><Relationship Id="rId7"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image" Target="../media/image6.jpeg"/></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7.xml"/><Relationship Id="rId4" Type="http://schemas.openxmlformats.org/officeDocument/2006/relationships/image" Target="../media/image42.png"/><Relationship Id="rId3"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image" Target="../media/image6.jpeg"/></Relationships>
</file>

<file path=ppt/slides/_rels/slide30.xml.rels><?xml version="1.0" encoding="UTF-8" standalone="yes"?>
<Relationships xmlns="http://schemas.openxmlformats.org/package/2006/relationships"><Relationship Id="rId8" Type="http://schemas.openxmlformats.org/officeDocument/2006/relationships/notesSlide" Target="../notesSlides/notesSlide30.xml"/><Relationship Id="rId7"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image" Target="../media/image6.jpeg"/></Relationships>
</file>

<file path=ppt/slides/_rels/slide31.xml.rels><?xml version="1.0" encoding="UTF-8" standalone="yes"?>
<Relationships xmlns="http://schemas.openxmlformats.org/package/2006/relationships"><Relationship Id="rId9" Type="http://schemas.openxmlformats.org/officeDocument/2006/relationships/notesSlide" Target="../notesSlides/notesSlide31.xml"/><Relationship Id="rId8" Type="http://schemas.openxmlformats.org/officeDocument/2006/relationships/slideLayout" Target="../slideLayouts/slideLayout7.xml"/><Relationship Id="rId7" Type="http://schemas.openxmlformats.org/officeDocument/2006/relationships/image" Target="../media/image50.png"/><Relationship Id="rId6" Type="http://schemas.openxmlformats.org/officeDocument/2006/relationships/image" Target="../media/image49.jpeg"/><Relationship Id="rId5" Type="http://schemas.openxmlformats.org/officeDocument/2006/relationships/image" Target="../media/image48.jpeg"/><Relationship Id="rId4" Type="http://schemas.openxmlformats.org/officeDocument/2006/relationships/image" Target="../media/image47.svg"/><Relationship Id="rId3" Type="http://schemas.openxmlformats.org/officeDocument/2006/relationships/image" Target="../media/image46.png"/><Relationship Id="rId2" Type="http://schemas.openxmlformats.org/officeDocument/2006/relationships/image" Target="../media/image7.png"/><Relationship Id="rId1" Type="http://schemas.openxmlformats.org/officeDocument/2006/relationships/image" Target="../media/image6.jpeg"/></Relationships>
</file>

<file path=ppt/slides/_rels/slide32.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image" Target="../media/image6.jpeg"/></Relationships>
</file>

<file path=ppt/slides/_rels/slide33.xml.rels><?xml version="1.0" encoding="UTF-8" standalone="yes"?>
<Relationships xmlns="http://schemas.openxmlformats.org/package/2006/relationships"><Relationship Id="rId7" Type="http://schemas.openxmlformats.org/officeDocument/2006/relationships/notesSlide" Target="../notesSlides/notesSlide33.xml"/><Relationship Id="rId6"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image" Target="../media/image6.jpeg"/></Relationships>
</file>

<file path=ppt/slides/_rels/slide34.xml.rels><?xml version="1.0" encoding="UTF-8" standalone="yes"?>
<Relationships xmlns="http://schemas.openxmlformats.org/package/2006/relationships"><Relationship Id="rId6" Type="http://schemas.openxmlformats.org/officeDocument/2006/relationships/notesSlide" Target="../notesSlides/notesSlide34.xml"/><Relationship Id="rId5" Type="http://schemas.openxmlformats.org/officeDocument/2006/relationships/slideLayout" Target="../slideLayouts/slideLayout7.xml"/><Relationship Id="rId4" Type="http://schemas.openxmlformats.org/officeDocument/2006/relationships/image" Target="../media/image53.png"/><Relationship Id="rId3"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image" Target="../media/image6.jpe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22575" y="8373541"/>
            <a:ext cx="8806236" cy="1913455"/>
            <a:chOff x="0" y="0"/>
            <a:chExt cx="11741648" cy="2551274"/>
          </a:xfrm>
        </p:grpSpPr>
        <p:sp>
          <p:nvSpPr>
            <p:cNvPr id="4" name="Freeform 4"/>
            <p:cNvSpPr/>
            <p:nvPr/>
          </p:nvSpPr>
          <p:spPr>
            <a:xfrm>
              <a:off x="0" y="0"/>
              <a:ext cx="11741658" cy="2551303"/>
            </a:xfrm>
            <a:custGeom>
              <a:avLst/>
              <a:gdLst/>
              <a:ahLst/>
              <a:cxnLst/>
              <a:rect l="l" t="t" r="r" b="b"/>
              <a:pathLst>
                <a:path w="11741658" h="2551303">
                  <a:moveTo>
                    <a:pt x="0" y="0"/>
                  </a:moveTo>
                  <a:lnTo>
                    <a:pt x="11741658" y="0"/>
                  </a:lnTo>
                  <a:lnTo>
                    <a:pt x="11741658" y="2551303"/>
                  </a:lnTo>
                  <a:lnTo>
                    <a:pt x="0" y="2551303"/>
                  </a:lnTo>
                  <a:lnTo>
                    <a:pt x="0" y="0"/>
                  </a:lnTo>
                  <a:close/>
                </a:path>
              </a:pathLst>
            </a:custGeom>
            <a:blipFill>
              <a:blip r:embed="rId2"/>
              <a:stretch>
                <a:fillRect t="-64192" r="-17271" b="-151669"/>
              </a:stretch>
            </a:blipFill>
          </p:spPr>
        </p:sp>
      </p:grpSp>
      <p:grpSp>
        <p:nvGrpSpPr>
          <p:cNvPr id="5" name="Group 5"/>
          <p:cNvGrpSpPr/>
          <p:nvPr/>
        </p:nvGrpSpPr>
        <p:grpSpPr>
          <a:xfrm rot="0">
            <a:off x="531005" y="-124065"/>
            <a:ext cx="4170402" cy="4595592"/>
            <a:chOff x="0" y="0"/>
            <a:chExt cx="5560536" cy="6127456"/>
          </a:xfrm>
        </p:grpSpPr>
        <p:sp>
          <p:nvSpPr>
            <p:cNvPr id="6" name="Freeform 6"/>
            <p:cNvSpPr/>
            <p:nvPr/>
          </p:nvSpPr>
          <p:spPr>
            <a:xfrm>
              <a:off x="0" y="0"/>
              <a:ext cx="5560568" cy="6127496"/>
            </a:xfrm>
            <a:custGeom>
              <a:avLst/>
              <a:gdLst/>
              <a:ahLst/>
              <a:cxnLst/>
              <a:rect l="l" t="t" r="r" b="b"/>
              <a:pathLst>
                <a:path w="5560568" h="6127496">
                  <a:moveTo>
                    <a:pt x="0" y="0"/>
                  </a:moveTo>
                  <a:lnTo>
                    <a:pt x="5560568" y="0"/>
                  </a:lnTo>
                  <a:lnTo>
                    <a:pt x="5560568" y="3347212"/>
                  </a:lnTo>
                  <a:cubicBezTo>
                    <a:pt x="5560568" y="4882769"/>
                    <a:pt x="4315841" y="6127496"/>
                    <a:pt x="2780284" y="6127496"/>
                  </a:cubicBezTo>
                  <a:cubicBezTo>
                    <a:pt x="1244727" y="6127496"/>
                    <a:pt x="0" y="4882642"/>
                    <a:pt x="0" y="3347212"/>
                  </a:cubicBezTo>
                  <a:close/>
                </a:path>
              </a:pathLst>
            </a:custGeom>
            <a:solidFill>
              <a:srgbClr val="014924"/>
            </a:solidFill>
          </p:spPr>
        </p:sp>
      </p:grpSp>
      <p:grpSp>
        <p:nvGrpSpPr>
          <p:cNvPr id="7" name="Group 7"/>
          <p:cNvGrpSpPr/>
          <p:nvPr/>
        </p:nvGrpSpPr>
        <p:grpSpPr>
          <a:xfrm rot="0">
            <a:off x="766908" y="113989"/>
            <a:ext cx="3658785" cy="3658788"/>
            <a:chOff x="0" y="0"/>
            <a:chExt cx="4878380" cy="4878384"/>
          </a:xfrm>
        </p:grpSpPr>
        <p:sp>
          <p:nvSpPr>
            <p:cNvPr id="8" name="Freeform 8"/>
            <p:cNvSpPr/>
            <p:nvPr/>
          </p:nvSpPr>
          <p:spPr>
            <a:xfrm>
              <a:off x="0" y="0"/>
              <a:ext cx="4878324" cy="4878324"/>
            </a:xfrm>
            <a:custGeom>
              <a:avLst/>
              <a:gdLst/>
              <a:ahLst/>
              <a:cxnLst/>
              <a:rect l="l" t="t" r="r" b="b"/>
              <a:pathLst>
                <a:path w="4878324" h="4878324">
                  <a:moveTo>
                    <a:pt x="0" y="2439162"/>
                  </a:moveTo>
                  <a:cubicBezTo>
                    <a:pt x="0" y="1092073"/>
                    <a:pt x="1092073" y="0"/>
                    <a:pt x="2439162" y="0"/>
                  </a:cubicBezTo>
                  <a:cubicBezTo>
                    <a:pt x="3786251" y="0"/>
                    <a:pt x="4878324" y="1092073"/>
                    <a:pt x="4878324" y="2439162"/>
                  </a:cubicBezTo>
                  <a:cubicBezTo>
                    <a:pt x="4878324" y="3786251"/>
                    <a:pt x="3786378" y="4878324"/>
                    <a:pt x="2439162" y="4878324"/>
                  </a:cubicBezTo>
                  <a:cubicBezTo>
                    <a:pt x="1091946" y="4878324"/>
                    <a:pt x="0" y="3786378"/>
                    <a:pt x="0" y="2439162"/>
                  </a:cubicBezTo>
                  <a:close/>
                </a:path>
              </a:pathLst>
            </a:custGeom>
            <a:gradFill rotWithShape="1">
              <a:gsLst>
                <a:gs pos="0">
                  <a:srgbClr val="FFFFFF">
                    <a:alpha val="100000"/>
                  </a:srgbClr>
                </a:gs>
                <a:gs pos="100000">
                  <a:srgbClr val="E8E8E8">
                    <a:alpha val="100000"/>
                  </a:srgbClr>
                </a:gs>
              </a:gsLst>
              <a:lin ang="5400000"/>
            </a:gradFill>
          </p:spPr>
        </p:sp>
      </p:grpSp>
      <p:grpSp>
        <p:nvGrpSpPr>
          <p:cNvPr id="9" name="Group 9"/>
          <p:cNvGrpSpPr/>
          <p:nvPr/>
        </p:nvGrpSpPr>
        <p:grpSpPr>
          <a:xfrm rot="-10800000">
            <a:off x="1004647" y="351729"/>
            <a:ext cx="3183307" cy="3183308"/>
            <a:chOff x="0" y="0"/>
            <a:chExt cx="4244409" cy="4244411"/>
          </a:xfrm>
        </p:grpSpPr>
        <p:sp>
          <p:nvSpPr>
            <p:cNvPr id="10" name="Freeform 10"/>
            <p:cNvSpPr/>
            <p:nvPr/>
          </p:nvSpPr>
          <p:spPr>
            <a:xfrm>
              <a:off x="0" y="0"/>
              <a:ext cx="4244340" cy="4244340"/>
            </a:xfrm>
            <a:custGeom>
              <a:avLst/>
              <a:gdLst/>
              <a:ahLst/>
              <a:cxnLst/>
              <a:rect l="l" t="t" r="r" b="b"/>
              <a:pathLst>
                <a:path w="4244340" h="4244340">
                  <a:moveTo>
                    <a:pt x="0" y="2122170"/>
                  </a:moveTo>
                  <a:cubicBezTo>
                    <a:pt x="0" y="950087"/>
                    <a:pt x="950087" y="0"/>
                    <a:pt x="2122170" y="0"/>
                  </a:cubicBezTo>
                  <a:cubicBezTo>
                    <a:pt x="3294253" y="0"/>
                    <a:pt x="4244340" y="950087"/>
                    <a:pt x="4244340" y="2122170"/>
                  </a:cubicBezTo>
                  <a:cubicBezTo>
                    <a:pt x="4244340" y="3294253"/>
                    <a:pt x="3294253" y="4244340"/>
                    <a:pt x="2122170" y="4244340"/>
                  </a:cubicBezTo>
                  <a:cubicBezTo>
                    <a:pt x="950087" y="4244340"/>
                    <a:pt x="0" y="3294253"/>
                    <a:pt x="0" y="2122170"/>
                  </a:cubicBezTo>
                  <a:close/>
                </a:path>
              </a:pathLst>
            </a:custGeom>
            <a:gradFill rotWithShape="1">
              <a:gsLst>
                <a:gs pos="0">
                  <a:srgbClr val="FFFFFF">
                    <a:alpha val="100000"/>
                  </a:srgbClr>
                </a:gs>
                <a:gs pos="100000">
                  <a:srgbClr val="E8E8E8">
                    <a:alpha val="100000"/>
                  </a:srgbClr>
                </a:gs>
              </a:gsLst>
              <a:lin ang="5400000"/>
            </a:gradFill>
          </p:spPr>
        </p:sp>
      </p:grpSp>
      <p:grpSp>
        <p:nvGrpSpPr>
          <p:cNvPr id="11" name="Group 11"/>
          <p:cNvGrpSpPr/>
          <p:nvPr/>
        </p:nvGrpSpPr>
        <p:grpSpPr>
          <a:xfrm rot="0">
            <a:off x="0" y="8373543"/>
            <a:ext cx="18288000" cy="1913455"/>
            <a:chOff x="0" y="0"/>
            <a:chExt cx="24384000" cy="2551274"/>
          </a:xfrm>
        </p:grpSpPr>
        <p:sp>
          <p:nvSpPr>
            <p:cNvPr id="12" name="Freeform 12"/>
            <p:cNvSpPr/>
            <p:nvPr/>
          </p:nvSpPr>
          <p:spPr>
            <a:xfrm>
              <a:off x="0" y="0"/>
              <a:ext cx="24384000" cy="2551303"/>
            </a:xfrm>
            <a:custGeom>
              <a:avLst/>
              <a:gdLst/>
              <a:ahLst/>
              <a:cxnLst/>
              <a:rect l="l" t="t" r="r" b="b"/>
              <a:pathLst>
                <a:path w="24384000" h="2551303">
                  <a:moveTo>
                    <a:pt x="0" y="0"/>
                  </a:moveTo>
                  <a:lnTo>
                    <a:pt x="24384000" y="0"/>
                  </a:lnTo>
                  <a:lnTo>
                    <a:pt x="24384000" y="2551303"/>
                  </a:lnTo>
                  <a:lnTo>
                    <a:pt x="0" y="2551303"/>
                  </a:lnTo>
                  <a:close/>
                </a:path>
              </a:pathLst>
            </a:custGeom>
            <a:gradFill rotWithShape="1">
              <a:gsLst>
                <a:gs pos="0">
                  <a:srgbClr val="014924">
                    <a:alpha val="100000"/>
                  </a:srgbClr>
                </a:gs>
                <a:gs pos="51000">
                  <a:srgbClr val="014924">
                    <a:alpha val="100000"/>
                  </a:srgbClr>
                </a:gs>
                <a:gs pos="80000">
                  <a:srgbClr val="014924">
                    <a:alpha val="80000"/>
                  </a:srgbClr>
                </a:gs>
                <a:gs pos="100000">
                  <a:srgbClr val="014924">
                    <a:alpha val="60000"/>
                  </a:srgbClr>
                </a:gs>
              </a:gsLst>
              <a:lin ang="10800000"/>
            </a:gradFill>
          </p:spPr>
        </p:sp>
      </p:grpSp>
      <p:grpSp>
        <p:nvGrpSpPr>
          <p:cNvPr id="13" name="Group 13"/>
          <p:cNvGrpSpPr/>
          <p:nvPr/>
        </p:nvGrpSpPr>
        <p:grpSpPr>
          <a:xfrm rot="0">
            <a:off x="-25569" y="8128587"/>
            <a:ext cx="18288000" cy="115662"/>
            <a:chOff x="0" y="0"/>
            <a:chExt cx="24384000" cy="154216"/>
          </a:xfrm>
        </p:grpSpPr>
        <p:sp>
          <p:nvSpPr>
            <p:cNvPr id="14" name="Freeform 14"/>
            <p:cNvSpPr/>
            <p:nvPr/>
          </p:nvSpPr>
          <p:spPr>
            <a:xfrm>
              <a:off x="0" y="0"/>
              <a:ext cx="24384000" cy="154178"/>
            </a:xfrm>
            <a:custGeom>
              <a:avLst/>
              <a:gdLst/>
              <a:ahLst/>
              <a:cxnLst/>
              <a:rect l="l" t="t" r="r" b="b"/>
              <a:pathLst>
                <a:path w="24384000" h="154178">
                  <a:moveTo>
                    <a:pt x="0" y="0"/>
                  </a:moveTo>
                  <a:lnTo>
                    <a:pt x="24384000" y="0"/>
                  </a:lnTo>
                  <a:lnTo>
                    <a:pt x="24384000" y="154178"/>
                  </a:lnTo>
                  <a:lnTo>
                    <a:pt x="0" y="154178"/>
                  </a:lnTo>
                  <a:close/>
                </a:path>
              </a:pathLst>
            </a:custGeom>
            <a:solidFill>
              <a:srgbClr val="014924"/>
            </a:solidFill>
          </p:spPr>
        </p:sp>
      </p:grpSp>
      <p:grpSp>
        <p:nvGrpSpPr>
          <p:cNvPr id="15" name="Group 15"/>
          <p:cNvGrpSpPr>
            <a:grpSpLocks noChangeAspect="1"/>
          </p:cNvGrpSpPr>
          <p:nvPr/>
        </p:nvGrpSpPr>
        <p:grpSpPr>
          <a:xfrm rot="0">
            <a:off x="1142736" y="495275"/>
            <a:ext cx="2904588" cy="2896216"/>
            <a:chOff x="0" y="0"/>
            <a:chExt cx="3872784" cy="3861622"/>
          </a:xfrm>
        </p:grpSpPr>
        <p:sp>
          <p:nvSpPr>
            <p:cNvPr id="16" name="Freeform 16"/>
            <p:cNvSpPr/>
            <p:nvPr/>
          </p:nvSpPr>
          <p:spPr>
            <a:xfrm>
              <a:off x="0" y="0"/>
              <a:ext cx="3872738" cy="3861562"/>
            </a:xfrm>
            <a:custGeom>
              <a:avLst/>
              <a:gdLst/>
              <a:ahLst/>
              <a:cxnLst/>
              <a:rect l="l" t="t" r="r" b="b"/>
              <a:pathLst>
                <a:path w="3872738" h="3861562">
                  <a:moveTo>
                    <a:pt x="0" y="0"/>
                  </a:moveTo>
                  <a:lnTo>
                    <a:pt x="3872738" y="0"/>
                  </a:lnTo>
                  <a:lnTo>
                    <a:pt x="3872738" y="3861562"/>
                  </a:lnTo>
                  <a:lnTo>
                    <a:pt x="0" y="3861562"/>
                  </a:lnTo>
                  <a:lnTo>
                    <a:pt x="0" y="0"/>
                  </a:lnTo>
                  <a:close/>
                </a:path>
              </a:pathLst>
            </a:custGeom>
            <a:blipFill>
              <a:blip r:embed="rId3"/>
              <a:stretch>
                <a:fillRect t="-36" r="-1" b="-38"/>
              </a:stretch>
            </a:blipFill>
          </p:spPr>
        </p:sp>
      </p:grpSp>
      <p:grpSp>
        <p:nvGrpSpPr>
          <p:cNvPr id="17" name="Group 17"/>
          <p:cNvGrpSpPr>
            <a:grpSpLocks noChangeAspect="1"/>
          </p:cNvGrpSpPr>
          <p:nvPr/>
        </p:nvGrpSpPr>
        <p:grpSpPr>
          <a:xfrm rot="0">
            <a:off x="13492183" y="723900"/>
            <a:ext cx="3767098" cy="831567"/>
            <a:chOff x="0" y="-373984"/>
            <a:chExt cx="4622165" cy="1020318"/>
          </a:xfrm>
        </p:grpSpPr>
        <p:sp>
          <p:nvSpPr>
            <p:cNvPr id="18" name="Freeform 18"/>
            <p:cNvSpPr/>
            <p:nvPr/>
          </p:nvSpPr>
          <p:spPr>
            <a:xfrm>
              <a:off x="0" y="-373984"/>
              <a:ext cx="4622165" cy="1020318"/>
            </a:xfrm>
            <a:custGeom>
              <a:avLst/>
              <a:gdLst/>
              <a:ahLst/>
              <a:cxnLst/>
              <a:rect l="l" t="t" r="r" b="b"/>
              <a:pathLst>
                <a:path w="4622165" h="1020318">
                  <a:moveTo>
                    <a:pt x="0" y="0"/>
                  </a:moveTo>
                  <a:lnTo>
                    <a:pt x="4622165" y="0"/>
                  </a:lnTo>
                  <a:lnTo>
                    <a:pt x="4622165" y="1020318"/>
                  </a:lnTo>
                  <a:lnTo>
                    <a:pt x="0" y="1020318"/>
                  </a:lnTo>
                  <a:lnTo>
                    <a:pt x="0" y="0"/>
                  </a:lnTo>
                  <a:close/>
                </a:path>
              </a:pathLst>
            </a:custGeom>
            <a:blipFill>
              <a:blip r:embed="rId4"/>
              <a:stretch>
                <a:fillRect b="-5"/>
              </a:stretch>
            </a:blipFill>
          </p:spPr>
          <p:txBody>
            <a:bodyPr/>
            <a:p>
              <a:endParaRPr lang="zh-CN" altLang="en-US"/>
            </a:p>
          </p:txBody>
        </p:sp>
      </p:grpSp>
      <p:sp>
        <p:nvSpPr>
          <p:cNvPr id="19" name="Freeform 19"/>
          <p:cNvSpPr/>
          <p:nvPr/>
        </p:nvSpPr>
        <p:spPr>
          <a:xfrm>
            <a:off x="6851538" y="856664"/>
            <a:ext cx="5811786" cy="3614863"/>
          </a:xfrm>
          <a:custGeom>
            <a:avLst/>
            <a:gdLst/>
            <a:ahLst/>
            <a:cxnLst/>
            <a:rect l="l" t="t" r="r" b="b"/>
            <a:pathLst>
              <a:path w="5811786" h="3614863">
                <a:moveTo>
                  <a:pt x="0" y="0"/>
                </a:moveTo>
                <a:lnTo>
                  <a:pt x="5811786" y="0"/>
                </a:lnTo>
                <a:lnTo>
                  <a:pt x="5811786" y="3614863"/>
                </a:lnTo>
                <a:lnTo>
                  <a:pt x="0" y="3614863"/>
                </a:lnTo>
                <a:lnTo>
                  <a:pt x="0" y="0"/>
                </a:lnTo>
                <a:close/>
              </a:path>
            </a:pathLst>
          </a:custGeom>
          <a:blipFill>
            <a:blip r:embed="rId5"/>
            <a:stretch>
              <a:fillRect l="-55456" t="-135312" r="-46343" b="-223265"/>
            </a:stretch>
          </a:blipFill>
        </p:spPr>
      </p:sp>
      <p:sp>
        <p:nvSpPr>
          <p:cNvPr id="20" name="TextBox 20"/>
          <p:cNvSpPr txBox="1"/>
          <p:nvPr/>
        </p:nvSpPr>
        <p:spPr>
          <a:xfrm>
            <a:off x="3463639" y="4293728"/>
            <a:ext cx="12159395" cy="2586681"/>
          </a:xfrm>
          <a:prstGeom prst="rect">
            <a:avLst/>
          </a:prstGeom>
        </p:spPr>
        <p:txBody>
          <a:bodyPr lIns="0" tIns="0" rIns="0" bIns="0" rtlCol="0" anchor="t">
            <a:spAutoFit/>
          </a:bodyPr>
          <a:lstStyle/>
          <a:p>
            <a:pPr algn="ctr">
              <a:lnSpc>
                <a:spcPts val="10835"/>
              </a:lnSpc>
            </a:pPr>
            <a:r>
              <a:rPr lang="en-US" sz="9030" b="1">
                <a:solidFill>
                  <a:srgbClr val="014924"/>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Yat-CASched</a:t>
            </a:r>
            <a:endParaRPr lang="en-US" sz="9030" b="1">
              <a:solidFill>
                <a:srgbClr val="014924"/>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815"/>
              </a:lnSpc>
            </a:pPr>
            <a:r>
              <a:rPr lang="en-US" sz="4015" b="1">
                <a:solidFill>
                  <a:srgbClr val="014924"/>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a:t>
            </a:r>
            <a:r>
              <a:rPr lang="en-US" sz="4015" b="1">
                <a:solidFill>
                  <a:srgbClr val="014924"/>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Proj59 </a:t>
            </a:r>
            <a:r>
              <a:rPr lang="en-US" sz="4015"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a:t>
            </a:r>
            <a:r>
              <a:rPr lang="en-US" sz="4015">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 </a:t>
            </a:r>
            <a:r>
              <a:rPr lang="en-US" sz="4015" b="1">
                <a:solidFill>
                  <a:srgbClr val="014924"/>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Linux 内核低时延调度器）</a:t>
            </a:r>
            <a:endParaRPr lang="en-US" sz="4015" b="1">
              <a:solidFill>
                <a:srgbClr val="014924"/>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815"/>
              </a:lnSpc>
            </a:pPr>
            <a:r>
              <a:rPr lang="en-US" sz="4015">
                <a:solidFill>
                  <a:srgbClr val="014924"/>
                </a:solidFill>
                <a:latin typeface="思源黑体" panose="020B0500000000000000" charset="-122"/>
                <a:ea typeface="思源黑体" panose="020B0500000000000000" charset="-122"/>
                <a:cs typeface="思源黑体" panose="020B0500000000000000" charset="-122"/>
                <a:sym typeface="思源黑体" panose="020B0500000000000000" charset="-122"/>
              </a:rPr>
              <a:t>——面向多核系统的缓存感知低时延调度技术及实现 </a:t>
            </a:r>
            <a:endParaRPr lang="en-US" sz="4015">
              <a:solidFill>
                <a:srgbClr val="014924"/>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21" name="TextBox 21"/>
          <p:cNvSpPr txBox="1"/>
          <p:nvPr/>
        </p:nvSpPr>
        <p:spPr>
          <a:xfrm>
            <a:off x="12663324" y="8997213"/>
            <a:ext cx="5424835" cy="409575"/>
          </a:xfrm>
          <a:prstGeom prst="rect">
            <a:avLst/>
          </a:prstGeom>
        </p:spPr>
        <p:txBody>
          <a:bodyPr lIns="0" tIns="0" rIns="0" bIns="0" rtlCol="0" anchor="t">
            <a:spAutoFit/>
          </a:bodyPr>
          <a:lstStyle/>
          <a:p>
            <a:pPr marL="488315" lvl="1" indent="-244475" algn="l">
              <a:lnSpc>
                <a:spcPts val="3240"/>
              </a:lnSpc>
              <a:buFont typeface="Arial" panose="020B0604020202020204"/>
              <a:buChar char="•"/>
            </a:pPr>
            <a:r>
              <a:rPr lang="en-US" sz="27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队伍编号</a:t>
            </a:r>
            <a:r>
              <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：T202510558995172  </a:t>
            </a:r>
            <a:endPar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22" name="TextBox 22"/>
          <p:cNvSpPr txBox="1"/>
          <p:nvPr/>
        </p:nvSpPr>
        <p:spPr>
          <a:xfrm>
            <a:off x="6185249" y="8997213"/>
            <a:ext cx="6269775" cy="409575"/>
          </a:xfrm>
          <a:prstGeom prst="rect">
            <a:avLst/>
          </a:prstGeom>
        </p:spPr>
        <p:txBody>
          <a:bodyPr lIns="0" tIns="0" rIns="0" bIns="0" rtlCol="0" anchor="t">
            <a:spAutoFit/>
          </a:bodyPr>
          <a:lstStyle/>
          <a:p>
            <a:pPr marL="488315" lvl="1" indent="-244475" algn="l">
              <a:lnSpc>
                <a:spcPts val="3240"/>
              </a:lnSpc>
              <a:buFont typeface="Arial" panose="020B0604020202020204"/>
              <a:buChar char="•"/>
            </a:pPr>
            <a:r>
              <a:rPr lang="en-US" sz="27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答辩人</a:t>
            </a:r>
            <a:r>
              <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：林炜东、马福泉、刘昊</a:t>
            </a:r>
            <a:endPar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23" name="TextBox 23"/>
          <p:cNvSpPr txBox="1"/>
          <p:nvPr/>
        </p:nvSpPr>
        <p:spPr>
          <a:xfrm>
            <a:off x="810321" y="9053512"/>
            <a:ext cx="3891086" cy="409575"/>
          </a:xfrm>
          <a:prstGeom prst="rect">
            <a:avLst/>
          </a:prstGeom>
        </p:spPr>
        <p:txBody>
          <a:bodyPr lIns="0" tIns="0" rIns="0" bIns="0" rtlCol="0" anchor="t">
            <a:spAutoFit/>
          </a:bodyPr>
          <a:lstStyle/>
          <a:p>
            <a:pPr marL="488315" lvl="1" indent="-244475" algn="l">
              <a:lnSpc>
                <a:spcPts val="3240"/>
              </a:lnSpc>
              <a:buFont typeface="Arial" panose="020B0604020202020204"/>
              <a:buChar char="•"/>
            </a:pPr>
            <a:r>
              <a:rPr lang="en-US" sz="27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队伍名称</a:t>
            </a:r>
            <a:r>
              <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：从容应队</a:t>
            </a:r>
            <a:endPar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TextBox 5"/>
          <p:cNvSpPr txBox="1"/>
          <p:nvPr/>
        </p:nvSpPr>
        <p:spPr>
          <a:xfrm>
            <a:off x="189999" y="348244"/>
            <a:ext cx="518661" cy="63817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1143186" y="263128"/>
            <a:ext cx="2556328" cy="723900"/>
          </a:xfrm>
          <a:prstGeom prst="rect">
            <a:avLst/>
          </a:prstGeom>
        </p:spPr>
        <p:txBody>
          <a:bodyPr lIns="0" tIns="0" rIns="0" bIns="0" rtlCol="0" anchor="t">
            <a:spAutoFit/>
          </a:bodyPr>
          <a:lstStyle/>
          <a:p>
            <a:pPr>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队伍介绍</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7" name="Group 7"/>
          <p:cNvGrpSpPr/>
          <p:nvPr/>
        </p:nvGrpSpPr>
        <p:grpSpPr>
          <a:xfrm rot="0">
            <a:off x="4406504" y="326236"/>
            <a:ext cx="14596457" cy="492914"/>
            <a:chOff x="0" y="0"/>
            <a:chExt cx="19461943" cy="657218"/>
          </a:xfrm>
        </p:grpSpPr>
        <p:sp>
          <p:nvSpPr>
            <p:cNvPr id="8" name="Freeform 8"/>
            <p:cNvSpPr/>
            <p:nvPr/>
          </p:nvSpPr>
          <p:spPr>
            <a:xfrm>
              <a:off x="0" y="0"/>
              <a:ext cx="19461862" cy="657225"/>
            </a:xfrm>
            <a:custGeom>
              <a:avLst/>
              <a:gdLst/>
              <a:ahLst/>
              <a:cxnLst/>
              <a:rect l="l" t="t" r="r" b="b"/>
              <a:pathLst>
                <a:path w="19461862" h="657225">
                  <a:moveTo>
                    <a:pt x="0" y="328549"/>
                  </a:moveTo>
                  <a:cubicBezTo>
                    <a:pt x="0" y="147066"/>
                    <a:pt x="147066" y="0"/>
                    <a:pt x="328549" y="0"/>
                  </a:cubicBezTo>
                  <a:lnTo>
                    <a:pt x="19133313" y="0"/>
                  </a:lnTo>
                  <a:cubicBezTo>
                    <a:pt x="19314796" y="0"/>
                    <a:pt x="19461862" y="147066"/>
                    <a:pt x="19461862" y="328549"/>
                  </a:cubicBezTo>
                  <a:cubicBezTo>
                    <a:pt x="19461862" y="510032"/>
                    <a:pt x="19314796" y="657098"/>
                    <a:pt x="19133313" y="657098"/>
                  </a:cubicBezTo>
                  <a:lnTo>
                    <a:pt x="328549" y="657098"/>
                  </a:lnTo>
                  <a:cubicBezTo>
                    <a:pt x="147066" y="657225"/>
                    <a:pt x="0" y="510032"/>
                    <a:pt x="0" y="328549"/>
                  </a:cubicBezTo>
                  <a:close/>
                </a:path>
              </a:pathLst>
            </a:custGeom>
            <a:solidFill>
              <a:srgbClr val="014924"/>
            </a:solidFill>
          </p:spPr>
        </p:sp>
      </p:grpSp>
      <p:grpSp>
        <p:nvGrpSpPr>
          <p:cNvPr id="9" name="Group 9"/>
          <p:cNvGrpSpPr/>
          <p:nvPr/>
        </p:nvGrpSpPr>
        <p:grpSpPr>
          <a:xfrm rot="0">
            <a:off x="4424887" y="931548"/>
            <a:ext cx="14596459" cy="54000"/>
            <a:chOff x="0" y="0"/>
            <a:chExt cx="19461945" cy="72000"/>
          </a:xfrm>
        </p:grpSpPr>
        <p:sp>
          <p:nvSpPr>
            <p:cNvPr id="10" name="Freeform 10"/>
            <p:cNvSpPr/>
            <p:nvPr/>
          </p:nvSpPr>
          <p:spPr>
            <a:xfrm>
              <a:off x="0" y="0"/>
              <a:ext cx="19461860" cy="72009"/>
            </a:xfrm>
            <a:custGeom>
              <a:avLst/>
              <a:gdLst/>
              <a:ahLst/>
              <a:cxnLst/>
              <a:rect l="l" t="t" r="r" b="b"/>
              <a:pathLst>
                <a:path w="19461860" h="72009">
                  <a:moveTo>
                    <a:pt x="0" y="35941"/>
                  </a:moveTo>
                  <a:cubicBezTo>
                    <a:pt x="0" y="55880"/>
                    <a:pt x="16129" y="72009"/>
                    <a:pt x="35941" y="72009"/>
                  </a:cubicBezTo>
                  <a:lnTo>
                    <a:pt x="19425920" y="72009"/>
                  </a:lnTo>
                  <a:cubicBezTo>
                    <a:pt x="19445858" y="72009"/>
                    <a:pt x="19461860" y="55880"/>
                    <a:pt x="19461860" y="36068"/>
                  </a:cubicBezTo>
                  <a:cubicBezTo>
                    <a:pt x="19461860" y="16256"/>
                    <a:pt x="19445860" y="0"/>
                    <a:pt x="19425920" y="0"/>
                  </a:cubicBezTo>
                  <a:lnTo>
                    <a:pt x="35941" y="0"/>
                  </a:lnTo>
                  <a:cubicBezTo>
                    <a:pt x="16129" y="0"/>
                    <a:pt x="0" y="16129"/>
                    <a:pt x="0" y="35941"/>
                  </a:cubicBezTo>
                  <a:close/>
                </a:path>
              </a:pathLst>
            </a:custGeom>
            <a:solidFill>
              <a:srgbClr val="014924"/>
            </a:solidFill>
          </p:spPr>
        </p:sp>
      </p:grpSp>
      <p:sp>
        <p:nvSpPr>
          <p:cNvPr id="11" name="TextBox 11"/>
          <p:cNvSpPr txBox="1"/>
          <p:nvPr/>
        </p:nvSpPr>
        <p:spPr>
          <a:xfrm>
            <a:off x="4650263" y="410664"/>
            <a:ext cx="1267514" cy="266700"/>
          </a:xfrm>
          <a:prstGeom prst="rect">
            <a:avLst/>
          </a:prstGeom>
        </p:spPr>
        <p:txBody>
          <a:bodyPr lIns="0" tIns="0" rIns="0" bIns="0" rtlCol="0" anchor="t">
            <a:spAutoFit/>
          </a:bodyPr>
          <a:lstStyle/>
          <a:p>
            <a:pPr algn="ctr">
              <a:lnSpc>
                <a:spcPts val="2160"/>
              </a:lnSpc>
            </a:pPr>
            <a:r>
              <a:rPr lang="en-US">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ABOUT US</a:t>
            </a:r>
            <a:endParaRPr lang="en-US">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2" name="Group 12"/>
          <p:cNvGrpSpPr>
            <a:grpSpLocks noChangeAspect="1"/>
          </p:cNvGrpSpPr>
          <p:nvPr/>
        </p:nvGrpSpPr>
        <p:grpSpPr>
          <a:xfrm rot="0">
            <a:off x="16100484" y="264381"/>
            <a:ext cx="1896959" cy="667167"/>
            <a:chOff x="0" y="0"/>
            <a:chExt cx="2529278" cy="889556"/>
          </a:xfrm>
        </p:grpSpPr>
        <p:sp>
          <p:nvSpPr>
            <p:cNvPr id="13" name="Freeform 13"/>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sp>
        <p:nvSpPr>
          <p:cNvPr id="14" name="TextBox 14"/>
          <p:cNvSpPr txBox="1"/>
          <p:nvPr/>
        </p:nvSpPr>
        <p:spPr>
          <a:xfrm>
            <a:off x="1219200" y="1333500"/>
            <a:ext cx="6746240" cy="3107055"/>
          </a:xfrm>
          <a:prstGeom prst="rect">
            <a:avLst/>
          </a:prstGeom>
        </p:spPr>
        <p:txBody>
          <a:bodyPr wrap="square" lIns="0" tIns="0" rIns="0" bIns="0" rtlCol="0" anchor="t">
            <a:noAutofit/>
          </a:bodyPr>
          <a:lstStyle/>
          <a:p>
            <a:pPr>
              <a:lnSpc>
                <a:spcPts val="7990"/>
              </a:lnSpc>
            </a:pPr>
            <a:r>
              <a:rPr lang="en-US" sz="3600">
                <a:solidFill>
                  <a:srgbClr val="000000"/>
                </a:solidFill>
                <a:latin typeface="黑体" panose="02010609060101010101" charset="-122"/>
                <a:ea typeface="黑体" panose="02010609060101010101" charset="-122"/>
                <a:cs typeface="黑体" panose="02010609060101010101" charset="-122"/>
                <a:sym typeface="Calibri (MS)" panose="020F0502020204030204"/>
              </a:rPr>
              <a:t>我们队伍名称为</a:t>
            </a:r>
            <a:r>
              <a:rPr lang="en-US" sz="3600" b="1">
                <a:solidFill>
                  <a:srgbClr val="000000"/>
                </a:solidFill>
                <a:latin typeface="黑体" panose="02010609060101010101" charset="-122"/>
                <a:ea typeface="黑体" panose="02010609060101010101" charset="-122"/>
                <a:cs typeface="黑体" panose="02010609060101010101" charset="-122"/>
                <a:sym typeface="Calibri (MS) Bold" panose="020F0702030404030204"/>
              </a:rPr>
              <a:t>从容应队</a:t>
            </a:r>
            <a:r>
              <a:rPr lang="en-US" sz="3600">
                <a:solidFill>
                  <a:srgbClr val="000000"/>
                </a:solidFill>
                <a:latin typeface="黑体" panose="02010609060101010101" charset="-122"/>
                <a:ea typeface="黑体" panose="02010609060101010101" charset="-122"/>
                <a:cs typeface="黑体" panose="02010609060101010101" charset="-122"/>
                <a:sym typeface="Calibri (MS)" panose="020F0502020204030204"/>
              </a:rPr>
              <a:t>，</a:t>
            </a:r>
            <a:endParaRPr lang="en-US" sz="3600">
              <a:solidFill>
                <a:srgbClr val="000000"/>
              </a:solidFill>
              <a:latin typeface="黑体" panose="02010609060101010101" charset="-122"/>
              <a:ea typeface="黑体" panose="02010609060101010101" charset="-122"/>
              <a:cs typeface="黑体" panose="02010609060101010101" charset="-122"/>
              <a:sym typeface="Calibri (MS)" panose="020F0502020204030204"/>
            </a:endParaRPr>
          </a:p>
          <a:p>
            <a:pPr>
              <a:lnSpc>
                <a:spcPts val="7990"/>
              </a:lnSpc>
            </a:pPr>
            <a:r>
              <a:rPr lang="en-US" sz="3600">
                <a:solidFill>
                  <a:srgbClr val="000000"/>
                </a:solidFill>
                <a:latin typeface="黑体" panose="02010609060101010101" charset="-122"/>
                <a:ea typeface="黑体" panose="02010609060101010101" charset="-122"/>
                <a:cs typeface="黑体" panose="02010609060101010101" charset="-122"/>
                <a:sym typeface="Calibri (MS)" panose="020F0502020204030204"/>
              </a:rPr>
              <a:t>队伍编号：T20251055899517</a:t>
            </a:r>
            <a:r>
              <a:rPr lang="en-US" sz="3600">
                <a:solidFill>
                  <a:srgbClr val="000000"/>
                </a:solidFill>
                <a:latin typeface="黑体" panose="02010609060101010101" charset="-122"/>
                <a:ea typeface="黑体" panose="02010609060101010101" charset="-122"/>
                <a:cs typeface="黑体" panose="02010609060101010101" charset="-122"/>
                <a:sym typeface="Calibri (MS)" panose="020F0502020204030204"/>
              </a:rPr>
              <a:t>2 ，</a:t>
            </a:r>
            <a:endParaRPr lang="en-US" sz="3600">
              <a:solidFill>
                <a:srgbClr val="000000"/>
              </a:solidFill>
              <a:latin typeface="黑体" panose="02010609060101010101" charset="-122"/>
              <a:ea typeface="黑体" panose="02010609060101010101" charset="-122"/>
              <a:cs typeface="黑体" panose="02010609060101010101" charset="-122"/>
              <a:sym typeface="Calibri (MS)" panose="020F0502020204030204"/>
            </a:endParaRPr>
          </a:p>
          <a:p>
            <a:pPr>
              <a:lnSpc>
                <a:spcPts val="7990"/>
              </a:lnSpc>
            </a:pPr>
            <a:r>
              <a:rPr lang="en-US" sz="3600">
                <a:solidFill>
                  <a:srgbClr val="000000"/>
                </a:solidFill>
                <a:latin typeface="黑体" panose="02010609060101010101" charset="-122"/>
                <a:ea typeface="黑体" panose="02010609060101010101" charset="-122"/>
                <a:cs typeface="黑体" panose="02010609060101010101" charset="-122"/>
                <a:sym typeface="Calibri (MS)" panose="020F0502020204030204"/>
              </a:rPr>
              <a:t>来自中山大</a:t>
            </a:r>
            <a:r>
              <a:rPr lang="zh-CN" altLang="en-US" sz="3600">
                <a:solidFill>
                  <a:srgbClr val="000000"/>
                </a:solidFill>
                <a:latin typeface="黑体" panose="02010609060101010101" charset="-122"/>
                <a:ea typeface="黑体" panose="02010609060101010101" charset="-122"/>
                <a:cs typeface="黑体" panose="02010609060101010101" charset="-122"/>
                <a:sym typeface="Calibri (MS)" panose="020F0502020204030204"/>
              </a:rPr>
              <a:t>学RTS-SYSU实验室</a:t>
            </a:r>
            <a:r>
              <a:rPr lang="en-US" sz="3600">
                <a:solidFill>
                  <a:srgbClr val="000000"/>
                </a:solidFill>
                <a:latin typeface="黑体" panose="02010609060101010101" charset="-122"/>
                <a:ea typeface="黑体" panose="02010609060101010101" charset="-122"/>
                <a:cs typeface="黑体" panose="02010609060101010101" charset="-122"/>
                <a:sym typeface="Calibri (MS)" panose="020F0502020204030204"/>
              </a:rPr>
              <a:t>，</a:t>
            </a:r>
            <a:endParaRPr lang="en-US" sz="3600">
              <a:solidFill>
                <a:srgbClr val="000000"/>
              </a:solidFill>
              <a:latin typeface="黑体" panose="02010609060101010101" charset="-122"/>
              <a:ea typeface="黑体" panose="02010609060101010101" charset="-122"/>
              <a:cs typeface="黑体" panose="02010609060101010101" charset="-122"/>
              <a:sym typeface="Calibri (MS)" panose="020F0502020204030204"/>
            </a:endParaRPr>
          </a:p>
          <a:p>
            <a:pPr>
              <a:lnSpc>
                <a:spcPts val="7990"/>
              </a:lnSpc>
            </a:pPr>
            <a:r>
              <a:rPr lang="en-US" sz="3600">
                <a:solidFill>
                  <a:srgbClr val="000000"/>
                </a:solidFill>
                <a:latin typeface="黑体" panose="02010609060101010101" charset="-122"/>
                <a:ea typeface="黑体" panose="02010609060101010101" charset="-122"/>
                <a:cs typeface="黑体" panose="02010609060101010101" charset="-122"/>
                <a:sym typeface="Calibri (MS)" panose="020F0502020204030204"/>
              </a:rPr>
              <a:t>基本情况如下</a:t>
            </a:r>
            <a:r>
              <a:rPr lang="en-US" sz="3445">
                <a:solidFill>
                  <a:srgbClr val="000000"/>
                </a:solidFill>
                <a:latin typeface="黑体" panose="02010609060101010101" charset="-122"/>
                <a:ea typeface="黑体" panose="02010609060101010101" charset="-122"/>
                <a:cs typeface="黑体" panose="02010609060101010101" charset="-122"/>
                <a:sym typeface="Calibri (MS)" panose="020F0502020204030204"/>
              </a:rPr>
              <a:t>：</a:t>
            </a:r>
            <a:endParaRPr lang="en-US" sz="3445">
              <a:solidFill>
                <a:srgbClr val="000000"/>
              </a:solidFill>
              <a:latin typeface="黑体" panose="02010609060101010101" charset="-122"/>
              <a:ea typeface="黑体" panose="02010609060101010101" charset="-122"/>
              <a:cs typeface="黑体" panose="02010609060101010101" charset="-122"/>
              <a:sym typeface="Calibri (MS)" panose="020F0502020204030204"/>
            </a:endParaRPr>
          </a:p>
        </p:txBody>
      </p:sp>
      <p:sp>
        <p:nvSpPr>
          <p:cNvPr id="15" name="TextBox 15"/>
          <p:cNvSpPr txBox="1"/>
          <p:nvPr/>
        </p:nvSpPr>
        <p:spPr>
          <a:xfrm>
            <a:off x="1219200" y="5829300"/>
            <a:ext cx="13660755" cy="2952750"/>
          </a:xfrm>
          <a:prstGeom prst="rect">
            <a:avLst/>
          </a:prstGeom>
        </p:spPr>
        <p:txBody>
          <a:bodyPr wrap="square" lIns="0" tIns="0" rIns="0" bIns="0" rtlCol="0" anchor="t">
            <a:noAutofit/>
          </a:bodyPr>
          <a:lstStyle/>
          <a:p>
            <a:pPr marL="514350" lvl="1" indent="-514350" algn="l">
              <a:lnSpc>
                <a:spcPts val="7990"/>
              </a:lnSpc>
              <a:buClrTx/>
              <a:buSzTx/>
              <a:buFontTx/>
              <a:buAutoNum type="arabicPeriod"/>
            </a:pPr>
            <a:r>
              <a:rPr lang="zh-CN" altLang="en-US" sz="3200">
                <a:solidFill>
                  <a:srgbClr val="000000"/>
                </a:solidFill>
                <a:latin typeface="Calibri (MS)" panose="020F0502020204030204"/>
                <a:ea typeface="宋体" panose="02010600030101010101" pitchFamily="2" charset="-122"/>
                <a:cs typeface="Calibri (MS)" panose="020F0502020204030204"/>
                <a:sym typeface="Calibri (MS)" panose="020F0502020204030204"/>
              </a:rPr>
              <a:t>队长</a:t>
            </a:r>
            <a:r>
              <a:rPr lang="zh-CN" altLang="en-US" sz="3200" b="1">
                <a:solidFill>
                  <a:srgbClr val="000000"/>
                </a:solidFill>
                <a:latin typeface="Calibri (MS)" panose="020F0502020204030204"/>
                <a:ea typeface="宋体" panose="02010600030101010101" pitchFamily="2" charset="-122"/>
                <a:cs typeface="Calibri (MS)" panose="020F0502020204030204"/>
                <a:sym typeface="Calibri (MS) Bold" panose="020F0702030404030204"/>
              </a:rPr>
              <a:t>林炜东</a:t>
            </a:r>
            <a:r>
              <a:rPr lang="zh-CN" altLang="en-US" sz="3200">
                <a:solidFill>
                  <a:srgbClr val="000000"/>
                </a:solidFill>
                <a:latin typeface="Calibri (MS)" panose="020F0502020204030204"/>
                <a:ea typeface="宋体" panose="02010600030101010101" pitchFamily="2" charset="-122"/>
                <a:cs typeface="Calibri (MS)" panose="020F0502020204030204"/>
                <a:sym typeface="Calibri (MS)" panose="020F0502020204030204"/>
              </a:rPr>
              <a:t>，中山大学计算机学院计算机科学与技术专业二年级本科生。</a:t>
            </a:r>
            <a:endParaRPr lang="zh-CN" altLang="en-US" sz="3200">
              <a:solidFill>
                <a:srgbClr val="000000"/>
              </a:solidFill>
              <a:latin typeface="Calibri (MS)" panose="020F0502020204030204"/>
              <a:ea typeface="宋体" panose="02010600030101010101" pitchFamily="2" charset="-122"/>
              <a:cs typeface="Calibri (MS)" panose="020F0502020204030204"/>
              <a:sym typeface="Calibri (MS)" panose="020F0502020204030204"/>
            </a:endParaRPr>
          </a:p>
          <a:p>
            <a:pPr marL="514350" lvl="1" indent="-514350" algn="l">
              <a:lnSpc>
                <a:spcPts val="7990"/>
              </a:lnSpc>
              <a:buClrTx/>
              <a:buSzTx/>
              <a:buFontTx/>
              <a:buAutoNum type="arabicPeriod"/>
            </a:pPr>
            <a:r>
              <a:rPr lang="zh-CN" altLang="en-US" sz="3200">
                <a:solidFill>
                  <a:srgbClr val="000000"/>
                </a:solidFill>
                <a:latin typeface="Calibri (MS)" panose="020F0502020204030204"/>
                <a:ea typeface="宋体" panose="02010600030101010101" pitchFamily="2" charset="-122"/>
                <a:cs typeface="Calibri (MS)" panose="020F0502020204030204"/>
                <a:sym typeface="Calibri (MS)" panose="020F0502020204030204"/>
              </a:rPr>
              <a:t>队员</a:t>
            </a:r>
            <a:r>
              <a:rPr lang="zh-CN" altLang="en-US" sz="3200" b="1">
                <a:solidFill>
                  <a:srgbClr val="000000"/>
                </a:solidFill>
                <a:latin typeface="Calibri (MS)" panose="020F0502020204030204"/>
                <a:ea typeface="宋体" panose="02010600030101010101" pitchFamily="2" charset="-122"/>
                <a:cs typeface="Calibri (MS)" panose="020F0502020204030204"/>
                <a:sym typeface="Calibri (MS) Bold" panose="020F0702030404030204"/>
              </a:rPr>
              <a:t>马福泉</a:t>
            </a:r>
            <a:r>
              <a:rPr lang="zh-CN" altLang="en-US" sz="3200">
                <a:solidFill>
                  <a:srgbClr val="000000"/>
                </a:solidFill>
                <a:latin typeface="Calibri (MS)" panose="020F0502020204030204"/>
                <a:ea typeface="宋体" panose="02010600030101010101" pitchFamily="2" charset="-122"/>
                <a:cs typeface="Calibri (MS)" panose="020F0502020204030204"/>
                <a:sym typeface="Calibri (MS)" panose="020F0502020204030204"/>
              </a:rPr>
              <a:t>，中山大学计算机学院计算机科学与技术专业二年级本科生。</a:t>
            </a:r>
            <a:endParaRPr lang="zh-CN" altLang="en-US" sz="3200">
              <a:solidFill>
                <a:srgbClr val="000000"/>
              </a:solidFill>
              <a:latin typeface="Calibri (MS)" panose="020F0502020204030204"/>
              <a:ea typeface="宋体" panose="02010600030101010101" pitchFamily="2" charset="-122"/>
              <a:cs typeface="Calibri (MS)" panose="020F0502020204030204"/>
              <a:sym typeface="Calibri (MS)" panose="020F0502020204030204"/>
            </a:endParaRPr>
          </a:p>
          <a:p>
            <a:pPr marL="514350" lvl="1" indent="-514350" algn="l">
              <a:lnSpc>
                <a:spcPts val="7990"/>
              </a:lnSpc>
              <a:buClrTx/>
              <a:buSzTx/>
              <a:buFontTx/>
              <a:buAutoNum type="arabicPeriod"/>
            </a:pPr>
            <a:r>
              <a:rPr lang="zh-CN" altLang="en-US" sz="3200">
                <a:solidFill>
                  <a:srgbClr val="000000"/>
                </a:solidFill>
                <a:latin typeface="Calibri (MS)" panose="020F0502020204030204"/>
                <a:ea typeface="宋体" panose="02010600030101010101" pitchFamily="2" charset="-122"/>
                <a:cs typeface="Calibri (MS)" panose="020F0502020204030204"/>
                <a:sym typeface="Calibri (MS)" panose="020F0502020204030204"/>
              </a:rPr>
              <a:t>队员</a:t>
            </a:r>
            <a:r>
              <a:rPr lang="zh-CN" altLang="en-US" sz="3200" b="1">
                <a:solidFill>
                  <a:srgbClr val="000000"/>
                </a:solidFill>
                <a:latin typeface="Calibri (MS)" panose="020F0502020204030204"/>
                <a:ea typeface="宋体" panose="02010600030101010101" pitchFamily="2" charset="-122"/>
                <a:cs typeface="Calibri (MS)" panose="020F0502020204030204"/>
                <a:sym typeface="Calibri (MS) Bold" panose="020F0702030404030204"/>
              </a:rPr>
              <a:t>刘昊</a:t>
            </a:r>
            <a:r>
              <a:rPr lang="zh-CN" altLang="en-US" sz="3200">
                <a:solidFill>
                  <a:srgbClr val="000000"/>
                </a:solidFill>
                <a:latin typeface="Calibri (MS)" panose="020F0502020204030204"/>
                <a:ea typeface="宋体" panose="02010600030101010101" pitchFamily="2" charset="-122"/>
                <a:cs typeface="Calibri (MS)" panose="020F0502020204030204"/>
                <a:sym typeface="Calibri (MS)" panose="020F0502020204030204"/>
              </a:rPr>
              <a:t>，中山大学计算机学院计算机科学与技术专业二年级本科生。</a:t>
            </a:r>
            <a:endParaRPr lang="zh-CN" altLang="en-US" sz="3200">
              <a:solidFill>
                <a:srgbClr val="000000"/>
              </a:solidFill>
              <a:latin typeface="Calibri (MS)" panose="020F0502020204030204"/>
              <a:ea typeface="宋体" panose="02010600030101010101" pitchFamily="2" charset="-122"/>
              <a:cs typeface="Calibri (MS)" panose="020F0502020204030204"/>
              <a:sym typeface="Calibri (MS)" panose="020F0502020204030204"/>
            </a:endParaRPr>
          </a:p>
        </p:txBody>
      </p:sp>
      <p:pic>
        <p:nvPicPr>
          <p:cNvPr id="18" name="图片 17" descr="1755243596511"/>
          <p:cNvPicPr>
            <a:picLocks noChangeAspect="1"/>
          </p:cNvPicPr>
          <p:nvPr/>
        </p:nvPicPr>
        <p:blipFill>
          <a:blip r:embed="rId3"/>
          <a:stretch>
            <a:fillRect/>
          </a:stretch>
        </p:blipFill>
        <p:spPr>
          <a:xfrm>
            <a:off x="9144000" y="1409700"/>
            <a:ext cx="3823335" cy="3672840"/>
          </a:xfrm>
          <a:prstGeom prst="rect">
            <a:avLst/>
          </a:prstGeom>
        </p:spPr>
      </p:pic>
      <p:grpSp>
        <p:nvGrpSpPr>
          <p:cNvPr id="22" name="Group 15"/>
          <p:cNvGrpSpPr>
            <a:grpSpLocks noChangeAspect="1"/>
          </p:cNvGrpSpPr>
          <p:nvPr/>
        </p:nvGrpSpPr>
        <p:grpSpPr>
          <a:xfrm rot="0">
            <a:off x="13868400" y="1485900"/>
            <a:ext cx="3827780" cy="3662045"/>
            <a:chOff x="0" y="0"/>
            <a:chExt cx="3872784" cy="3861622"/>
          </a:xfrm>
        </p:grpSpPr>
        <p:sp>
          <p:nvSpPr>
            <p:cNvPr id="23" name="Freeform 16"/>
            <p:cNvSpPr/>
            <p:nvPr/>
          </p:nvSpPr>
          <p:spPr>
            <a:xfrm>
              <a:off x="0" y="0"/>
              <a:ext cx="3872738" cy="3861562"/>
            </a:xfrm>
            <a:custGeom>
              <a:avLst/>
              <a:gdLst/>
              <a:ahLst/>
              <a:cxnLst/>
              <a:rect l="l" t="t" r="r" b="b"/>
              <a:pathLst>
                <a:path w="3872738" h="3861562">
                  <a:moveTo>
                    <a:pt x="0" y="0"/>
                  </a:moveTo>
                  <a:lnTo>
                    <a:pt x="3872738" y="0"/>
                  </a:lnTo>
                  <a:lnTo>
                    <a:pt x="3872738" y="3861562"/>
                  </a:lnTo>
                  <a:lnTo>
                    <a:pt x="0" y="3861562"/>
                  </a:lnTo>
                  <a:lnTo>
                    <a:pt x="0" y="0"/>
                  </a:lnTo>
                  <a:close/>
                </a:path>
              </a:pathLst>
            </a:custGeom>
            <a:blipFill>
              <a:blip r:embed="rId4"/>
              <a:stretch>
                <a:fillRect t="-36" r="-1" b="-38"/>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grpSp>
        <p:nvGrpSpPr>
          <p:cNvPr id="5" name="Group 5"/>
          <p:cNvGrpSpPr/>
          <p:nvPr/>
        </p:nvGrpSpPr>
        <p:grpSpPr>
          <a:xfrm rot="0">
            <a:off x="4406504" y="326236"/>
            <a:ext cx="14596457" cy="492914"/>
            <a:chOff x="0" y="0"/>
            <a:chExt cx="19461943" cy="657218"/>
          </a:xfrm>
        </p:grpSpPr>
        <p:sp>
          <p:nvSpPr>
            <p:cNvPr id="6" name="Freeform 6"/>
            <p:cNvSpPr/>
            <p:nvPr/>
          </p:nvSpPr>
          <p:spPr>
            <a:xfrm>
              <a:off x="0" y="0"/>
              <a:ext cx="19461862" cy="657225"/>
            </a:xfrm>
            <a:custGeom>
              <a:avLst/>
              <a:gdLst/>
              <a:ahLst/>
              <a:cxnLst/>
              <a:rect l="l" t="t" r="r" b="b"/>
              <a:pathLst>
                <a:path w="19461862" h="657225">
                  <a:moveTo>
                    <a:pt x="0" y="328549"/>
                  </a:moveTo>
                  <a:cubicBezTo>
                    <a:pt x="0" y="147066"/>
                    <a:pt x="147066" y="0"/>
                    <a:pt x="328549" y="0"/>
                  </a:cubicBezTo>
                  <a:lnTo>
                    <a:pt x="19133313" y="0"/>
                  </a:lnTo>
                  <a:cubicBezTo>
                    <a:pt x="19314796" y="0"/>
                    <a:pt x="19461862" y="147066"/>
                    <a:pt x="19461862" y="328549"/>
                  </a:cubicBezTo>
                  <a:cubicBezTo>
                    <a:pt x="19461862" y="510032"/>
                    <a:pt x="19314796" y="657098"/>
                    <a:pt x="19133313" y="657098"/>
                  </a:cubicBezTo>
                  <a:lnTo>
                    <a:pt x="328549" y="657098"/>
                  </a:lnTo>
                  <a:cubicBezTo>
                    <a:pt x="147066" y="657225"/>
                    <a:pt x="0" y="510032"/>
                    <a:pt x="0" y="328549"/>
                  </a:cubicBezTo>
                  <a:close/>
                </a:path>
              </a:pathLst>
            </a:custGeom>
            <a:solidFill>
              <a:srgbClr val="014924"/>
            </a:solidFill>
          </p:spPr>
        </p:sp>
      </p:grpSp>
      <p:grpSp>
        <p:nvGrpSpPr>
          <p:cNvPr id="7" name="Group 7"/>
          <p:cNvGrpSpPr/>
          <p:nvPr/>
        </p:nvGrpSpPr>
        <p:grpSpPr>
          <a:xfrm rot="0">
            <a:off x="4424887" y="931548"/>
            <a:ext cx="14596459" cy="54000"/>
            <a:chOff x="0" y="0"/>
            <a:chExt cx="19461945" cy="72000"/>
          </a:xfrm>
        </p:grpSpPr>
        <p:sp>
          <p:nvSpPr>
            <p:cNvPr id="8" name="Freeform 8"/>
            <p:cNvSpPr/>
            <p:nvPr/>
          </p:nvSpPr>
          <p:spPr>
            <a:xfrm>
              <a:off x="0" y="0"/>
              <a:ext cx="19461860" cy="72009"/>
            </a:xfrm>
            <a:custGeom>
              <a:avLst/>
              <a:gdLst/>
              <a:ahLst/>
              <a:cxnLst/>
              <a:rect l="l" t="t" r="r" b="b"/>
              <a:pathLst>
                <a:path w="19461860" h="72009">
                  <a:moveTo>
                    <a:pt x="0" y="35941"/>
                  </a:moveTo>
                  <a:cubicBezTo>
                    <a:pt x="0" y="55880"/>
                    <a:pt x="16129" y="72009"/>
                    <a:pt x="35941" y="72009"/>
                  </a:cubicBezTo>
                  <a:lnTo>
                    <a:pt x="19425920" y="72009"/>
                  </a:lnTo>
                  <a:cubicBezTo>
                    <a:pt x="19445858" y="72009"/>
                    <a:pt x="19461860" y="55880"/>
                    <a:pt x="19461860" y="36068"/>
                  </a:cubicBezTo>
                  <a:cubicBezTo>
                    <a:pt x="19461860" y="16256"/>
                    <a:pt x="19445860" y="0"/>
                    <a:pt x="19425920" y="0"/>
                  </a:cubicBezTo>
                  <a:lnTo>
                    <a:pt x="35941" y="0"/>
                  </a:lnTo>
                  <a:cubicBezTo>
                    <a:pt x="16129" y="0"/>
                    <a:pt x="0" y="16129"/>
                    <a:pt x="0" y="35941"/>
                  </a:cubicBezTo>
                  <a:close/>
                </a:path>
              </a:pathLst>
            </a:custGeom>
            <a:solidFill>
              <a:srgbClr val="014924"/>
            </a:solidFill>
          </p:spPr>
        </p:sp>
      </p:grpSp>
      <p:sp>
        <p:nvSpPr>
          <p:cNvPr id="9" name="TextBox 9"/>
          <p:cNvSpPr txBox="1"/>
          <p:nvPr/>
        </p:nvSpPr>
        <p:spPr>
          <a:xfrm>
            <a:off x="4650263" y="410664"/>
            <a:ext cx="1267514" cy="266700"/>
          </a:xfrm>
          <a:prstGeom prst="rect">
            <a:avLst/>
          </a:prstGeom>
        </p:spPr>
        <p:txBody>
          <a:bodyPr lIns="0" tIns="0" rIns="0" bIns="0" rtlCol="0" anchor="t">
            <a:spAutoFit/>
          </a:bodyPr>
          <a:lstStyle/>
          <a:p>
            <a:pPr algn="ctr">
              <a:lnSpc>
                <a:spcPts val="2160"/>
              </a:lnSpc>
            </a:pPr>
            <a:r>
              <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ABOUT US</a:t>
            </a:r>
            <a:endPar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0" name="Group 10"/>
          <p:cNvGrpSpPr>
            <a:grpSpLocks noChangeAspect="1"/>
          </p:cNvGrpSpPr>
          <p:nvPr/>
        </p:nvGrpSpPr>
        <p:grpSpPr>
          <a:xfrm rot="0">
            <a:off x="16100484" y="264381"/>
            <a:ext cx="1896959" cy="667167"/>
            <a:chOff x="0" y="0"/>
            <a:chExt cx="2529278" cy="889556"/>
          </a:xfrm>
        </p:grpSpPr>
        <p:sp>
          <p:nvSpPr>
            <p:cNvPr id="11" name="Freeform 11"/>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sp>
        <p:nvSpPr>
          <p:cNvPr id="13" name="Freeform 13"/>
          <p:cNvSpPr/>
          <p:nvPr/>
        </p:nvSpPr>
        <p:spPr>
          <a:xfrm>
            <a:off x="838200" y="1638300"/>
            <a:ext cx="3346450" cy="4380230"/>
          </a:xfrm>
          <a:custGeom>
            <a:avLst/>
            <a:gdLst/>
            <a:ahLst/>
            <a:cxnLst/>
            <a:rect l="l" t="t" r="r" b="b"/>
            <a:pathLst>
              <a:path w="3346579" h="4462105">
                <a:moveTo>
                  <a:pt x="0" y="0"/>
                </a:moveTo>
                <a:lnTo>
                  <a:pt x="3346579" y="0"/>
                </a:lnTo>
                <a:lnTo>
                  <a:pt x="3346579" y="4462105"/>
                </a:lnTo>
                <a:lnTo>
                  <a:pt x="0" y="4462105"/>
                </a:lnTo>
                <a:lnTo>
                  <a:pt x="0" y="0"/>
                </a:lnTo>
                <a:close/>
              </a:path>
            </a:pathLst>
          </a:custGeom>
          <a:blipFill>
            <a:blip r:embed="rId3"/>
            <a:stretch>
              <a:fillRect/>
            </a:stretch>
          </a:blipFill>
        </p:spPr>
        <p:txBody>
          <a:bodyPr/>
          <a:p>
            <a:endParaRPr lang="zh-CN" altLang="en-US"/>
          </a:p>
        </p:txBody>
      </p:sp>
      <p:sp>
        <p:nvSpPr>
          <p:cNvPr id="14" name="TextBox 14"/>
          <p:cNvSpPr txBox="1"/>
          <p:nvPr/>
        </p:nvSpPr>
        <p:spPr>
          <a:xfrm>
            <a:off x="189999" y="348244"/>
            <a:ext cx="518661" cy="63817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5" name="TextBox 15"/>
          <p:cNvSpPr txBox="1"/>
          <p:nvPr/>
        </p:nvSpPr>
        <p:spPr>
          <a:xfrm>
            <a:off x="1143186" y="263128"/>
            <a:ext cx="2556328" cy="723900"/>
          </a:xfrm>
          <a:prstGeom prst="rect">
            <a:avLst/>
          </a:prstGeom>
        </p:spPr>
        <p:txBody>
          <a:bodyPr lIns="0" tIns="0" rIns="0" bIns="0" rtlCol="0" anchor="t">
            <a:spAutoFit/>
          </a:bodyPr>
          <a:lstStyle/>
          <a:p>
            <a:pPr algn="l">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队伍介绍</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6" name="TextBox 16"/>
          <p:cNvSpPr txBox="1"/>
          <p:nvPr/>
        </p:nvSpPr>
        <p:spPr>
          <a:xfrm>
            <a:off x="533400" y="6438900"/>
            <a:ext cx="15766415" cy="2898775"/>
          </a:xfrm>
          <a:prstGeom prst="rect">
            <a:avLst/>
          </a:prstGeom>
        </p:spPr>
        <p:txBody>
          <a:bodyPr wrap="square" lIns="0" tIns="0" rIns="0" bIns="0" rtlCol="0" anchor="t">
            <a:noAutofit/>
          </a:bodyPr>
          <a:lstStyle/>
          <a:p>
            <a:pPr algn="l">
              <a:lnSpc>
                <a:spcPts val="7685"/>
              </a:lnSpc>
            </a:pPr>
            <a:r>
              <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所选赛题：Proj59: Linux 内核低时延调度器</a:t>
            </a:r>
            <a:endParaRPr lang="en-US" sz="3200" b="1">
              <a:solidFill>
                <a:srgbClr val="FF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ts val="7935"/>
              </a:lnSpc>
            </a:pPr>
            <a:r>
              <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项目导师：谢秀奇、成坚         </a:t>
            </a:r>
            <a:endPar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algn="l">
              <a:lnSpc>
                <a:spcPts val="7935"/>
              </a:lnSpc>
            </a:pPr>
            <a:r>
              <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赛题链接：https://github.com/oscomp/proj59-linux-fast-scheduler</a:t>
            </a:r>
            <a:endPar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algn="l">
              <a:lnSpc>
                <a:spcPts val="7685"/>
              </a:lnSpc>
            </a:pPr>
            <a:endPar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7" name="文本框 16"/>
          <p:cNvSpPr txBox="1"/>
          <p:nvPr/>
        </p:nvSpPr>
        <p:spPr>
          <a:xfrm>
            <a:off x="4406265" y="1181100"/>
            <a:ext cx="13305155" cy="5238750"/>
          </a:xfrm>
          <a:prstGeom prst="rect">
            <a:avLst/>
          </a:prstGeom>
          <a:noFill/>
        </p:spPr>
        <p:txBody>
          <a:bodyPr wrap="square" rtlCol="0">
            <a:noAutofit/>
          </a:bodyPr>
          <a:p>
            <a:pPr algn="l">
              <a:lnSpc>
                <a:spcPct val="200000"/>
              </a:lnSpc>
            </a:pPr>
            <a:r>
              <a:rPr lang="en-US" sz="2800" b="1">
                <a:solidFill>
                  <a:srgbClr val="000000"/>
                </a:solidFill>
                <a:latin typeface="Calibri (MS) Bold" panose="020F0702030404030204"/>
                <a:ea typeface="Calibri (MS) Bold" panose="020F0702030404030204"/>
                <a:cs typeface="Calibri (MS) Bold" panose="020F0702030404030204"/>
                <a:sym typeface="Calibri (MS) Bold" panose="020F0702030404030204"/>
              </a:rPr>
              <a:t>校内指导老师简介：</a:t>
            </a:r>
            <a:endParaRPr lang="en-US" sz="2800" b="1">
              <a:solidFill>
                <a:srgbClr val="000000"/>
              </a:solidFill>
              <a:latin typeface="Calibri (MS) Bold" panose="020F0702030404030204"/>
              <a:ea typeface="Calibri (MS) Bold" panose="020F0702030404030204"/>
              <a:cs typeface="Calibri (MS) Bold" panose="020F0702030404030204"/>
              <a:sym typeface="Calibri (MS) Bold" panose="020F0702030404030204"/>
            </a:endParaRPr>
          </a:p>
          <a:p>
            <a:pPr algn="l">
              <a:lnSpc>
                <a:spcPct val="200000"/>
              </a:lnSpc>
            </a:pPr>
            <a:r>
              <a:rPr lang="en-US" sz="2800" b="1">
                <a:solidFill>
                  <a:srgbClr val="000000"/>
                </a:solidFill>
                <a:latin typeface="Calibri (MS) Bold" panose="020F0702030404030204"/>
                <a:ea typeface="Calibri (MS) Bold" panose="020F0702030404030204"/>
                <a:cs typeface="Calibri (MS) Bold" panose="020F0702030404030204"/>
                <a:sym typeface="Calibri (MS) Bold" panose="020F0702030404030204"/>
              </a:rPr>
              <a:t>赵帅</a:t>
            </a:r>
            <a:r>
              <a:rPr lang="en-US" sz="2800">
                <a:solidFill>
                  <a:srgbClr val="000000"/>
                </a:solidFill>
                <a:latin typeface="Calibri (MS)" panose="020F0502020204030204"/>
                <a:ea typeface="Calibri (MS)" panose="020F0502020204030204"/>
                <a:cs typeface="Calibri (MS)" panose="020F0502020204030204"/>
                <a:sym typeface="Calibri (MS)" panose="020F0502020204030204"/>
              </a:rPr>
              <a:t>，</a:t>
            </a:r>
            <a:r>
              <a:rPr lang="zh-CN" altLang="en-US" sz="2800">
                <a:solidFill>
                  <a:srgbClr val="000000"/>
                </a:solidFill>
                <a:latin typeface="Calibri (MS)" panose="020F0502020204030204"/>
                <a:ea typeface="Calibri (MS)" panose="020F0502020204030204"/>
                <a:cs typeface="Calibri (MS)" panose="020F0502020204030204"/>
                <a:sym typeface="Calibri (MS)" panose="020F0502020204030204"/>
              </a:rPr>
              <a:t>副教授，教育部首批海外引才专项、广东省珠江学者青年拔尖人才、中山大学</a:t>
            </a:r>
            <a:r>
              <a:rPr lang="en-US" altLang="zh-CN" sz="2800">
                <a:solidFill>
                  <a:srgbClr val="000000"/>
                </a:solidFill>
                <a:latin typeface="Calibri (MS)" panose="020F0502020204030204"/>
                <a:ea typeface="Calibri (MS)" panose="020F0502020204030204"/>
                <a:cs typeface="Calibri (MS)" panose="020F0502020204030204"/>
                <a:sym typeface="Calibri (MS)" panose="020F0502020204030204"/>
              </a:rPr>
              <a:t>“</a:t>
            </a:r>
            <a:r>
              <a:rPr lang="zh-CN" altLang="en-US" sz="2800">
                <a:solidFill>
                  <a:srgbClr val="000000"/>
                </a:solidFill>
                <a:latin typeface="Calibri (MS)" panose="020F0502020204030204"/>
                <a:ea typeface="Calibri (MS)" panose="020F0502020204030204"/>
                <a:cs typeface="Calibri (MS)" panose="020F0502020204030204"/>
                <a:sym typeface="Calibri (MS)" panose="020F0502020204030204"/>
              </a:rPr>
              <a:t>百人计划</a:t>
            </a:r>
            <a:r>
              <a:rPr lang="en-US" altLang="zh-CN" sz="2800">
                <a:solidFill>
                  <a:srgbClr val="000000"/>
                </a:solidFill>
                <a:latin typeface="Calibri (MS)" panose="020F0502020204030204"/>
                <a:ea typeface="Calibri (MS)" panose="020F0502020204030204"/>
                <a:cs typeface="Calibri (MS)" panose="020F0502020204030204"/>
                <a:sym typeface="Calibri (MS)" panose="020F0502020204030204"/>
              </a:rPr>
              <a:t>”</a:t>
            </a:r>
            <a:r>
              <a:rPr lang="zh-CN" altLang="en-US" sz="2800">
                <a:solidFill>
                  <a:srgbClr val="000000"/>
                </a:solidFill>
                <a:latin typeface="Calibri (MS)" panose="020F0502020204030204"/>
                <a:ea typeface="Calibri (MS)" panose="020F0502020204030204"/>
                <a:cs typeface="Calibri (MS)" panose="020F0502020204030204"/>
                <a:sym typeface="Calibri (MS)" panose="020F0502020204030204"/>
              </a:rPr>
              <a:t>引才专项获得者</a:t>
            </a:r>
            <a:r>
              <a:rPr lang="en-US" sz="2800">
                <a:solidFill>
                  <a:srgbClr val="000000"/>
                </a:solidFill>
                <a:latin typeface="Calibri (MS)" panose="020F0502020204030204"/>
                <a:ea typeface="Calibri (MS)" panose="020F0502020204030204"/>
                <a:cs typeface="Calibri (MS)" panose="020F0502020204030204"/>
                <a:sym typeface="Calibri (MS)" panose="020F0502020204030204"/>
              </a:rPr>
              <a:t>。主要从事实时系统、操作系统领域的理论与应用研究，旨在围绕操作系统，为上层应用提供高性能、硬实时的计算与通讯保障，专注于复杂实时系统设计与分析、系统资源共享与管理、硬软件协同设计与寻优等具体方向。 个人主页</a:t>
            </a:r>
            <a:r>
              <a:rPr lang="en-US" sz="2800">
                <a:solidFill>
                  <a:srgbClr val="0070C0"/>
                </a:solidFill>
                <a:latin typeface="Calibri (MS)" panose="020F0502020204030204"/>
                <a:ea typeface="Calibri (MS)" panose="020F0502020204030204"/>
                <a:cs typeface="Calibri (MS)" panose="020F0502020204030204"/>
                <a:sym typeface="Calibri (MS)" panose="020F0502020204030204"/>
              </a:rPr>
              <a:t>https://cse.sysu.edu.cn/content/6598</a:t>
            </a:r>
            <a:endParaRPr lang="en-US" sz="2800">
              <a:solidFill>
                <a:srgbClr val="0070C0"/>
              </a:solidFill>
              <a:latin typeface="Calibri (MS)" panose="020F0502020204030204"/>
              <a:ea typeface="Calibri (MS)" panose="020F0502020204030204"/>
              <a:cs typeface="Calibri (MS)" panose="020F0502020204030204"/>
              <a:sym typeface="Calibri (MS)" panose="020F0502020204030204"/>
            </a:endParaRPr>
          </a:p>
          <a:p>
            <a:pPr algn="l">
              <a:lnSpc>
                <a:spcPct val="200000"/>
              </a:lnSpc>
            </a:pPr>
            <a:endParaRPr lang="zh-CN" altLang="en-US" sz="2800"/>
          </a:p>
          <a:p>
            <a:pPr algn="l">
              <a:lnSpc>
                <a:spcPct val="200000"/>
              </a:lnSpc>
            </a:pPr>
            <a:endParaRPr lang="zh-CN" altLang="en-US" sz="2800"/>
          </a:p>
          <a:p>
            <a:pPr>
              <a:lnSpc>
                <a:spcPct val="200000"/>
              </a:lnSpc>
            </a:pPr>
            <a:endParaRPr lang="zh-CN" altLang="en-US"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sp>
        <p:nvSpPr>
          <p:cNvPr id="3" name="AutoShape 3"/>
          <p:cNvSpPr/>
          <p:nvPr>
            <p:custDataLst>
              <p:tags r:id="rId2"/>
            </p:custDataLst>
          </p:nvPr>
        </p:nvSpPr>
        <p:spPr>
          <a:xfrm rot="21924">
            <a:off x="6377934" y="2410893"/>
            <a:ext cx="11948287" cy="0"/>
          </a:xfrm>
          <a:prstGeom prst="line">
            <a:avLst/>
          </a:prstGeom>
          <a:ln w="38100" cap="rnd">
            <a:solidFill>
              <a:srgbClr val="FFFFFF"/>
            </a:solidFill>
            <a:prstDash val="solid"/>
            <a:headEnd type="none" w="sm" len="sm"/>
            <a:tailEnd type="none" w="sm" len="sm"/>
          </a:ln>
        </p:spPr>
      </p:sp>
      <p:grpSp>
        <p:nvGrpSpPr>
          <p:cNvPr id="4" name="Group 4"/>
          <p:cNvGrpSpPr/>
          <p:nvPr>
            <p:custDataLst>
              <p:tags r:id="rId3"/>
            </p:custDataLst>
          </p:nvPr>
        </p:nvGrpSpPr>
        <p:grpSpPr>
          <a:xfrm rot="0">
            <a:off x="8240132" y="1885950"/>
            <a:ext cx="1151985" cy="1151985"/>
            <a:chOff x="0" y="0"/>
            <a:chExt cx="1535980" cy="1535980"/>
          </a:xfrm>
        </p:grpSpPr>
        <p:sp>
          <p:nvSpPr>
            <p:cNvPr id="5" name="Freeform 5"/>
            <p:cNvSpPr/>
            <p:nvPr>
              <p:custDataLst>
                <p:tags r:id="rId4"/>
              </p:custDataLst>
            </p:nvPr>
          </p:nvSpPr>
          <p:spPr>
            <a:xfrm>
              <a:off x="0" y="0"/>
              <a:ext cx="1535938" cy="1535938"/>
            </a:xfrm>
            <a:custGeom>
              <a:avLst/>
              <a:gdLst/>
              <a:ahLst/>
              <a:cxnLst/>
              <a:rect l="l" t="t" r="r" b="b"/>
              <a:pathLst>
                <a:path w="1535938" h="1535938">
                  <a:moveTo>
                    <a:pt x="0" y="0"/>
                  </a:moveTo>
                  <a:lnTo>
                    <a:pt x="1535938" y="0"/>
                  </a:lnTo>
                  <a:lnTo>
                    <a:pt x="1535938" y="1535938"/>
                  </a:lnTo>
                  <a:lnTo>
                    <a:pt x="0" y="1535938"/>
                  </a:lnTo>
                  <a:close/>
                </a:path>
              </a:pathLst>
            </a:custGeom>
            <a:solidFill>
              <a:srgbClr val="014924"/>
            </a:solidFill>
          </p:spPr>
        </p:sp>
      </p:grpSp>
      <p:sp>
        <p:nvSpPr>
          <p:cNvPr id="6" name="TextBox 6"/>
          <p:cNvSpPr txBox="1"/>
          <p:nvPr>
            <p:custDataLst>
              <p:tags r:id="rId5"/>
            </p:custDataLst>
          </p:nvPr>
        </p:nvSpPr>
        <p:spPr>
          <a:xfrm>
            <a:off x="8175279" y="2073669"/>
            <a:ext cx="1281690" cy="723900"/>
          </a:xfrm>
          <a:prstGeom prst="rect">
            <a:avLst/>
          </a:prstGeom>
        </p:spPr>
        <p:txBody>
          <a:bodyPr lIns="0" tIns="0" rIns="0" bIns="0" rtlCol="0" anchor="t">
            <a:spAutoFit/>
          </a:bodyPr>
          <a:lstStyle/>
          <a:p>
            <a:pPr algn="ctr">
              <a:lnSpc>
                <a:spcPts val="5760"/>
              </a:lnSpc>
            </a:pPr>
            <a:r>
              <a:rPr lang="en-US" sz="48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1</a:t>
            </a:r>
            <a:endParaRPr lang="en-US" sz="48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nvGrpSpPr>
          <p:cNvPr id="7" name="Group 7"/>
          <p:cNvGrpSpPr/>
          <p:nvPr>
            <p:custDataLst>
              <p:tags r:id="rId6"/>
            </p:custDataLst>
          </p:nvPr>
        </p:nvGrpSpPr>
        <p:grpSpPr>
          <a:xfrm rot="0">
            <a:off x="11776086" y="1885950"/>
            <a:ext cx="1151985" cy="1151985"/>
            <a:chOff x="0" y="0"/>
            <a:chExt cx="1535980" cy="1535980"/>
          </a:xfrm>
        </p:grpSpPr>
        <p:sp>
          <p:nvSpPr>
            <p:cNvPr id="8" name="Freeform 8"/>
            <p:cNvSpPr/>
            <p:nvPr>
              <p:custDataLst>
                <p:tags r:id="rId7"/>
              </p:custDataLst>
            </p:nvPr>
          </p:nvSpPr>
          <p:spPr>
            <a:xfrm>
              <a:off x="0" y="0"/>
              <a:ext cx="1535938" cy="1535938"/>
            </a:xfrm>
            <a:custGeom>
              <a:avLst/>
              <a:gdLst/>
              <a:ahLst/>
              <a:cxnLst/>
              <a:rect l="l" t="t" r="r" b="b"/>
              <a:pathLst>
                <a:path w="1535938" h="1535938">
                  <a:moveTo>
                    <a:pt x="0" y="0"/>
                  </a:moveTo>
                  <a:lnTo>
                    <a:pt x="1535938" y="0"/>
                  </a:lnTo>
                  <a:lnTo>
                    <a:pt x="1535938" y="1535938"/>
                  </a:lnTo>
                  <a:lnTo>
                    <a:pt x="0" y="1535938"/>
                  </a:lnTo>
                  <a:close/>
                </a:path>
              </a:pathLst>
            </a:custGeom>
            <a:solidFill>
              <a:srgbClr val="014924"/>
            </a:solidFill>
          </p:spPr>
        </p:sp>
      </p:grpSp>
      <p:sp>
        <p:nvSpPr>
          <p:cNvPr id="9" name="TextBox 9"/>
          <p:cNvSpPr txBox="1"/>
          <p:nvPr>
            <p:custDataLst>
              <p:tags r:id="rId8"/>
            </p:custDataLst>
          </p:nvPr>
        </p:nvSpPr>
        <p:spPr>
          <a:xfrm>
            <a:off x="11743233" y="2073669"/>
            <a:ext cx="1281690" cy="723900"/>
          </a:xfrm>
          <a:prstGeom prst="rect">
            <a:avLst/>
          </a:prstGeom>
        </p:spPr>
        <p:txBody>
          <a:bodyPr lIns="0" tIns="0" rIns="0" bIns="0" rtlCol="0" anchor="t">
            <a:spAutoFit/>
          </a:bodyPr>
          <a:lstStyle/>
          <a:p>
            <a:pPr algn="ctr">
              <a:lnSpc>
                <a:spcPts val="5760"/>
              </a:lnSpc>
            </a:pPr>
            <a:r>
              <a:rPr lang="en-US" sz="48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2</a:t>
            </a:r>
            <a:endParaRPr lang="en-US" sz="48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nvGrpSpPr>
          <p:cNvPr id="10" name="Group 10"/>
          <p:cNvGrpSpPr/>
          <p:nvPr>
            <p:custDataLst>
              <p:tags r:id="rId9"/>
            </p:custDataLst>
          </p:nvPr>
        </p:nvGrpSpPr>
        <p:grpSpPr>
          <a:xfrm rot="0">
            <a:off x="15424038" y="1885950"/>
            <a:ext cx="1151985" cy="1151985"/>
            <a:chOff x="0" y="0"/>
            <a:chExt cx="1535980" cy="1535980"/>
          </a:xfrm>
        </p:grpSpPr>
        <p:sp>
          <p:nvSpPr>
            <p:cNvPr id="11" name="Freeform 11"/>
            <p:cNvSpPr/>
            <p:nvPr>
              <p:custDataLst>
                <p:tags r:id="rId10"/>
              </p:custDataLst>
            </p:nvPr>
          </p:nvSpPr>
          <p:spPr>
            <a:xfrm>
              <a:off x="0" y="0"/>
              <a:ext cx="1535938" cy="1535938"/>
            </a:xfrm>
            <a:custGeom>
              <a:avLst/>
              <a:gdLst/>
              <a:ahLst/>
              <a:cxnLst/>
              <a:rect l="l" t="t" r="r" b="b"/>
              <a:pathLst>
                <a:path w="1535938" h="1535938">
                  <a:moveTo>
                    <a:pt x="0" y="0"/>
                  </a:moveTo>
                  <a:lnTo>
                    <a:pt x="1535938" y="0"/>
                  </a:lnTo>
                  <a:lnTo>
                    <a:pt x="1535938" y="1535938"/>
                  </a:lnTo>
                  <a:lnTo>
                    <a:pt x="0" y="1535938"/>
                  </a:lnTo>
                  <a:close/>
                </a:path>
              </a:pathLst>
            </a:custGeom>
            <a:solidFill>
              <a:srgbClr val="014924"/>
            </a:solidFill>
          </p:spPr>
        </p:sp>
      </p:grpSp>
      <p:sp>
        <p:nvSpPr>
          <p:cNvPr id="12" name="TextBox 12"/>
          <p:cNvSpPr txBox="1"/>
          <p:nvPr>
            <p:custDataLst>
              <p:tags r:id="rId11"/>
            </p:custDataLst>
          </p:nvPr>
        </p:nvSpPr>
        <p:spPr>
          <a:xfrm>
            <a:off x="15359186" y="2073669"/>
            <a:ext cx="1281690" cy="723900"/>
          </a:xfrm>
          <a:prstGeom prst="rect">
            <a:avLst/>
          </a:prstGeom>
        </p:spPr>
        <p:txBody>
          <a:bodyPr lIns="0" tIns="0" rIns="0" bIns="0" rtlCol="0" anchor="t">
            <a:spAutoFit/>
          </a:bodyPr>
          <a:lstStyle/>
          <a:p>
            <a:pPr algn="ctr">
              <a:lnSpc>
                <a:spcPts val="5760"/>
              </a:lnSpc>
            </a:pPr>
            <a:r>
              <a:rPr lang="en-US" sz="48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3</a:t>
            </a:r>
            <a:endParaRPr lang="en-US" sz="48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3" name="TextBox 13"/>
          <p:cNvSpPr txBox="1"/>
          <p:nvPr>
            <p:custDataLst>
              <p:tags r:id="rId12"/>
            </p:custDataLst>
          </p:nvPr>
        </p:nvSpPr>
        <p:spPr>
          <a:xfrm>
            <a:off x="7417226" y="3339630"/>
            <a:ext cx="2787160" cy="638175"/>
          </a:xfrm>
          <a:prstGeom prst="rect">
            <a:avLst/>
          </a:prstGeom>
        </p:spPr>
        <p:txBody>
          <a:bodyPr lIns="0" tIns="0" rIns="0" bIns="0" rtlCol="0" anchor="t">
            <a:spAutoFit/>
          </a:bodyPr>
          <a:lstStyle/>
          <a:p>
            <a:pPr algn="l">
              <a:lnSpc>
                <a:spcPts val="5040"/>
              </a:lnSpc>
            </a:pPr>
            <a:r>
              <a:rPr lang="en-US" sz="42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背景和动机</a:t>
            </a:r>
            <a:endParaRPr lang="en-US" sz="42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4" name="TextBox 14"/>
          <p:cNvSpPr txBox="1"/>
          <p:nvPr>
            <p:custDataLst>
              <p:tags r:id="rId13"/>
            </p:custDataLst>
          </p:nvPr>
        </p:nvSpPr>
        <p:spPr>
          <a:xfrm>
            <a:off x="7196015" y="4156977"/>
            <a:ext cx="3268062" cy="228600"/>
          </a:xfrm>
          <a:prstGeom prst="rect">
            <a:avLst/>
          </a:prstGeom>
        </p:spPr>
        <p:txBody>
          <a:bodyPr lIns="0" tIns="0" rIns="0" bIns="0" rtlCol="0" anchor="t">
            <a:spAutoFit/>
          </a:bodyPr>
          <a:lstStyle/>
          <a:p>
            <a:pPr algn="ctr">
              <a:lnSpc>
                <a:spcPts val="1890"/>
              </a:lnSpc>
            </a:pPr>
            <a:r>
              <a:rPr lang="en-US" sz="1575">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BACKGROUNDS &amp; MOTIVATION</a:t>
            </a:r>
            <a:endParaRPr lang="en-US" sz="1575">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5" name="TextBox 15"/>
          <p:cNvSpPr txBox="1"/>
          <p:nvPr>
            <p:custDataLst>
              <p:tags r:id="rId14"/>
            </p:custDataLst>
          </p:nvPr>
        </p:nvSpPr>
        <p:spPr>
          <a:xfrm>
            <a:off x="11321322" y="3345043"/>
            <a:ext cx="2248550" cy="638175"/>
          </a:xfrm>
          <a:prstGeom prst="rect">
            <a:avLst/>
          </a:prstGeom>
        </p:spPr>
        <p:txBody>
          <a:bodyPr lIns="0" tIns="0" rIns="0" bIns="0" rtlCol="0" anchor="t">
            <a:spAutoFit/>
          </a:bodyPr>
          <a:lstStyle/>
          <a:p>
            <a:pPr algn="l">
              <a:lnSpc>
                <a:spcPts val="5040"/>
              </a:lnSpc>
            </a:pPr>
            <a:r>
              <a:rPr lang="en-US" sz="42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项目介绍</a:t>
            </a:r>
            <a:endParaRPr lang="en-US" sz="42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6" name="TextBox 16"/>
          <p:cNvSpPr txBox="1"/>
          <p:nvPr>
            <p:custDataLst>
              <p:tags r:id="rId15"/>
            </p:custDataLst>
          </p:nvPr>
        </p:nvSpPr>
        <p:spPr>
          <a:xfrm>
            <a:off x="11150606" y="4160518"/>
            <a:ext cx="2589992" cy="228600"/>
          </a:xfrm>
          <a:prstGeom prst="rect">
            <a:avLst/>
          </a:prstGeom>
        </p:spPr>
        <p:txBody>
          <a:bodyPr lIns="0" tIns="0" rIns="0" bIns="0" rtlCol="0" anchor="t">
            <a:spAutoFit/>
          </a:bodyPr>
          <a:lstStyle/>
          <a:p>
            <a:pPr algn="ctr">
              <a:lnSpc>
                <a:spcPts val="1890"/>
              </a:lnSpc>
            </a:pPr>
            <a:r>
              <a:rPr lang="en-US" sz="1575">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PROJECT INTRODUCTION</a:t>
            </a:r>
            <a:endParaRPr lang="en-US" sz="1575">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7" name="TextBox 17"/>
          <p:cNvSpPr txBox="1"/>
          <p:nvPr>
            <p:custDataLst>
              <p:tags r:id="rId16"/>
            </p:custDataLst>
          </p:nvPr>
        </p:nvSpPr>
        <p:spPr>
          <a:xfrm>
            <a:off x="14881572" y="3313585"/>
            <a:ext cx="2248550" cy="638175"/>
          </a:xfrm>
          <a:prstGeom prst="rect">
            <a:avLst/>
          </a:prstGeom>
        </p:spPr>
        <p:txBody>
          <a:bodyPr lIns="0" tIns="0" rIns="0" bIns="0" rtlCol="0" anchor="t">
            <a:spAutoFit/>
          </a:bodyPr>
          <a:lstStyle/>
          <a:p>
            <a:pPr algn="l">
              <a:lnSpc>
                <a:spcPts val="5040"/>
              </a:lnSpc>
            </a:pPr>
            <a:r>
              <a:rPr lang="en-US" sz="42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总体架构</a:t>
            </a:r>
            <a:endParaRPr lang="en-US" sz="42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8" name="TextBox 18"/>
          <p:cNvSpPr txBox="1"/>
          <p:nvPr>
            <p:custDataLst>
              <p:tags r:id="rId17"/>
            </p:custDataLst>
          </p:nvPr>
        </p:nvSpPr>
        <p:spPr>
          <a:xfrm>
            <a:off x="14729079" y="4149502"/>
            <a:ext cx="2541901" cy="228600"/>
          </a:xfrm>
          <a:prstGeom prst="rect">
            <a:avLst/>
          </a:prstGeom>
        </p:spPr>
        <p:txBody>
          <a:bodyPr lIns="0" tIns="0" rIns="0" bIns="0" rtlCol="0" anchor="t">
            <a:spAutoFit/>
          </a:bodyPr>
          <a:lstStyle/>
          <a:p>
            <a:pPr algn="ctr">
              <a:lnSpc>
                <a:spcPts val="1890"/>
              </a:lnSpc>
            </a:pPr>
            <a:r>
              <a:rPr lang="en-US" sz="1575">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OVERALL ARCHITECTURE</a:t>
            </a:r>
            <a:endParaRPr lang="en-US" sz="1575">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9" name="AutoShape 19"/>
          <p:cNvSpPr/>
          <p:nvPr>
            <p:custDataLst>
              <p:tags r:id="rId18"/>
            </p:custDataLst>
          </p:nvPr>
        </p:nvSpPr>
        <p:spPr>
          <a:xfrm rot="21924">
            <a:off x="2568954" y="6897168"/>
            <a:ext cx="11948287" cy="0"/>
          </a:xfrm>
          <a:prstGeom prst="line">
            <a:avLst/>
          </a:prstGeom>
          <a:ln w="38100" cap="rnd">
            <a:solidFill>
              <a:srgbClr val="FFFFFF"/>
            </a:solidFill>
            <a:prstDash val="solid"/>
            <a:headEnd type="none" w="sm" len="sm"/>
            <a:tailEnd type="none" w="sm" len="sm"/>
          </a:ln>
        </p:spPr>
      </p:sp>
      <p:grpSp>
        <p:nvGrpSpPr>
          <p:cNvPr id="20" name="Group 20"/>
          <p:cNvGrpSpPr/>
          <p:nvPr>
            <p:custDataLst>
              <p:tags r:id="rId19"/>
            </p:custDataLst>
          </p:nvPr>
        </p:nvGrpSpPr>
        <p:grpSpPr>
          <a:xfrm rot="0">
            <a:off x="4374002" y="6372225"/>
            <a:ext cx="1151985" cy="1151985"/>
            <a:chOff x="0" y="0"/>
            <a:chExt cx="1535980" cy="1535980"/>
          </a:xfrm>
        </p:grpSpPr>
        <p:sp>
          <p:nvSpPr>
            <p:cNvPr id="21" name="Freeform 21"/>
            <p:cNvSpPr/>
            <p:nvPr>
              <p:custDataLst>
                <p:tags r:id="rId20"/>
              </p:custDataLst>
            </p:nvPr>
          </p:nvSpPr>
          <p:spPr>
            <a:xfrm>
              <a:off x="0" y="0"/>
              <a:ext cx="1535938" cy="1535938"/>
            </a:xfrm>
            <a:custGeom>
              <a:avLst/>
              <a:gdLst/>
              <a:ahLst/>
              <a:cxnLst/>
              <a:rect l="l" t="t" r="r" b="b"/>
              <a:pathLst>
                <a:path w="1535938" h="1535938">
                  <a:moveTo>
                    <a:pt x="0" y="0"/>
                  </a:moveTo>
                  <a:lnTo>
                    <a:pt x="1535938" y="0"/>
                  </a:lnTo>
                  <a:lnTo>
                    <a:pt x="1535938" y="1535938"/>
                  </a:lnTo>
                  <a:lnTo>
                    <a:pt x="0" y="1535938"/>
                  </a:lnTo>
                  <a:close/>
                </a:path>
              </a:pathLst>
            </a:custGeom>
            <a:solidFill>
              <a:srgbClr val="014924"/>
            </a:solidFill>
          </p:spPr>
        </p:sp>
      </p:grpSp>
      <p:sp>
        <p:nvSpPr>
          <p:cNvPr id="22" name="TextBox 22"/>
          <p:cNvSpPr txBox="1"/>
          <p:nvPr>
            <p:custDataLst>
              <p:tags r:id="rId21"/>
            </p:custDataLst>
          </p:nvPr>
        </p:nvSpPr>
        <p:spPr>
          <a:xfrm>
            <a:off x="4309149" y="6559944"/>
            <a:ext cx="1281690" cy="723900"/>
          </a:xfrm>
          <a:prstGeom prst="rect">
            <a:avLst/>
          </a:prstGeom>
        </p:spPr>
        <p:txBody>
          <a:bodyPr lIns="0" tIns="0" rIns="0" bIns="0" rtlCol="0" anchor="t">
            <a:spAutoFit/>
          </a:bodyPr>
          <a:lstStyle/>
          <a:p>
            <a:pPr algn="ctr">
              <a:lnSpc>
                <a:spcPts val="5760"/>
              </a:lnSpc>
            </a:pPr>
            <a:r>
              <a:rPr lang="en-US" sz="48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4</a:t>
            </a:r>
            <a:endParaRPr lang="en-US" sz="48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nvGrpSpPr>
          <p:cNvPr id="23" name="Group 23"/>
          <p:cNvGrpSpPr/>
          <p:nvPr>
            <p:custDataLst>
              <p:tags r:id="rId22"/>
            </p:custDataLst>
          </p:nvPr>
        </p:nvGrpSpPr>
        <p:grpSpPr>
          <a:xfrm rot="0">
            <a:off x="7909956" y="6372225"/>
            <a:ext cx="1151985" cy="1151985"/>
            <a:chOff x="0" y="0"/>
            <a:chExt cx="1535980" cy="1535980"/>
          </a:xfrm>
        </p:grpSpPr>
        <p:sp>
          <p:nvSpPr>
            <p:cNvPr id="24" name="Freeform 24"/>
            <p:cNvSpPr/>
            <p:nvPr>
              <p:custDataLst>
                <p:tags r:id="rId23"/>
              </p:custDataLst>
            </p:nvPr>
          </p:nvSpPr>
          <p:spPr>
            <a:xfrm>
              <a:off x="0" y="0"/>
              <a:ext cx="1535938" cy="1535938"/>
            </a:xfrm>
            <a:custGeom>
              <a:avLst/>
              <a:gdLst/>
              <a:ahLst/>
              <a:cxnLst/>
              <a:rect l="l" t="t" r="r" b="b"/>
              <a:pathLst>
                <a:path w="1535938" h="1535938">
                  <a:moveTo>
                    <a:pt x="0" y="0"/>
                  </a:moveTo>
                  <a:lnTo>
                    <a:pt x="1535938" y="0"/>
                  </a:lnTo>
                  <a:lnTo>
                    <a:pt x="1535938" y="1535938"/>
                  </a:lnTo>
                  <a:lnTo>
                    <a:pt x="0" y="1535938"/>
                  </a:lnTo>
                  <a:close/>
                </a:path>
              </a:pathLst>
            </a:custGeom>
            <a:solidFill>
              <a:srgbClr val="014924"/>
            </a:solidFill>
          </p:spPr>
        </p:sp>
      </p:grpSp>
      <p:sp>
        <p:nvSpPr>
          <p:cNvPr id="25" name="TextBox 25"/>
          <p:cNvSpPr txBox="1"/>
          <p:nvPr>
            <p:custDataLst>
              <p:tags r:id="rId24"/>
            </p:custDataLst>
          </p:nvPr>
        </p:nvSpPr>
        <p:spPr>
          <a:xfrm>
            <a:off x="7877103" y="6559944"/>
            <a:ext cx="1281690" cy="723900"/>
          </a:xfrm>
          <a:prstGeom prst="rect">
            <a:avLst/>
          </a:prstGeom>
        </p:spPr>
        <p:txBody>
          <a:bodyPr lIns="0" tIns="0" rIns="0" bIns="0" rtlCol="0" anchor="t">
            <a:spAutoFit/>
          </a:bodyPr>
          <a:lstStyle/>
          <a:p>
            <a:pPr algn="ctr">
              <a:lnSpc>
                <a:spcPts val="5760"/>
              </a:lnSpc>
            </a:pPr>
            <a:r>
              <a:rPr lang="en-US" sz="48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5</a:t>
            </a:r>
            <a:endParaRPr lang="en-US" sz="48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nvGrpSpPr>
          <p:cNvPr id="26" name="Group 26"/>
          <p:cNvGrpSpPr/>
          <p:nvPr>
            <p:custDataLst>
              <p:tags r:id="rId25"/>
            </p:custDataLst>
          </p:nvPr>
        </p:nvGrpSpPr>
        <p:grpSpPr>
          <a:xfrm rot="0">
            <a:off x="11557908" y="6372225"/>
            <a:ext cx="1151985" cy="1151985"/>
            <a:chOff x="0" y="0"/>
            <a:chExt cx="1535980" cy="1535980"/>
          </a:xfrm>
        </p:grpSpPr>
        <p:sp>
          <p:nvSpPr>
            <p:cNvPr id="27" name="Freeform 27"/>
            <p:cNvSpPr/>
            <p:nvPr>
              <p:custDataLst>
                <p:tags r:id="rId26"/>
              </p:custDataLst>
            </p:nvPr>
          </p:nvSpPr>
          <p:spPr>
            <a:xfrm>
              <a:off x="0" y="0"/>
              <a:ext cx="1535938" cy="1535938"/>
            </a:xfrm>
            <a:custGeom>
              <a:avLst/>
              <a:gdLst/>
              <a:ahLst/>
              <a:cxnLst/>
              <a:rect l="l" t="t" r="r" b="b"/>
              <a:pathLst>
                <a:path w="1535938" h="1535938">
                  <a:moveTo>
                    <a:pt x="0" y="0"/>
                  </a:moveTo>
                  <a:lnTo>
                    <a:pt x="1535938" y="0"/>
                  </a:lnTo>
                  <a:lnTo>
                    <a:pt x="1535938" y="1535938"/>
                  </a:lnTo>
                  <a:lnTo>
                    <a:pt x="0" y="1535938"/>
                  </a:lnTo>
                  <a:close/>
                </a:path>
              </a:pathLst>
            </a:custGeom>
            <a:solidFill>
              <a:srgbClr val="014924"/>
            </a:solidFill>
          </p:spPr>
        </p:sp>
      </p:grpSp>
      <p:sp>
        <p:nvSpPr>
          <p:cNvPr id="28" name="TextBox 28"/>
          <p:cNvSpPr txBox="1"/>
          <p:nvPr>
            <p:custDataLst>
              <p:tags r:id="rId27"/>
            </p:custDataLst>
          </p:nvPr>
        </p:nvSpPr>
        <p:spPr>
          <a:xfrm>
            <a:off x="11493055" y="6559944"/>
            <a:ext cx="1281690" cy="723900"/>
          </a:xfrm>
          <a:prstGeom prst="rect">
            <a:avLst/>
          </a:prstGeom>
        </p:spPr>
        <p:txBody>
          <a:bodyPr lIns="0" tIns="0" rIns="0" bIns="0" rtlCol="0" anchor="t">
            <a:spAutoFit/>
          </a:bodyPr>
          <a:lstStyle/>
          <a:p>
            <a:pPr algn="ctr">
              <a:lnSpc>
                <a:spcPts val="5760"/>
              </a:lnSpc>
            </a:pPr>
            <a:r>
              <a:rPr lang="en-US" sz="48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6</a:t>
            </a:r>
            <a:endParaRPr lang="en-US" sz="48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nvGrpSpPr>
          <p:cNvPr id="29" name="Group 29"/>
          <p:cNvGrpSpPr/>
          <p:nvPr/>
        </p:nvGrpSpPr>
        <p:grpSpPr>
          <a:xfrm rot="5400000">
            <a:off x="-3917487" y="3917486"/>
            <a:ext cx="10287002" cy="2452033"/>
            <a:chOff x="0" y="0"/>
            <a:chExt cx="13716002" cy="3269378"/>
          </a:xfrm>
        </p:grpSpPr>
        <p:sp>
          <p:nvSpPr>
            <p:cNvPr id="30" name="Freeform 30"/>
            <p:cNvSpPr/>
            <p:nvPr/>
          </p:nvSpPr>
          <p:spPr>
            <a:xfrm>
              <a:off x="0" y="0"/>
              <a:ext cx="13716000" cy="3269361"/>
            </a:xfrm>
            <a:custGeom>
              <a:avLst/>
              <a:gdLst/>
              <a:ahLst/>
              <a:cxnLst/>
              <a:rect l="l" t="t" r="r" b="b"/>
              <a:pathLst>
                <a:path w="13716000" h="3269361">
                  <a:moveTo>
                    <a:pt x="0" y="0"/>
                  </a:moveTo>
                  <a:lnTo>
                    <a:pt x="13716000" y="0"/>
                  </a:lnTo>
                  <a:lnTo>
                    <a:pt x="13716000" y="3269361"/>
                  </a:lnTo>
                  <a:lnTo>
                    <a:pt x="0" y="3269361"/>
                  </a:lnTo>
                  <a:close/>
                </a:path>
              </a:pathLst>
            </a:custGeom>
            <a:solidFill>
              <a:srgbClr val="014924"/>
            </a:solidFill>
          </p:spPr>
        </p:sp>
      </p:grpSp>
      <p:grpSp>
        <p:nvGrpSpPr>
          <p:cNvPr id="31" name="Group 31"/>
          <p:cNvGrpSpPr/>
          <p:nvPr>
            <p:custDataLst>
              <p:tags r:id="rId28"/>
            </p:custDataLst>
          </p:nvPr>
        </p:nvGrpSpPr>
        <p:grpSpPr>
          <a:xfrm rot="5400000">
            <a:off x="-2494844" y="5085672"/>
            <a:ext cx="10287002" cy="115662"/>
            <a:chOff x="0" y="0"/>
            <a:chExt cx="13716002" cy="154216"/>
          </a:xfrm>
        </p:grpSpPr>
        <p:sp>
          <p:nvSpPr>
            <p:cNvPr id="32" name="Freeform 32"/>
            <p:cNvSpPr/>
            <p:nvPr>
              <p:custDataLst>
                <p:tags r:id="rId29"/>
              </p:custDataLst>
            </p:nvPr>
          </p:nvSpPr>
          <p:spPr>
            <a:xfrm>
              <a:off x="0" y="0"/>
              <a:ext cx="13716000" cy="154178"/>
            </a:xfrm>
            <a:custGeom>
              <a:avLst/>
              <a:gdLst/>
              <a:ahLst/>
              <a:cxnLst/>
              <a:rect l="l" t="t" r="r" b="b"/>
              <a:pathLst>
                <a:path w="13716000" h="154178">
                  <a:moveTo>
                    <a:pt x="0" y="0"/>
                  </a:moveTo>
                  <a:lnTo>
                    <a:pt x="13716000" y="0"/>
                  </a:lnTo>
                  <a:lnTo>
                    <a:pt x="13716000" y="154178"/>
                  </a:lnTo>
                  <a:lnTo>
                    <a:pt x="0" y="154178"/>
                  </a:lnTo>
                  <a:close/>
                </a:path>
              </a:pathLst>
            </a:custGeom>
            <a:solidFill>
              <a:srgbClr val="014924"/>
            </a:solidFill>
          </p:spPr>
        </p:sp>
      </p:grpSp>
      <p:sp>
        <p:nvSpPr>
          <p:cNvPr id="33" name="TextBox 33"/>
          <p:cNvSpPr txBox="1"/>
          <p:nvPr>
            <p:custDataLst>
              <p:tags r:id="rId30"/>
            </p:custDataLst>
          </p:nvPr>
        </p:nvSpPr>
        <p:spPr>
          <a:xfrm>
            <a:off x="11057088" y="7845842"/>
            <a:ext cx="2248550" cy="638175"/>
          </a:xfrm>
          <a:prstGeom prst="rect">
            <a:avLst/>
          </a:prstGeom>
        </p:spPr>
        <p:txBody>
          <a:bodyPr lIns="0" tIns="0" rIns="0" bIns="0" rtlCol="0" anchor="t">
            <a:spAutoFit/>
          </a:bodyPr>
          <a:lstStyle/>
          <a:p>
            <a:pPr algn="l">
              <a:lnSpc>
                <a:spcPts val="5040"/>
              </a:lnSpc>
            </a:pPr>
            <a:r>
              <a:rPr lang="en-US" sz="42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总结展望</a:t>
            </a:r>
            <a:endParaRPr lang="en-US" sz="42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34" name="TextBox 34"/>
          <p:cNvSpPr txBox="1"/>
          <p:nvPr>
            <p:custDataLst>
              <p:tags r:id="rId31"/>
            </p:custDataLst>
          </p:nvPr>
        </p:nvSpPr>
        <p:spPr>
          <a:xfrm>
            <a:off x="10838015" y="8651777"/>
            <a:ext cx="2731857" cy="228600"/>
          </a:xfrm>
          <a:prstGeom prst="rect">
            <a:avLst/>
          </a:prstGeom>
        </p:spPr>
        <p:txBody>
          <a:bodyPr lIns="0" tIns="0" rIns="0" bIns="0" rtlCol="0" anchor="t">
            <a:spAutoFit/>
          </a:bodyPr>
          <a:lstStyle/>
          <a:p>
            <a:pPr algn="ctr">
              <a:lnSpc>
                <a:spcPts val="1890"/>
              </a:lnSpc>
            </a:pPr>
            <a:r>
              <a:rPr lang="en-US" sz="1575">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CONCLUSION &amp; OUTLOOK</a:t>
            </a:r>
            <a:endParaRPr lang="en-US" sz="1575">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35" name="TextBox 35"/>
          <p:cNvSpPr txBox="1"/>
          <p:nvPr>
            <p:custDataLst>
              <p:tags r:id="rId32"/>
            </p:custDataLst>
          </p:nvPr>
        </p:nvSpPr>
        <p:spPr>
          <a:xfrm>
            <a:off x="3537560" y="7886126"/>
            <a:ext cx="2866510" cy="638175"/>
          </a:xfrm>
          <a:prstGeom prst="rect">
            <a:avLst/>
          </a:prstGeom>
        </p:spPr>
        <p:txBody>
          <a:bodyPr lIns="0" tIns="0" rIns="0" bIns="0" rtlCol="0" anchor="t">
            <a:spAutoFit/>
          </a:bodyPr>
          <a:lstStyle/>
          <a:p>
            <a:pPr algn="l">
              <a:lnSpc>
                <a:spcPts val="5040"/>
              </a:lnSpc>
            </a:pPr>
            <a:r>
              <a:rPr lang="en-US" sz="42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设计与实现</a:t>
            </a:r>
            <a:endParaRPr lang="en-US" sz="42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36" name="TextBox 36"/>
          <p:cNvSpPr txBox="1"/>
          <p:nvPr>
            <p:custDataLst>
              <p:tags r:id="rId33"/>
            </p:custDataLst>
          </p:nvPr>
        </p:nvSpPr>
        <p:spPr>
          <a:xfrm>
            <a:off x="3558912" y="8645459"/>
            <a:ext cx="2967498" cy="228600"/>
          </a:xfrm>
          <a:prstGeom prst="rect">
            <a:avLst/>
          </a:prstGeom>
        </p:spPr>
        <p:txBody>
          <a:bodyPr lIns="0" tIns="0" rIns="0" bIns="0" rtlCol="0" anchor="t">
            <a:spAutoFit/>
          </a:bodyPr>
          <a:lstStyle/>
          <a:p>
            <a:pPr algn="ctr">
              <a:lnSpc>
                <a:spcPts val="1890"/>
              </a:lnSpc>
            </a:pPr>
            <a:r>
              <a:rPr lang="en-US" sz="1575">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DESIGN &amp; IMPLEMENTATION</a:t>
            </a:r>
            <a:endParaRPr lang="en-US" sz="1575">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37" name="TextBox 37"/>
          <p:cNvSpPr txBox="1"/>
          <p:nvPr>
            <p:custDataLst>
              <p:tags r:id="rId34"/>
            </p:custDataLst>
          </p:nvPr>
        </p:nvSpPr>
        <p:spPr>
          <a:xfrm>
            <a:off x="7393673" y="7845842"/>
            <a:ext cx="2248550" cy="638175"/>
          </a:xfrm>
          <a:prstGeom prst="rect">
            <a:avLst/>
          </a:prstGeom>
        </p:spPr>
        <p:txBody>
          <a:bodyPr lIns="0" tIns="0" rIns="0" bIns="0" rtlCol="0" anchor="t">
            <a:spAutoFit/>
          </a:bodyPr>
          <a:lstStyle/>
          <a:p>
            <a:pPr algn="l">
              <a:lnSpc>
                <a:spcPts val="5040"/>
              </a:lnSpc>
            </a:pPr>
            <a:r>
              <a:rPr lang="en-US" sz="42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项目测试</a:t>
            </a:r>
            <a:endParaRPr lang="en-US" sz="42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38" name="TextBox 38"/>
          <p:cNvSpPr txBox="1"/>
          <p:nvPr>
            <p:custDataLst>
              <p:tags r:id="rId35"/>
            </p:custDataLst>
          </p:nvPr>
        </p:nvSpPr>
        <p:spPr>
          <a:xfrm>
            <a:off x="7583292" y="8622865"/>
            <a:ext cx="1842190" cy="228600"/>
          </a:xfrm>
          <a:prstGeom prst="rect">
            <a:avLst/>
          </a:prstGeom>
        </p:spPr>
        <p:txBody>
          <a:bodyPr lIns="0" tIns="0" rIns="0" bIns="0" rtlCol="0" anchor="t">
            <a:spAutoFit/>
          </a:bodyPr>
          <a:lstStyle/>
          <a:p>
            <a:pPr algn="ctr">
              <a:lnSpc>
                <a:spcPts val="1890"/>
              </a:lnSpc>
            </a:pPr>
            <a:r>
              <a:rPr lang="en-US" sz="1575">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PROJECT TESTING</a:t>
            </a:r>
            <a:endParaRPr lang="en-US" sz="1575">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39" name="TextBox 39"/>
          <p:cNvSpPr txBox="1"/>
          <p:nvPr/>
        </p:nvSpPr>
        <p:spPr>
          <a:xfrm rot="5400000">
            <a:off x="385770" y="1026202"/>
            <a:ext cx="2546940" cy="1238250"/>
          </a:xfrm>
          <a:prstGeom prst="rect">
            <a:avLst/>
          </a:prstGeom>
        </p:spPr>
        <p:txBody>
          <a:bodyPr lIns="0" tIns="0" rIns="0" bIns="0" rtlCol="0" anchor="t">
            <a:spAutoFit/>
          </a:bodyPr>
          <a:lstStyle/>
          <a:p>
            <a:pPr algn="just">
              <a:lnSpc>
                <a:spcPts val="9720"/>
              </a:lnSpc>
            </a:pPr>
            <a:r>
              <a:rPr lang="en-US" sz="81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目录</a:t>
            </a:r>
            <a:endParaRPr lang="en-US" sz="81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nvGrpSpPr>
          <p:cNvPr id="40" name="Group 40"/>
          <p:cNvGrpSpPr>
            <a:grpSpLocks noChangeAspect="1"/>
          </p:cNvGrpSpPr>
          <p:nvPr>
            <p:custDataLst>
              <p:tags r:id="rId36"/>
            </p:custDataLst>
          </p:nvPr>
        </p:nvGrpSpPr>
        <p:grpSpPr>
          <a:xfrm rot="0">
            <a:off x="14723000" y="203883"/>
            <a:ext cx="3565001" cy="1101770"/>
            <a:chOff x="0" y="0"/>
            <a:chExt cx="4753334" cy="1469026"/>
          </a:xfrm>
        </p:grpSpPr>
        <p:sp>
          <p:nvSpPr>
            <p:cNvPr id="41" name="Freeform 41"/>
            <p:cNvSpPr/>
            <p:nvPr>
              <p:custDataLst>
                <p:tags r:id="rId37"/>
              </p:custDataLst>
            </p:nvPr>
          </p:nvSpPr>
          <p:spPr>
            <a:xfrm>
              <a:off x="0" y="0"/>
              <a:ext cx="4753356" cy="1469009"/>
            </a:xfrm>
            <a:custGeom>
              <a:avLst/>
              <a:gdLst/>
              <a:ahLst/>
              <a:cxnLst/>
              <a:rect l="l" t="t" r="r" b="b"/>
              <a:pathLst>
                <a:path w="4753356" h="1469009">
                  <a:moveTo>
                    <a:pt x="0" y="0"/>
                  </a:moveTo>
                  <a:lnTo>
                    <a:pt x="4753356" y="0"/>
                  </a:lnTo>
                  <a:lnTo>
                    <a:pt x="4753356" y="1469009"/>
                  </a:lnTo>
                  <a:lnTo>
                    <a:pt x="0" y="1469009"/>
                  </a:lnTo>
                  <a:lnTo>
                    <a:pt x="0" y="0"/>
                  </a:lnTo>
                  <a:close/>
                </a:path>
              </a:pathLst>
            </a:custGeom>
            <a:blipFill>
              <a:blip r:embed="rId38"/>
              <a:stretch>
                <a:fillRect t="-34825" b="-13078"/>
              </a:stretch>
            </a:blipFill>
          </p:spPr>
        </p:sp>
      </p:grpSp>
      <p:grpSp>
        <p:nvGrpSpPr>
          <p:cNvPr id="42" name="Group 42"/>
          <p:cNvGrpSpPr>
            <a:grpSpLocks noChangeAspect="1"/>
          </p:cNvGrpSpPr>
          <p:nvPr>
            <p:custDataLst>
              <p:tags r:id="rId39"/>
            </p:custDataLst>
          </p:nvPr>
        </p:nvGrpSpPr>
        <p:grpSpPr>
          <a:xfrm rot="0">
            <a:off x="11132865" y="317882"/>
            <a:ext cx="3466641" cy="765282"/>
            <a:chOff x="0" y="0"/>
            <a:chExt cx="4622188" cy="1020376"/>
          </a:xfrm>
        </p:grpSpPr>
        <p:sp>
          <p:nvSpPr>
            <p:cNvPr id="43" name="Freeform 43"/>
            <p:cNvSpPr/>
            <p:nvPr>
              <p:custDataLst>
                <p:tags r:id="rId40"/>
              </p:custDataLst>
            </p:nvPr>
          </p:nvSpPr>
          <p:spPr>
            <a:xfrm>
              <a:off x="0" y="0"/>
              <a:ext cx="4622165" cy="1020318"/>
            </a:xfrm>
            <a:custGeom>
              <a:avLst/>
              <a:gdLst/>
              <a:ahLst/>
              <a:cxnLst/>
              <a:rect l="l" t="t" r="r" b="b"/>
              <a:pathLst>
                <a:path w="4622165" h="1020318">
                  <a:moveTo>
                    <a:pt x="0" y="0"/>
                  </a:moveTo>
                  <a:lnTo>
                    <a:pt x="4622165" y="0"/>
                  </a:lnTo>
                  <a:lnTo>
                    <a:pt x="4622165" y="1020318"/>
                  </a:lnTo>
                  <a:lnTo>
                    <a:pt x="0" y="1020318"/>
                  </a:lnTo>
                  <a:lnTo>
                    <a:pt x="0" y="0"/>
                  </a:lnTo>
                  <a:close/>
                </a:path>
              </a:pathLst>
            </a:custGeom>
            <a:blipFill>
              <a:blip r:embed="rId41"/>
              <a:stretch>
                <a:fillRect b="-5"/>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9481764" y="4029974"/>
            <a:ext cx="8806236" cy="2313674"/>
            <a:chOff x="0" y="0"/>
            <a:chExt cx="11741648" cy="3084898"/>
          </a:xfrm>
        </p:grpSpPr>
        <p:sp>
          <p:nvSpPr>
            <p:cNvPr id="4" name="Freeform 4"/>
            <p:cNvSpPr/>
            <p:nvPr/>
          </p:nvSpPr>
          <p:spPr>
            <a:xfrm>
              <a:off x="0" y="0"/>
              <a:ext cx="11741658" cy="3084957"/>
            </a:xfrm>
            <a:custGeom>
              <a:avLst/>
              <a:gdLst/>
              <a:ahLst/>
              <a:cxnLst/>
              <a:rect l="l" t="t" r="r" b="b"/>
              <a:pathLst>
                <a:path w="11741658" h="3084957">
                  <a:moveTo>
                    <a:pt x="0" y="0"/>
                  </a:moveTo>
                  <a:lnTo>
                    <a:pt x="11741658" y="0"/>
                  </a:lnTo>
                  <a:lnTo>
                    <a:pt x="11741658" y="3084957"/>
                  </a:lnTo>
                  <a:lnTo>
                    <a:pt x="0" y="3084957"/>
                  </a:lnTo>
                  <a:lnTo>
                    <a:pt x="0" y="0"/>
                  </a:lnTo>
                  <a:close/>
                </a:path>
              </a:pathLst>
            </a:custGeom>
            <a:blipFill>
              <a:blip r:embed="rId2"/>
              <a:stretch>
                <a:fillRect t="-74003" r="-17268" b="-160884"/>
              </a:stretch>
            </a:blipFill>
          </p:spPr>
        </p:sp>
      </p:grpSp>
      <p:grpSp>
        <p:nvGrpSpPr>
          <p:cNvPr id="5" name="Group 5"/>
          <p:cNvGrpSpPr/>
          <p:nvPr/>
        </p:nvGrpSpPr>
        <p:grpSpPr>
          <a:xfrm rot="0">
            <a:off x="4286250" y="4029075"/>
            <a:ext cx="14001750" cy="2314573"/>
            <a:chOff x="0" y="0"/>
            <a:chExt cx="18669000" cy="3086098"/>
          </a:xfrm>
        </p:grpSpPr>
        <p:sp>
          <p:nvSpPr>
            <p:cNvPr id="6" name="Freeform 6"/>
            <p:cNvSpPr/>
            <p:nvPr/>
          </p:nvSpPr>
          <p:spPr>
            <a:xfrm>
              <a:off x="0" y="0"/>
              <a:ext cx="18669000" cy="3086100"/>
            </a:xfrm>
            <a:custGeom>
              <a:avLst/>
              <a:gdLst/>
              <a:ahLst/>
              <a:cxnLst/>
              <a:rect l="l" t="t" r="r" b="b"/>
              <a:pathLst>
                <a:path w="18669000" h="3086100">
                  <a:moveTo>
                    <a:pt x="0" y="0"/>
                  </a:moveTo>
                  <a:lnTo>
                    <a:pt x="18669000" y="0"/>
                  </a:lnTo>
                  <a:lnTo>
                    <a:pt x="18669000" y="3086100"/>
                  </a:lnTo>
                  <a:lnTo>
                    <a:pt x="0" y="3086100"/>
                  </a:lnTo>
                  <a:close/>
                </a:path>
              </a:pathLst>
            </a:custGeom>
            <a:gradFill rotWithShape="1">
              <a:gsLst>
                <a:gs pos="0">
                  <a:srgbClr val="014924">
                    <a:alpha val="100000"/>
                  </a:srgbClr>
                </a:gs>
                <a:gs pos="35000">
                  <a:srgbClr val="014924">
                    <a:alpha val="100000"/>
                  </a:srgbClr>
                </a:gs>
                <a:gs pos="59000">
                  <a:srgbClr val="014924">
                    <a:alpha val="95000"/>
                  </a:srgbClr>
                </a:gs>
                <a:gs pos="77000">
                  <a:srgbClr val="014924">
                    <a:alpha val="70000"/>
                  </a:srgbClr>
                </a:gs>
                <a:gs pos="100000">
                  <a:srgbClr val="014924">
                    <a:alpha val="60000"/>
                  </a:srgbClr>
                </a:gs>
              </a:gsLst>
              <a:lin ang="0"/>
            </a:gradFill>
          </p:spPr>
        </p:sp>
      </p:grpSp>
      <p:grpSp>
        <p:nvGrpSpPr>
          <p:cNvPr id="7" name="Group 7"/>
          <p:cNvGrpSpPr/>
          <p:nvPr/>
        </p:nvGrpSpPr>
        <p:grpSpPr>
          <a:xfrm rot="0">
            <a:off x="1685925" y="4029075"/>
            <a:ext cx="2314575" cy="2314575"/>
            <a:chOff x="0" y="0"/>
            <a:chExt cx="3086100" cy="3086100"/>
          </a:xfrm>
        </p:grpSpPr>
        <p:sp>
          <p:nvSpPr>
            <p:cNvPr id="8" name="Freeform 8"/>
            <p:cNvSpPr/>
            <p:nvPr/>
          </p:nvSpPr>
          <p:spPr>
            <a:xfrm>
              <a:off x="0" y="0"/>
              <a:ext cx="3086100" cy="3086100"/>
            </a:xfrm>
            <a:custGeom>
              <a:avLst/>
              <a:gdLst/>
              <a:ahLst/>
              <a:cxnLst/>
              <a:rect l="l" t="t" r="r" b="b"/>
              <a:pathLst>
                <a:path w="3086100" h="3086100">
                  <a:moveTo>
                    <a:pt x="0" y="0"/>
                  </a:moveTo>
                  <a:lnTo>
                    <a:pt x="3086100" y="0"/>
                  </a:lnTo>
                  <a:lnTo>
                    <a:pt x="3086100" y="3086100"/>
                  </a:lnTo>
                  <a:lnTo>
                    <a:pt x="0" y="3086100"/>
                  </a:lnTo>
                  <a:close/>
                </a:path>
              </a:pathLst>
            </a:custGeom>
            <a:solidFill>
              <a:srgbClr val="549E39"/>
            </a:solidFill>
          </p:spPr>
        </p:sp>
      </p:grpSp>
      <p:sp>
        <p:nvSpPr>
          <p:cNvPr id="9" name="TextBox 9"/>
          <p:cNvSpPr txBox="1"/>
          <p:nvPr/>
        </p:nvSpPr>
        <p:spPr>
          <a:xfrm>
            <a:off x="2202368" y="4401086"/>
            <a:ext cx="1281690" cy="1504950"/>
          </a:xfrm>
          <a:prstGeom prst="rect">
            <a:avLst/>
          </a:prstGeom>
        </p:spPr>
        <p:txBody>
          <a:bodyPr lIns="0" tIns="0" rIns="0" bIns="0" rtlCol="0" anchor="t">
            <a:spAutoFit/>
          </a:bodyPr>
          <a:lstStyle/>
          <a:p>
            <a:pPr algn="ctr">
              <a:lnSpc>
                <a:spcPts val="11880"/>
              </a:lnSpc>
            </a:pPr>
            <a:r>
              <a:rPr lang="en-US" sz="99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1</a:t>
            </a:r>
            <a:endParaRPr lang="en-US" sz="99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0" name="TextBox 10"/>
          <p:cNvSpPr txBox="1"/>
          <p:nvPr/>
        </p:nvSpPr>
        <p:spPr>
          <a:xfrm>
            <a:off x="4516938" y="4519632"/>
            <a:ext cx="4710762" cy="1095375"/>
          </a:xfrm>
          <a:prstGeom prst="rect">
            <a:avLst/>
          </a:prstGeom>
        </p:spPr>
        <p:txBody>
          <a:bodyPr lIns="0" tIns="0" rIns="0" bIns="0" rtlCol="0" anchor="t">
            <a:spAutoFit/>
          </a:bodyPr>
          <a:lstStyle/>
          <a:p>
            <a:pPr algn="l">
              <a:lnSpc>
                <a:spcPts val="8640"/>
              </a:lnSpc>
            </a:pPr>
            <a:r>
              <a:rPr lang="en-US" sz="72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背景和动机</a:t>
            </a:r>
            <a:endParaRPr lang="en-US" sz="72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1" name="Group 11"/>
          <p:cNvGrpSpPr>
            <a:grpSpLocks noChangeAspect="1"/>
          </p:cNvGrpSpPr>
          <p:nvPr/>
        </p:nvGrpSpPr>
        <p:grpSpPr>
          <a:xfrm rot="0">
            <a:off x="14723000" y="203883"/>
            <a:ext cx="3565001" cy="1101770"/>
            <a:chOff x="0" y="0"/>
            <a:chExt cx="4753334" cy="1469026"/>
          </a:xfrm>
        </p:grpSpPr>
        <p:sp>
          <p:nvSpPr>
            <p:cNvPr id="12" name="Freeform 12"/>
            <p:cNvSpPr/>
            <p:nvPr/>
          </p:nvSpPr>
          <p:spPr>
            <a:xfrm>
              <a:off x="0" y="0"/>
              <a:ext cx="4753356" cy="1469009"/>
            </a:xfrm>
            <a:custGeom>
              <a:avLst/>
              <a:gdLst/>
              <a:ahLst/>
              <a:cxnLst/>
              <a:rect l="l" t="t" r="r" b="b"/>
              <a:pathLst>
                <a:path w="4753356" h="1469009">
                  <a:moveTo>
                    <a:pt x="0" y="0"/>
                  </a:moveTo>
                  <a:lnTo>
                    <a:pt x="4753356" y="0"/>
                  </a:lnTo>
                  <a:lnTo>
                    <a:pt x="4753356" y="1469009"/>
                  </a:lnTo>
                  <a:lnTo>
                    <a:pt x="0" y="1469009"/>
                  </a:lnTo>
                  <a:lnTo>
                    <a:pt x="0" y="0"/>
                  </a:lnTo>
                  <a:close/>
                </a:path>
              </a:pathLst>
            </a:custGeom>
            <a:blipFill>
              <a:blip r:embed="rId3"/>
              <a:stretch>
                <a:fillRect t="-34825" b="-13078"/>
              </a:stretch>
            </a:blipFill>
          </p:spPr>
        </p:sp>
      </p:grpSp>
      <p:sp>
        <p:nvSpPr>
          <p:cNvPr id="13" name="TextBox 13"/>
          <p:cNvSpPr txBox="1"/>
          <p:nvPr/>
        </p:nvSpPr>
        <p:spPr>
          <a:xfrm>
            <a:off x="4254567" y="5690235"/>
            <a:ext cx="6089464" cy="409575"/>
          </a:xfrm>
          <a:prstGeom prst="rect">
            <a:avLst/>
          </a:prstGeom>
        </p:spPr>
        <p:txBody>
          <a:bodyPr lIns="0" tIns="0" rIns="0" bIns="0" rtlCol="0" anchor="t">
            <a:spAutoFit/>
          </a:bodyPr>
          <a:lstStyle/>
          <a:p>
            <a:pPr algn="ctr">
              <a:lnSpc>
                <a:spcPts val="3240"/>
              </a:lnSpc>
            </a:pPr>
            <a:r>
              <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BACKGROUNDS &amp; MOTIVATION</a:t>
            </a:r>
            <a:endPar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4" name="Group 14"/>
          <p:cNvGrpSpPr>
            <a:grpSpLocks noChangeAspect="1"/>
          </p:cNvGrpSpPr>
          <p:nvPr/>
        </p:nvGrpSpPr>
        <p:grpSpPr>
          <a:xfrm rot="0">
            <a:off x="11023616" y="372126"/>
            <a:ext cx="3466641" cy="765282"/>
            <a:chOff x="0" y="0"/>
            <a:chExt cx="4622188" cy="1020376"/>
          </a:xfrm>
        </p:grpSpPr>
        <p:sp>
          <p:nvSpPr>
            <p:cNvPr id="15" name="Freeform 15"/>
            <p:cNvSpPr/>
            <p:nvPr/>
          </p:nvSpPr>
          <p:spPr>
            <a:xfrm>
              <a:off x="0" y="0"/>
              <a:ext cx="4622165" cy="1020318"/>
            </a:xfrm>
            <a:custGeom>
              <a:avLst/>
              <a:gdLst/>
              <a:ahLst/>
              <a:cxnLst/>
              <a:rect l="l" t="t" r="r" b="b"/>
              <a:pathLst>
                <a:path w="4622165" h="1020318">
                  <a:moveTo>
                    <a:pt x="0" y="0"/>
                  </a:moveTo>
                  <a:lnTo>
                    <a:pt x="4622165" y="0"/>
                  </a:lnTo>
                  <a:lnTo>
                    <a:pt x="4622165" y="1020318"/>
                  </a:lnTo>
                  <a:lnTo>
                    <a:pt x="0" y="1020318"/>
                  </a:lnTo>
                  <a:lnTo>
                    <a:pt x="0" y="0"/>
                  </a:lnTo>
                  <a:close/>
                </a:path>
              </a:pathLst>
            </a:custGeom>
            <a:blipFill>
              <a:blip r:embed="rId4"/>
              <a:stretch>
                <a:fillRect b="-5"/>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TextBox 5"/>
          <p:cNvSpPr txBox="1"/>
          <p:nvPr/>
        </p:nvSpPr>
        <p:spPr>
          <a:xfrm>
            <a:off x="189999" y="348244"/>
            <a:ext cx="518661" cy="63817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1</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1143186" y="263128"/>
            <a:ext cx="3171881" cy="723900"/>
          </a:xfrm>
          <a:prstGeom prst="rect">
            <a:avLst/>
          </a:prstGeom>
        </p:spPr>
        <p:txBody>
          <a:bodyPr lIns="0" tIns="0" rIns="0" bIns="0" rtlCol="0" anchor="t">
            <a:spAutoFit/>
          </a:bodyPr>
          <a:lstStyle/>
          <a:p>
            <a:pPr algn="l">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背景和动机</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7" name="Group 7"/>
          <p:cNvGrpSpPr/>
          <p:nvPr/>
        </p:nvGrpSpPr>
        <p:grpSpPr>
          <a:xfrm rot="0">
            <a:off x="4492229" y="404976"/>
            <a:ext cx="14596457" cy="492914"/>
            <a:chOff x="0" y="0"/>
            <a:chExt cx="19461943" cy="657218"/>
          </a:xfrm>
        </p:grpSpPr>
        <p:sp>
          <p:nvSpPr>
            <p:cNvPr id="8" name="Freeform 8"/>
            <p:cNvSpPr/>
            <p:nvPr/>
          </p:nvSpPr>
          <p:spPr>
            <a:xfrm>
              <a:off x="0" y="0"/>
              <a:ext cx="19461862" cy="657225"/>
            </a:xfrm>
            <a:custGeom>
              <a:avLst/>
              <a:gdLst/>
              <a:ahLst/>
              <a:cxnLst/>
              <a:rect l="l" t="t" r="r" b="b"/>
              <a:pathLst>
                <a:path w="19461862" h="657225">
                  <a:moveTo>
                    <a:pt x="0" y="328549"/>
                  </a:moveTo>
                  <a:cubicBezTo>
                    <a:pt x="0" y="147066"/>
                    <a:pt x="147066" y="0"/>
                    <a:pt x="328549" y="0"/>
                  </a:cubicBezTo>
                  <a:lnTo>
                    <a:pt x="19133313" y="0"/>
                  </a:lnTo>
                  <a:cubicBezTo>
                    <a:pt x="19314796" y="0"/>
                    <a:pt x="19461862" y="147066"/>
                    <a:pt x="19461862" y="328549"/>
                  </a:cubicBezTo>
                  <a:cubicBezTo>
                    <a:pt x="19461862" y="510032"/>
                    <a:pt x="19314796" y="657098"/>
                    <a:pt x="19133313" y="657098"/>
                  </a:cubicBezTo>
                  <a:lnTo>
                    <a:pt x="328549" y="657098"/>
                  </a:lnTo>
                  <a:cubicBezTo>
                    <a:pt x="147066" y="657225"/>
                    <a:pt x="0" y="510032"/>
                    <a:pt x="0" y="328549"/>
                  </a:cubicBezTo>
                  <a:close/>
                </a:path>
              </a:pathLst>
            </a:custGeom>
            <a:solidFill>
              <a:srgbClr val="014924"/>
            </a:solidFill>
          </p:spPr>
        </p:sp>
      </p:grpSp>
      <p:grpSp>
        <p:nvGrpSpPr>
          <p:cNvPr id="9" name="Group 9"/>
          <p:cNvGrpSpPr/>
          <p:nvPr/>
        </p:nvGrpSpPr>
        <p:grpSpPr>
          <a:xfrm rot="0">
            <a:off x="4424887" y="931548"/>
            <a:ext cx="14596459" cy="54000"/>
            <a:chOff x="0" y="0"/>
            <a:chExt cx="19461945" cy="72000"/>
          </a:xfrm>
        </p:grpSpPr>
        <p:sp>
          <p:nvSpPr>
            <p:cNvPr id="10" name="Freeform 10"/>
            <p:cNvSpPr/>
            <p:nvPr/>
          </p:nvSpPr>
          <p:spPr>
            <a:xfrm>
              <a:off x="0" y="0"/>
              <a:ext cx="19461860" cy="72009"/>
            </a:xfrm>
            <a:custGeom>
              <a:avLst/>
              <a:gdLst/>
              <a:ahLst/>
              <a:cxnLst/>
              <a:rect l="l" t="t" r="r" b="b"/>
              <a:pathLst>
                <a:path w="19461860" h="72009">
                  <a:moveTo>
                    <a:pt x="0" y="35941"/>
                  </a:moveTo>
                  <a:cubicBezTo>
                    <a:pt x="0" y="55880"/>
                    <a:pt x="16129" y="72009"/>
                    <a:pt x="35941" y="72009"/>
                  </a:cubicBezTo>
                  <a:lnTo>
                    <a:pt x="19425920" y="72009"/>
                  </a:lnTo>
                  <a:cubicBezTo>
                    <a:pt x="19445858" y="72009"/>
                    <a:pt x="19461860" y="55880"/>
                    <a:pt x="19461860" y="36068"/>
                  </a:cubicBezTo>
                  <a:cubicBezTo>
                    <a:pt x="19461860" y="16256"/>
                    <a:pt x="19445860" y="0"/>
                    <a:pt x="19425920" y="0"/>
                  </a:cubicBezTo>
                  <a:lnTo>
                    <a:pt x="35941" y="0"/>
                  </a:lnTo>
                  <a:cubicBezTo>
                    <a:pt x="16129" y="0"/>
                    <a:pt x="0" y="16129"/>
                    <a:pt x="0" y="35941"/>
                  </a:cubicBezTo>
                  <a:close/>
                </a:path>
              </a:pathLst>
            </a:custGeom>
            <a:solidFill>
              <a:srgbClr val="014924"/>
            </a:solidFill>
          </p:spPr>
        </p:sp>
      </p:grpSp>
      <p:sp>
        <p:nvSpPr>
          <p:cNvPr id="11" name="TextBox 11"/>
          <p:cNvSpPr txBox="1"/>
          <p:nvPr/>
        </p:nvSpPr>
        <p:spPr>
          <a:xfrm>
            <a:off x="4497940" y="405392"/>
            <a:ext cx="3664900" cy="266700"/>
          </a:xfrm>
          <a:prstGeom prst="rect">
            <a:avLst/>
          </a:prstGeom>
        </p:spPr>
        <p:txBody>
          <a:bodyPr lIns="0" tIns="0" rIns="0" bIns="0" rtlCol="0" anchor="t">
            <a:spAutoFit/>
          </a:bodyPr>
          <a:lstStyle/>
          <a:p>
            <a:pPr algn="ctr">
              <a:lnSpc>
                <a:spcPts val="2160"/>
              </a:lnSpc>
            </a:pPr>
            <a:r>
              <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BACKGROUNDS &amp; MOTIVATION</a:t>
            </a:r>
            <a:endPar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2" name="Group 12"/>
          <p:cNvGrpSpPr>
            <a:grpSpLocks noChangeAspect="1"/>
          </p:cNvGrpSpPr>
          <p:nvPr/>
        </p:nvGrpSpPr>
        <p:grpSpPr>
          <a:xfrm rot="0">
            <a:off x="16100484" y="264381"/>
            <a:ext cx="1896959" cy="667167"/>
            <a:chOff x="0" y="0"/>
            <a:chExt cx="2529278" cy="889556"/>
          </a:xfrm>
        </p:grpSpPr>
        <p:sp>
          <p:nvSpPr>
            <p:cNvPr id="13" name="Freeform 13"/>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sp>
        <p:nvSpPr>
          <p:cNvPr id="16" name="TextBox 16"/>
          <p:cNvSpPr txBox="1"/>
          <p:nvPr/>
        </p:nvSpPr>
        <p:spPr>
          <a:xfrm>
            <a:off x="838200" y="2400300"/>
            <a:ext cx="10830560" cy="6466840"/>
          </a:xfrm>
          <a:prstGeom prst="rect">
            <a:avLst/>
          </a:prstGeom>
        </p:spPr>
        <p:txBody>
          <a:bodyPr wrap="square" lIns="0" tIns="0" rIns="0" bIns="0" rtlCol="0" anchor="t">
            <a:noAutofit/>
          </a:bodyPr>
          <a:lstStyle/>
          <a:p>
            <a:pPr marL="457200" indent="-457200" algn="l">
              <a:lnSpc>
                <a:spcPts val="5480"/>
              </a:lnSpc>
              <a:buFont typeface="Arial" panose="020B0604020202020204" pitchFamily="34" charset="0"/>
              <a:buChar char="•"/>
            </a:pPr>
            <a:r>
              <a:rPr lang="en-US" sz="3200">
                <a:solidFill>
                  <a:srgbClr val="000000"/>
                </a:solidFill>
                <a:latin typeface="Calibri (MS)" panose="020F0502020204030204"/>
                <a:ea typeface="Calibri (MS)" panose="020F0502020204030204"/>
                <a:cs typeface="Calibri (MS)" panose="020F0502020204030204"/>
                <a:sym typeface="Calibri (MS)" panose="020F0502020204030204"/>
              </a:rPr>
              <a:t>随着多核处理器技术的发展，现有 </a:t>
            </a:r>
            <a:r>
              <a:rPr lang="en-US" sz="3200" b="1">
                <a:solidFill>
                  <a:srgbClr val="000000"/>
                </a:solidFill>
                <a:latin typeface="Calibri (MS)" panose="020F0502020204030204"/>
                <a:ea typeface="Calibri (MS)" panose="020F0502020204030204"/>
                <a:cs typeface="Calibri (MS)" panose="020F0502020204030204"/>
                <a:sym typeface="Calibri (MS)" panose="020F0502020204030204"/>
              </a:rPr>
              <a:t>Linux 调度器在特定场景下的局限性</a:t>
            </a:r>
            <a:r>
              <a:rPr lang="en-US" sz="3200">
                <a:solidFill>
                  <a:srgbClr val="000000"/>
                </a:solidFill>
                <a:latin typeface="Calibri (MS)" panose="020F0502020204030204"/>
                <a:ea typeface="Calibri (MS)" panose="020F0502020204030204"/>
                <a:cs typeface="Calibri (MS)" panose="020F0502020204030204"/>
                <a:sym typeface="Calibri (MS)" panose="020F0502020204030204"/>
              </a:rPr>
              <a:t>日益凸显。</a:t>
            </a:r>
            <a:endParaRPr lang="en-US" sz="3200">
              <a:solidFill>
                <a:srgbClr val="000000"/>
              </a:solidFill>
              <a:latin typeface="Calibri (MS)" panose="020F0502020204030204"/>
              <a:ea typeface="Calibri (MS)" panose="020F0502020204030204"/>
              <a:cs typeface="Calibri (MS)" panose="020F0502020204030204"/>
              <a:sym typeface="Calibri (MS)" panose="020F0502020204030204"/>
            </a:endParaRPr>
          </a:p>
          <a:p>
            <a:pPr marL="457200" indent="-457200" algn="l">
              <a:lnSpc>
                <a:spcPts val="5480"/>
              </a:lnSpc>
              <a:buFont typeface="Arial" panose="020B0604020202020204" pitchFamily="34" charset="0"/>
              <a:buChar char="•"/>
            </a:pPr>
            <a:r>
              <a:rPr lang="en-US" sz="3200">
                <a:solidFill>
                  <a:srgbClr val="000000"/>
                </a:solidFill>
                <a:latin typeface="Calibri (MS)" panose="020F0502020204030204"/>
                <a:ea typeface="Calibri (MS)" panose="020F0502020204030204"/>
                <a:cs typeface="Calibri (MS)" panose="020F0502020204030204"/>
                <a:sym typeface="Calibri (MS)" panose="020F0502020204030204"/>
              </a:rPr>
              <a:t>当前 Linux 内核中的</a:t>
            </a:r>
            <a:r>
              <a:rPr lang="en-US" sz="3200" b="1">
                <a:solidFill>
                  <a:srgbClr val="000000"/>
                </a:solidFill>
                <a:latin typeface="Calibri (MS)" panose="020F0502020204030204"/>
                <a:ea typeface="Calibri (MS)" panose="020F0502020204030204"/>
                <a:cs typeface="Calibri (MS)" panose="020F0502020204030204"/>
                <a:sym typeface="Calibri (MS)" panose="020F0502020204030204"/>
              </a:rPr>
              <a:t>完全公平调度器 (CFS) </a:t>
            </a:r>
            <a:r>
              <a:rPr lang="en-US" sz="3200">
                <a:solidFill>
                  <a:srgbClr val="000000"/>
                </a:solidFill>
                <a:latin typeface="Calibri (MS)" panose="020F0502020204030204"/>
                <a:ea typeface="Calibri (MS)" panose="020F0502020204030204"/>
                <a:cs typeface="Calibri (MS)" panose="020F0502020204030204"/>
                <a:sym typeface="Calibri (MS)" panose="020F0502020204030204"/>
              </a:rPr>
              <a:t>主要关注</a:t>
            </a:r>
            <a:r>
              <a:rPr lang="en-US" sz="3200" b="1">
                <a:solidFill>
                  <a:srgbClr val="000000"/>
                </a:solidFill>
                <a:latin typeface="Calibri (MS)" panose="020F0502020204030204"/>
                <a:ea typeface="Calibri (MS)" panose="020F0502020204030204"/>
                <a:cs typeface="Calibri (MS)" panose="020F0502020204030204"/>
                <a:sym typeface="Calibri (MS)" panose="020F0502020204030204"/>
              </a:rPr>
              <a:t>任务公平性和负载均衡</a:t>
            </a:r>
            <a:r>
              <a:rPr lang="en-US" sz="3200">
                <a:solidFill>
                  <a:srgbClr val="000000"/>
                </a:solidFill>
                <a:latin typeface="Calibri (MS)" panose="020F0502020204030204"/>
                <a:ea typeface="Calibri (MS)" panose="020F0502020204030204"/>
                <a:cs typeface="Calibri (MS)" panose="020F0502020204030204"/>
                <a:sym typeface="Calibri (MS)" panose="020F0502020204030204"/>
              </a:rPr>
              <a:t>，但在设计时并未充分考虑现代多核处理器的</a:t>
            </a:r>
            <a:r>
              <a:rPr lang="en-US" sz="3200" b="1">
                <a:solidFill>
                  <a:srgbClr val="000000"/>
                </a:solidFill>
                <a:latin typeface="Calibri (MS)" panose="020F0502020204030204"/>
                <a:ea typeface="Calibri (MS)" panose="020F0502020204030204"/>
                <a:cs typeface="Calibri (MS)" panose="020F0502020204030204"/>
                <a:sym typeface="Calibri (MS)" panose="020F0502020204030204"/>
              </a:rPr>
              <a:t>缓存层次结构特征</a:t>
            </a:r>
            <a:r>
              <a:rPr lang="en-US" sz="3200">
                <a:solidFill>
                  <a:srgbClr val="000000"/>
                </a:solidFill>
                <a:latin typeface="Calibri (MS)" panose="020F0502020204030204"/>
                <a:ea typeface="Calibri (MS)" panose="020F0502020204030204"/>
                <a:cs typeface="Calibri (MS)" panose="020F0502020204030204"/>
                <a:sym typeface="Calibri (MS)" panose="020F0502020204030204"/>
              </a:rPr>
              <a:t>。</a:t>
            </a:r>
            <a:endParaRPr lang="en-US" sz="3200">
              <a:solidFill>
                <a:srgbClr val="000000"/>
              </a:solidFill>
              <a:latin typeface="Calibri (MS)" panose="020F0502020204030204"/>
              <a:ea typeface="Calibri (MS)" panose="020F0502020204030204"/>
              <a:cs typeface="Calibri (MS)" panose="020F0502020204030204"/>
              <a:sym typeface="Calibri (MS)" panose="020F0502020204030204"/>
            </a:endParaRPr>
          </a:p>
          <a:p>
            <a:pPr marL="457200" indent="-457200" algn="l">
              <a:lnSpc>
                <a:spcPts val="5480"/>
              </a:lnSpc>
              <a:buFont typeface="Arial" panose="020B0604020202020204" pitchFamily="34" charset="0"/>
              <a:buChar char="•"/>
            </a:pPr>
            <a:r>
              <a:rPr lang="en-US" sz="3200">
                <a:solidFill>
                  <a:srgbClr val="000000"/>
                </a:solidFill>
                <a:latin typeface="Calibri (MS)" panose="020F0502020204030204"/>
                <a:ea typeface="Calibri (MS)" panose="020F0502020204030204"/>
                <a:cs typeface="Calibri (MS)" panose="020F0502020204030204"/>
                <a:sym typeface="Calibri (MS)" panose="020F0502020204030204"/>
              </a:rPr>
              <a:t>现有调度器</a:t>
            </a:r>
            <a:r>
              <a:rPr lang="en-US" sz="3200" b="1">
                <a:solidFill>
                  <a:srgbClr val="000000"/>
                </a:solidFill>
                <a:latin typeface="Calibri (MS)" panose="020F0502020204030204"/>
                <a:ea typeface="Calibri (MS)" panose="020F0502020204030204"/>
                <a:cs typeface="Calibri (MS)" panose="020F0502020204030204"/>
                <a:sym typeface="Calibri (MS)" panose="020F0502020204030204"/>
              </a:rPr>
              <a:t>(CFS) </a:t>
            </a:r>
            <a:r>
              <a:rPr lang="en-US" sz="3200">
                <a:solidFill>
                  <a:srgbClr val="000000"/>
                </a:solidFill>
                <a:latin typeface="Calibri (MS)" panose="020F0502020204030204"/>
                <a:ea typeface="Calibri (MS)" panose="020F0502020204030204"/>
                <a:cs typeface="Calibri (MS)" panose="020F0502020204030204"/>
                <a:sym typeface="Calibri (MS)" panose="020F0502020204030204"/>
              </a:rPr>
              <a:t>存在</a:t>
            </a:r>
            <a:r>
              <a:rPr lang="en-US" sz="3200" b="1">
                <a:solidFill>
                  <a:srgbClr val="000000"/>
                </a:solidFill>
                <a:latin typeface="Calibri (MS)" panose="020F0502020204030204"/>
                <a:ea typeface="Calibri (MS)" panose="020F0502020204030204"/>
                <a:cs typeface="Calibri (MS)" panose="020F0502020204030204"/>
                <a:sym typeface="Calibri (MS)" panose="020F0502020204030204"/>
              </a:rPr>
              <a:t>三个核心问题</a:t>
            </a:r>
            <a:r>
              <a:rPr lang="en-US" sz="3200">
                <a:solidFill>
                  <a:srgbClr val="000000"/>
                </a:solidFill>
                <a:latin typeface="Calibri (MS)" panose="020F0502020204030204"/>
                <a:ea typeface="Calibri (MS)" panose="020F0502020204030204"/>
                <a:cs typeface="Calibri (MS)" panose="020F0502020204030204"/>
                <a:sym typeface="Calibri (MS)" panose="020F0502020204030204"/>
              </a:rPr>
              <a:t>：调度器</a:t>
            </a:r>
            <a:r>
              <a:rPr lang="en-US" sz="3200" b="1">
                <a:solidFill>
                  <a:srgbClr val="000000"/>
                </a:solidFill>
                <a:latin typeface="Calibri (MS)" panose="020F0502020204030204"/>
                <a:ea typeface="Calibri (MS)" panose="020F0502020204030204"/>
                <a:cs typeface="Calibri (MS)" panose="020F0502020204030204"/>
                <a:sym typeface="Calibri (MS)" panose="020F0502020204030204"/>
              </a:rPr>
              <a:t>结构日益臃肿</a:t>
            </a:r>
            <a:r>
              <a:rPr lang="en-US" sz="3200">
                <a:solidFill>
                  <a:srgbClr val="000000"/>
                </a:solidFill>
                <a:latin typeface="Calibri (MS)" panose="020F0502020204030204"/>
                <a:ea typeface="Calibri (MS)" panose="020F0502020204030204"/>
                <a:cs typeface="Calibri (MS)" panose="020F0502020204030204"/>
                <a:sym typeface="Calibri (MS)" panose="020F0502020204030204"/>
              </a:rPr>
              <a:t>，代码复杂度持续上升，</a:t>
            </a:r>
            <a:r>
              <a:rPr lang="en-US" sz="3200" b="1">
                <a:solidFill>
                  <a:srgbClr val="000000"/>
                </a:solidFill>
                <a:latin typeface="Calibri (MS)" panose="020F0502020204030204"/>
                <a:ea typeface="Calibri (MS)" panose="020F0502020204030204"/>
                <a:cs typeface="Calibri (MS)" panose="020F0502020204030204"/>
                <a:sym typeface="Calibri (MS)" panose="020F0502020204030204"/>
              </a:rPr>
              <a:t>调度开销增加</a:t>
            </a:r>
            <a:r>
              <a:rPr lang="en-US" sz="3200">
                <a:solidFill>
                  <a:srgbClr val="000000"/>
                </a:solidFill>
                <a:latin typeface="Calibri (MS)" panose="020F0502020204030204"/>
                <a:ea typeface="Calibri (MS)" panose="020F0502020204030204"/>
                <a:cs typeface="Calibri (MS)" panose="020F0502020204030204"/>
                <a:sym typeface="Calibri (MS)" panose="020F0502020204030204"/>
              </a:rPr>
              <a:t>； </a:t>
            </a:r>
            <a:r>
              <a:rPr lang="en-US" sz="3200" b="1">
                <a:solidFill>
                  <a:srgbClr val="000000"/>
                </a:solidFill>
                <a:latin typeface="Calibri (MS)" panose="020F0502020204030204"/>
                <a:ea typeface="Calibri (MS)" panose="020F0502020204030204"/>
                <a:cs typeface="Calibri (MS)" panose="020F0502020204030204"/>
                <a:sym typeface="Calibri (MS)" panose="020F0502020204030204"/>
              </a:rPr>
              <a:t>缺乏对关键线程的优先调度支持</a:t>
            </a:r>
            <a:r>
              <a:rPr lang="en-US" sz="3200">
                <a:solidFill>
                  <a:srgbClr val="000000"/>
                </a:solidFill>
                <a:latin typeface="Calibri (MS)" panose="020F0502020204030204"/>
                <a:ea typeface="Calibri (MS)" panose="020F0502020204030204"/>
                <a:cs typeface="Calibri (MS)" panose="020F0502020204030204"/>
                <a:sym typeface="Calibri (MS)" panose="020F0502020204030204"/>
              </a:rPr>
              <a:t>，无法有效识别和处理重要任务；</a:t>
            </a:r>
            <a:r>
              <a:rPr lang="en-US" sz="3200" b="1">
                <a:solidFill>
                  <a:srgbClr val="000000"/>
                </a:solidFill>
                <a:latin typeface="Calibri (MS)" panose="020F0502020204030204"/>
                <a:ea typeface="Calibri (MS)" panose="020F0502020204030204"/>
                <a:cs typeface="Calibri (MS)" panose="020F0502020204030204"/>
                <a:sym typeface="Calibri (MS)" panose="020F0502020204030204"/>
              </a:rPr>
              <a:t>时延不可控</a:t>
            </a:r>
            <a:r>
              <a:rPr lang="en-US" sz="3200">
                <a:solidFill>
                  <a:srgbClr val="000000"/>
                </a:solidFill>
                <a:latin typeface="Calibri (MS)" panose="020F0502020204030204"/>
                <a:ea typeface="Calibri (MS)" panose="020F0502020204030204"/>
                <a:cs typeface="Calibri (MS)" panose="020F0502020204030204"/>
                <a:sym typeface="Calibri (MS)" panose="020F0502020204030204"/>
              </a:rPr>
              <a:t>，在高并发场景下任 务调度延迟难以预测，严重影响系统响应性能。</a:t>
            </a:r>
            <a:endParaRPr lang="en-US" sz="3200">
              <a:solidFill>
                <a:srgbClr val="000000"/>
              </a:solidFill>
              <a:latin typeface="Calibri (MS)" panose="020F0502020204030204"/>
              <a:ea typeface="Calibri (MS)" panose="020F0502020204030204"/>
              <a:cs typeface="Calibri (MS)" panose="020F0502020204030204"/>
              <a:sym typeface="Calibri (MS)" panose="020F0502020204030204"/>
            </a:endParaRPr>
          </a:p>
          <a:p>
            <a:pPr marL="457200" indent="-457200" algn="l">
              <a:lnSpc>
                <a:spcPts val="5480"/>
              </a:lnSpc>
              <a:buFont typeface="Arial" panose="020B0604020202020204" pitchFamily="34" charset="0"/>
              <a:buChar char="•"/>
            </a:pPr>
            <a:endParaRPr lang="en-US" sz="3200">
              <a:solidFill>
                <a:srgbClr val="000000"/>
              </a:solidFill>
              <a:latin typeface="Calibri (MS)" panose="020F0502020204030204"/>
              <a:ea typeface="Calibri (MS)" panose="020F0502020204030204"/>
              <a:cs typeface="Calibri (MS)" panose="020F0502020204030204"/>
              <a:sym typeface="Calibri (MS)" panose="020F0502020204030204"/>
            </a:endParaRPr>
          </a:p>
        </p:txBody>
      </p:sp>
      <p:grpSp>
        <p:nvGrpSpPr>
          <p:cNvPr id="21" name="Group 8"/>
          <p:cNvGrpSpPr/>
          <p:nvPr/>
        </p:nvGrpSpPr>
        <p:grpSpPr>
          <a:xfrm rot="0">
            <a:off x="22860" y="1233170"/>
            <a:ext cx="5163820" cy="1145131"/>
            <a:chOff x="0" y="0"/>
            <a:chExt cx="8597416" cy="1498644"/>
          </a:xfrm>
        </p:grpSpPr>
        <p:sp>
          <p:nvSpPr>
            <p:cNvPr id="22" name="Freeform 9"/>
            <p:cNvSpPr/>
            <p:nvPr/>
          </p:nvSpPr>
          <p:spPr>
            <a:xfrm>
              <a:off x="0" y="0"/>
              <a:ext cx="8597416" cy="1498644"/>
            </a:xfrm>
            <a:custGeom>
              <a:avLst/>
              <a:gdLst/>
              <a:ahLst/>
              <a:cxnLst/>
              <a:rect l="l" t="t" r="r" b="b"/>
              <a:pathLst>
                <a:path w="8597416" h="1498644">
                  <a:moveTo>
                    <a:pt x="0" y="0"/>
                  </a:moveTo>
                  <a:lnTo>
                    <a:pt x="8597416" y="0"/>
                  </a:lnTo>
                  <a:lnTo>
                    <a:pt x="8597416" y="1498644"/>
                  </a:lnTo>
                  <a:lnTo>
                    <a:pt x="0" y="1498644"/>
                  </a:lnTo>
                  <a:close/>
                </a:path>
              </a:pathLst>
            </a:custGeom>
            <a:solidFill>
              <a:srgbClr val="014924"/>
            </a:solidFill>
          </p:spPr>
        </p:sp>
        <p:sp>
          <p:nvSpPr>
            <p:cNvPr id="23" name="TextBox 10"/>
            <p:cNvSpPr txBox="1"/>
            <p:nvPr/>
          </p:nvSpPr>
          <p:spPr>
            <a:xfrm>
              <a:off x="986398" y="330750"/>
              <a:ext cx="7113061" cy="1167598"/>
            </a:xfrm>
            <a:prstGeom prst="rect">
              <a:avLst/>
            </a:prstGeom>
          </p:spPr>
          <p:txBody>
            <a:bodyPr lIns="51756" tIns="51756" rIns="51756" bIns="51756" rtlCol="0" anchor="ctr"/>
            <a:lstStyle/>
            <a:p>
              <a:pPr algn="ctr">
                <a:lnSpc>
                  <a:spcPts val="3300"/>
                </a:lnSpc>
              </a:pPr>
              <a:r>
                <a:rPr lang="zh-CN" altLang="en-US" sz="44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赛题背景</a:t>
              </a:r>
              <a:endParaRPr lang="zh-CN" altLang="en-US" sz="44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pic>
        <p:nvPicPr>
          <p:cNvPr id="14" name="图片 13" descr="企鹅抠图后.pdf"/>
          <p:cNvPicPr>
            <a:picLocks noChangeAspect="1"/>
          </p:cNvPicPr>
          <p:nvPr/>
        </p:nvPicPr>
        <p:blipFill>
          <a:blip r:embed="rId3"/>
          <a:stretch>
            <a:fillRect/>
          </a:stretch>
        </p:blipFill>
        <p:spPr>
          <a:xfrm>
            <a:off x="12115800" y="2400300"/>
            <a:ext cx="5229225" cy="6200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P spid="16"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620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TextBox 5"/>
          <p:cNvSpPr txBox="1"/>
          <p:nvPr/>
        </p:nvSpPr>
        <p:spPr>
          <a:xfrm>
            <a:off x="189999" y="348244"/>
            <a:ext cx="518661" cy="63817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1</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1143186" y="263128"/>
            <a:ext cx="3171881" cy="723900"/>
          </a:xfrm>
          <a:prstGeom prst="rect">
            <a:avLst/>
          </a:prstGeom>
        </p:spPr>
        <p:txBody>
          <a:bodyPr lIns="0" tIns="0" rIns="0" bIns="0" rtlCol="0" anchor="t">
            <a:spAutoFit/>
          </a:bodyPr>
          <a:lstStyle/>
          <a:p>
            <a:pPr algn="l">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背景和动机</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7" name="Group 7"/>
          <p:cNvGrpSpPr/>
          <p:nvPr/>
        </p:nvGrpSpPr>
        <p:grpSpPr>
          <a:xfrm rot="0">
            <a:off x="4406504" y="326236"/>
            <a:ext cx="14596457" cy="492914"/>
            <a:chOff x="0" y="0"/>
            <a:chExt cx="19461943" cy="657218"/>
          </a:xfrm>
        </p:grpSpPr>
        <p:sp>
          <p:nvSpPr>
            <p:cNvPr id="8" name="Freeform 8"/>
            <p:cNvSpPr/>
            <p:nvPr/>
          </p:nvSpPr>
          <p:spPr>
            <a:xfrm>
              <a:off x="0" y="0"/>
              <a:ext cx="19461862" cy="657225"/>
            </a:xfrm>
            <a:custGeom>
              <a:avLst/>
              <a:gdLst/>
              <a:ahLst/>
              <a:cxnLst/>
              <a:rect l="l" t="t" r="r" b="b"/>
              <a:pathLst>
                <a:path w="19461862" h="657225">
                  <a:moveTo>
                    <a:pt x="0" y="328549"/>
                  </a:moveTo>
                  <a:cubicBezTo>
                    <a:pt x="0" y="147066"/>
                    <a:pt x="147066" y="0"/>
                    <a:pt x="328549" y="0"/>
                  </a:cubicBezTo>
                  <a:lnTo>
                    <a:pt x="19133313" y="0"/>
                  </a:lnTo>
                  <a:cubicBezTo>
                    <a:pt x="19314796" y="0"/>
                    <a:pt x="19461862" y="147066"/>
                    <a:pt x="19461862" y="328549"/>
                  </a:cubicBezTo>
                  <a:cubicBezTo>
                    <a:pt x="19461862" y="510032"/>
                    <a:pt x="19314796" y="657098"/>
                    <a:pt x="19133313" y="657098"/>
                  </a:cubicBezTo>
                  <a:lnTo>
                    <a:pt x="328549" y="657098"/>
                  </a:lnTo>
                  <a:cubicBezTo>
                    <a:pt x="147066" y="657225"/>
                    <a:pt x="0" y="510032"/>
                    <a:pt x="0" y="328549"/>
                  </a:cubicBezTo>
                  <a:close/>
                </a:path>
              </a:pathLst>
            </a:custGeom>
            <a:solidFill>
              <a:srgbClr val="014924"/>
            </a:solidFill>
          </p:spPr>
        </p:sp>
      </p:grpSp>
      <p:grpSp>
        <p:nvGrpSpPr>
          <p:cNvPr id="9" name="Group 9"/>
          <p:cNvGrpSpPr/>
          <p:nvPr/>
        </p:nvGrpSpPr>
        <p:grpSpPr>
          <a:xfrm rot="0">
            <a:off x="4424887" y="931548"/>
            <a:ext cx="14596459" cy="54000"/>
            <a:chOff x="0" y="0"/>
            <a:chExt cx="19461945" cy="72000"/>
          </a:xfrm>
        </p:grpSpPr>
        <p:sp>
          <p:nvSpPr>
            <p:cNvPr id="10" name="Freeform 10"/>
            <p:cNvSpPr/>
            <p:nvPr/>
          </p:nvSpPr>
          <p:spPr>
            <a:xfrm>
              <a:off x="0" y="0"/>
              <a:ext cx="19461860" cy="72009"/>
            </a:xfrm>
            <a:custGeom>
              <a:avLst/>
              <a:gdLst/>
              <a:ahLst/>
              <a:cxnLst/>
              <a:rect l="l" t="t" r="r" b="b"/>
              <a:pathLst>
                <a:path w="19461860" h="72009">
                  <a:moveTo>
                    <a:pt x="0" y="35941"/>
                  </a:moveTo>
                  <a:cubicBezTo>
                    <a:pt x="0" y="55880"/>
                    <a:pt x="16129" y="72009"/>
                    <a:pt x="35941" y="72009"/>
                  </a:cubicBezTo>
                  <a:lnTo>
                    <a:pt x="19425920" y="72009"/>
                  </a:lnTo>
                  <a:cubicBezTo>
                    <a:pt x="19445858" y="72009"/>
                    <a:pt x="19461860" y="55880"/>
                    <a:pt x="19461860" y="36068"/>
                  </a:cubicBezTo>
                  <a:cubicBezTo>
                    <a:pt x="19461860" y="16256"/>
                    <a:pt x="19445860" y="0"/>
                    <a:pt x="19425920" y="0"/>
                  </a:cubicBezTo>
                  <a:lnTo>
                    <a:pt x="35941" y="0"/>
                  </a:lnTo>
                  <a:cubicBezTo>
                    <a:pt x="16129" y="0"/>
                    <a:pt x="0" y="16129"/>
                    <a:pt x="0" y="35941"/>
                  </a:cubicBezTo>
                  <a:close/>
                </a:path>
              </a:pathLst>
            </a:custGeom>
            <a:solidFill>
              <a:srgbClr val="014924"/>
            </a:solidFill>
          </p:spPr>
        </p:sp>
      </p:grpSp>
      <p:sp>
        <p:nvSpPr>
          <p:cNvPr id="11" name="TextBox 11"/>
          <p:cNvSpPr txBox="1"/>
          <p:nvPr/>
        </p:nvSpPr>
        <p:spPr>
          <a:xfrm>
            <a:off x="4497940" y="405392"/>
            <a:ext cx="3664900" cy="266700"/>
          </a:xfrm>
          <a:prstGeom prst="rect">
            <a:avLst/>
          </a:prstGeom>
        </p:spPr>
        <p:txBody>
          <a:bodyPr lIns="0" tIns="0" rIns="0" bIns="0" rtlCol="0" anchor="t">
            <a:spAutoFit/>
          </a:bodyPr>
          <a:lstStyle/>
          <a:p>
            <a:pPr algn="ctr">
              <a:lnSpc>
                <a:spcPts val="2160"/>
              </a:lnSpc>
            </a:pPr>
            <a:r>
              <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BACKGROUNDS &amp; MOTIVATION</a:t>
            </a:r>
            <a:endPar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2" name="Group 12"/>
          <p:cNvGrpSpPr>
            <a:grpSpLocks noChangeAspect="1"/>
          </p:cNvGrpSpPr>
          <p:nvPr/>
        </p:nvGrpSpPr>
        <p:grpSpPr>
          <a:xfrm rot="0">
            <a:off x="16100484" y="264381"/>
            <a:ext cx="1896959" cy="667167"/>
            <a:chOff x="0" y="0"/>
            <a:chExt cx="2529278" cy="889556"/>
          </a:xfrm>
        </p:grpSpPr>
        <p:sp>
          <p:nvSpPr>
            <p:cNvPr id="13" name="Freeform 13"/>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sp>
        <p:nvSpPr>
          <p:cNvPr id="19" name="Freeform 19"/>
          <p:cNvSpPr/>
          <p:nvPr/>
        </p:nvSpPr>
        <p:spPr>
          <a:xfrm>
            <a:off x="9982200" y="1409700"/>
            <a:ext cx="6563360" cy="4424045"/>
          </a:xfrm>
          <a:custGeom>
            <a:avLst/>
            <a:gdLst/>
            <a:ahLst/>
            <a:cxnLst/>
            <a:rect l="l" t="t" r="r" b="b"/>
            <a:pathLst>
              <a:path w="5811786" h="3614863">
                <a:moveTo>
                  <a:pt x="0" y="0"/>
                </a:moveTo>
                <a:lnTo>
                  <a:pt x="5811786" y="0"/>
                </a:lnTo>
                <a:lnTo>
                  <a:pt x="5811786" y="3614863"/>
                </a:lnTo>
                <a:lnTo>
                  <a:pt x="0" y="3614863"/>
                </a:lnTo>
                <a:lnTo>
                  <a:pt x="0" y="0"/>
                </a:lnTo>
                <a:close/>
              </a:path>
            </a:pathLst>
          </a:custGeom>
          <a:blipFill>
            <a:blip r:embed="rId3"/>
            <a:stretch>
              <a:fillRect l="-55456" t="-135312" r="-46343" b="-223265"/>
            </a:stretch>
          </a:blipFill>
        </p:spPr>
        <p:txBody>
          <a:bodyPr/>
          <a:p>
            <a:endParaRPr lang="zh-CN" altLang="en-US"/>
          </a:p>
        </p:txBody>
      </p:sp>
      <p:grpSp>
        <p:nvGrpSpPr>
          <p:cNvPr id="16" name="Group 8"/>
          <p:cNvGrpSpPr/>
          <p:nvPr/>
        </p:nvGrpSpPr>
        <p:grpSpPr>
          <a:xfrm rot="0">
            <a:off x="0" y="1333500"/>
            <a:ext cx="5163820" cy="1145131"/>
            <a:chOff x="0" y="0"/>
            <a:chExt cx="8597416" cy="1498644"/>
          </a:xfrm>
        </p:grpSpPr>
        <p:sp>
          <p:nvSpPr>
            <p:cNvPr id="17" name="Freeform 9"/>
            <p:cNvSpPr/>
            <p:nvPr/>
          </p:nvSpPr>
          <p:spPr>
            <a:xfrm>
              <a:off x="0" y="0"/>
              <a:ext cx="8597416" cy="1498644"/>
            </a:xfrm>
            <a:custGeom>
              <a:avLst/>
              <a:gdLst/>
              <a:ahLst/>
              <a:cxnLst/>
              <a:rect l="l" t="t" r="r" b="b"/>
              <a:pathLst>
                <a:path w="8597416" h="1498644">
                  <a:moveTo>
                    <a:pt x="0" y="0"/>
                  </a:moveTo>
                  <a:lnTo>
                    <a:pt x="8597416" y="0"/>
                  </a:lnTo>
                  <a:lnTo>
                    <a:pt x="8597416" y="1498644"/>
                  </a:lnTo>
                  <a:lnTo>
                    <a:pt x="0" y="1498644"/>
                  </a:lnTo>
                  <a:close/>
                </a:path>
              </a:pathLst>
            </a:custGeom>
            <a:solidFill>
              <a:srgbClr val="014924"/>
            </a:solidFill>
          </p:spPr>
        </p:sp>
        <p:sp>
          <p:nvSpPr>
            <p:cNvPr id="18" name="TextBox 10"/>
            <p:cNvSpPr txBox="1"/>
            <p:nvPr/>
          </p:nvSpPr>
          <p:spPr>
            <a:xfrm>
              <a:off x="742177" y="660669"/>
              <a:ext cx="7113061" cy="837679"/>
            </a:xfrm>
            <a:prstGeom prst="rect">
              <a:avLst/>
            </a:prstGeom>
          </p:spPr>
          <p:txBody>
            <a:bodyPr lIns="51756" tIns="51756" rIns="51756" bIns="51756" rtlCol="0" anchor="ctr"/>
            <a:lstStyle/>
            <a:p>
              <a:pPr algn="ctr">
                <a:lnSpc>
                  <a:spcPts val="3300"/>
                </a:lnSpc>
              </a:pPr>
              <a:r>
                <a:rPr lang="zh-CN" altLang="en-US" sz="44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设计目标</a:t>
              </a:r>
              <a:endParaRPr lang="zh-CN" altLang="en-US" sz="44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sp>
        <p:nvSpPr>
          <p:cNvPr id="20" name="文本框 19"/>
          <p:cNvSpPr txBox="1"/>
          <p:nvPr/>
        </p:nvSpPr>
        <p:spPr>
          <a:xfrm>
            <a:off x="533400" y="2628900"/>
            <a:ext cx="16012795" cy="6252210"/>
          </a:xfrm>
          <a:prstGeom prst="rect">
            <a:avLst/>
          </a:prstGeom>
          <a:noFill/>
        </p:spPr>
        <p:txBody>
          <a:bodyPr wrap="square" rtlCol="0">
            <a:noAutofit/>
          </a:bodyPr>
          <a:p>
            <a:pPr>
              <a:lnSpc>
                <a:spcPct val="160000"/>
              </a:lnSpc>
            </a:pPr>
            <a:r>
              <a:rPr lang="zh-CN" altLang="en-US" sz="3200"/>
              <a:t>针对</a:t>
            </a:r>
            <a:r>
              <a:rPr lang="en-US" altLang="zh-CN" sz="3200"/>
              <a:t> CFS </a:t>
            </a:r>
            <a:r>
              <a:rPr lang="zh-CN" altLang="en-US" sz="3200"/>
              <a:t>的问题，我们设计的</a:t>
            </a:r>
            <a:r>
              <a:rPr lang="en-US" altLang="zh-CN" sz="3200"/>
              <a:t>Yat_CAsched</a:t>
            </a:r>
            <a:r>
              <a:rPr lang="zh-CN" altLang="en-US" sz="3200"/>
              <a:t>调度策略</a:t>
            </a:r>
            <a:endParaRPr lang="zh-CN" altLang="en-US" sz="3200"/>
          </a:p>
          <a:p>
            <a:pPr>
              <a:lnSpc>
                <a:spcPct val="160000"/>
              </a:lnSpc>
            </a:pPr>
            <a:r>
              <a:rPr lang="zh-CN" altLang="en-US" sz="3200"/>
              <a:t>目标是具备以下四大优势：</a:t>
            </a:r>
            <a:endParaRPr lang="zh-CN" altLang="en-US" sz="3200"/>
          </a:p>
          <a:p>
            <a:pPr marL="457200" indent="-457200">
              <a:lnSpc>
                <a:spcPct val="160000"/>
              </a:lnSpc>
              <a:buFont typeface="Arial" panose="020B0604020202020204" pitchFamily="34" charset="0"/>
              <a:buChar char="•"/>
            </a:pPr>
            <a:r>
              <a:rPr lang="zh-CN" altLang="en-US" sz="3200" b="1">
                <a:solidFill>
                  <a:srgbClr val="003E18"/>
                </a:solidFill>
              </a:rPr>
              <a:t>轻量化设计和</a:t>
            </a:r>
            <a:r>
              <a:rPr lang="zh-CN" altLang="en-US" sz="3200" b="1">
                <a:solidFill>
                  <a:srgbClr val="003E18"/>
                </a:solidFill>
                <a:sym typeface="+mn-ea"/>
              </a:rPr>
              <a:t>低时延</a:t>
            </a:r>
            <a:r>
              <a:rPr lang="zh-CN" altLang="en-US" sz="3200"/>
              <a:t>：简化数据结构和高效</a:t>
            </a:r>
            <a:endParaRPr lang="zh-CN" altLang="en-US" sz="3200"/>
          </a:p>
          <a:p>
            <a:pPr indent="0">
              <a:lnSpc>
                <a:spcPct val="160000"/>
              </a:lnSpc>
              <a:buFont typeface="Arial" panose="020B0604020202020204" pitchFamily="34" charset="0"/>
              <a:buNone/>
            </a:pPr>
            <a:r>
              <a:rPr lang="en-US" altLang="zh-CN" sz="3200"/>
              <a:t>     </a:t>
            </a:r>
            <a:r>
              <a:rPr lang="zh-CN" altLang="en-US" sz="3200"/>
              <a:t>调度算法。</a:t>
            </a:r>
            <a:endParaRPr lang="zh-CN" altLang="en-US" sz="3200"/>
          </a:p>
          <a:p>
            <a:pPr marL="457200" indent="-457200">
              <a:lnSpc>
                <a:spcPct val="160000"/>
              </a:lnSpc>
              <a:buFont typeface="Arial" panose="020B0604020202020204" pitchFamily="34" charset="0"/>
              <a:buChar char="•"/>
            </a:pPr>
            <a:r>
              <a:rPr lang="zh-CN" altLang="en-US" sz="3200" b="1">
                <a:solidFill>
                  <a:srgbClr val="003E18"/>
                </a:solidFill>
              </a:rPr>
              <a:t>关键任务优先处理</a:t>
            </a:r>
            <a:r>
              <a:rPr lang="zh-CN" altLang="en-US" sz="3200"/>
              <a:t>：伪抢占优先调度关键任务。</a:t>
            </a:r>
            <a:endParaRPr lang="zh-CN" altLang="en-US" sz="3200"/>
          </a:p>
          <a:p>
            <a:pPr marL="457200" indent="-457200">
              <a:lnSpc>
                <a:spcPct val="160000"/>
              </a:lnSpc>
              <a:buFont typeface="Arial" panose="020B0604020202020204" pitchFamily="34" charset="0"/>
              <a:buChar char="•"/>
            </a:pPr>
            <a:r>
              <a:rPr lang="zh-CN" altLang="en-US" sz="3200" b="1">
                <a:solidFill>
                  <a:srgbClr val="003E18"/>
                </a:solidFill>
              </a:rPr>
              <a:t>缓存亲和性优化</a:t>
            </a:r>
            <a:r>
              <a:rPr lang="zh-CN" altLang="en-US" sz="3200"/>
              <a:t>：基于</a:t>
            </a:r>
            <a:r>
              <a:rPr lang="en-US" altLang="zh-CN" sz="3200"/>
              <a:t> CRP(cache recency profile) </a:t>
            </a:r>
            <a:r>
              <a:rPr lang="zh-CN" altLang="en-US" sz="3200"/>
              <a:t>缓存感知机制的五级调度策略，</a:t>
            </a:r>
            <a:endParaRPr lang="zh-CN" altLang="en-US" sz="3200"/>
          </a:p>
          <a:p>
            <a:pPr indent="0">
              <a:lnSpc>
                <a:spcPct val="160000"/>
              </a:lnSpc>
              <a:buFont typeface="Arial" panose="020B0604020202020204" pitchFamily="34" charset="0"/>
              <a:buNone/>
            </a:pPr>
            <a:r>
              <a:rPr lang="en-US" altLang="zh-CN" sz="3200"/>
              <a:t>     </a:t>
            </a:r>
            <a:r>
              <a:rPr lang="zh-CN" altLang="en-US" sz="3200"/>
              <a:t>最大化缓存利用率。</a:t>
            </a:r>
            <a:endParaRPr lang="zh-CN" altLang="en-US" sz="3200"/>
          </a:p>
          <a:p>
            <a:pPr marL="457200" indent="-457200">
              <a:lnSpc>
                <a:spcPct val="160000"/>
              </a:lnSpc>
              <a:buFont typeface="Arial" panose="020B0604020202020204" pitchFamily="34" charset="0"/>
              <a:buChar char="•"/>
            </a:pPr>
            <a:r>
              <a:rPr lang="zh-CN" altLang="en-US" sz="3200" b="1">
                <a:solidFill>
                  <a:srgbClr val="003E18"/>
                </a:solidFill>
              </a:rPr>
              <a:t>模块化和兼容性</a:t>
            </a:r>
            <a:r>
              <a:rPr lang="zh-CN" altLang="en-US" sz="3200"/>
              <a:t>：独立调度类与数据结构，与现有调度器并存，渐进式部署。</a:t>
            </a:r>
            <a:endParaRPr lang="zh-CN" altLang="en-US" sz="3200"/>
          </a:p>
          <a:p>
            <a:pPr>
              <a:lnSpc>
                <a:spcPct val="160000"/>
              </a:lnSpc>
            </a:pPr>
            <a:endParaRPr lang="zh-CN" altLang="en-US" sz="3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9481764" y="4029974"/>
            <a:ext cx="8806236" cy="2313674"/>
            <a:chOff x="0" y="0"/>
            <a:chExt cx="11741648" cy="3084898"/>
          </a:xfrm>
        </p:grpSpPr>
        <p:sp>
          <p:nvSpPr>
            <p:cNvPr id="4" name="Freeform 4"/>
            <p:cNvSpPr/>
            <p:nvPr/>
          </p:nvSpPr>
          <p:spPr>
            <a:xfrm>
              <a:off x="0" y="0"/>
              <a:ext cx="11741658" cy="3084957"/>
            </a:xfrm>
            <a:custGeom>
              <a:avLst/>
              <a:gdLst/>
              <a:ahLst/>
              <a:cxnLst/>
              <a:rect l="l" t="t" r="r" b="b"/>
              <a:pathLst>
                <a:path w="11741658" h="3084957">
                  <a:moveTo>
                    <a:pt x="0" y="0"/>
                  </a:moveTo>
                  <a:lnTo>
                    <a:pt x="11741658" y="0"/>
                  </a:lnTo>
                  <a:lnTo>
                    <a:pt x="11741658" y="3084957"/>
                  </a:lnTo>
                  <a:lnTo>
                    <a:pt x="0" y="3084957"/>
                  </a:lnTo>
                  <a:lnTo>
                    <a:pt x="0" y="0"/>
                  </a:lnTo>
                  <a:close/>
                </a:path>
              </a:pathLst>
            </a:custGeom>
            <a:blipFill>
              <a:blip r:embed="rId2"/>
              <a:stretch>
                <a:fillRect t="-74003" r="-17268" b="-160884"/>
              </a:stretch>
            </a:blipFill>
          </p:spPr>
        </p:sp>
      </p:grpSp>
      <p:grpSp>
        <p:nvGrpSpPr>
          <p:cNvPr id="5" name="Group 5"/>
          <p:cNvGrpSpPr/>
          <p:nvPr/>
        </p:nvGrpSpPr>
        <p:grpSpPr>
          <a:xfrm rot="0">
            <a:off x="4286250" y="4029075"/>
            <a:ext cx="14001750" cy="2314573"/>
            <a:chOff x="0" y="0"/>
            <a:chExt cx="18669000" cy="3086098"/>
          </a:xfrm>
        </p:grpSpPr>
        <p:sp>
          <p:nvSpPr>
            <p:cNvPr id="6" name="Freeform 6"/>
            <p:cNvSpPr/>
            <p:nvPr/>
          </p:nvSpPr>
          <p:spPr>
            <a:xfrm>
              <a:off x="0" y="0"/>
              <a:ext cx="18669000" cy="3086100"/>
            </a:xfrm>
            <a:custGeom>
              <a:avLst/>
              <a:gdLst/>
              <a:ahLst/>
              <a:cxnLst/>
              <a:rect l="l" t="t" r="r" b="b"/>
              <a:pathLst>
                <a:path w="18669000" h="3086100">
                  <a:moveTo>
                    <a:pt x="0" y="0"/>
                  </a:moveTo>
                  <a:lnTo>
                    <a:pt x="18669000" y="0"/>
                  </a:lnTo>
                  <a:lnTo>
                    <a:pt x="18669000" y="3086100"/>
                  </a:lnTo>
                  <a:lnTo>
                    <a:pt x="0" y="3086100"/>
                  </a:lnTo>
                  <a:close/>
                </a:path>
              </a:pathLst>
            </a:custGeom>
            <a:gradFill rotWithShape="1">
              <a:gsLst>
                <a:gs pos="0">
                  <a:srgbClr val="014924">
                    <a:alpha val="100000"/>
                  </a:srgbClr>
                </a:gs>
                <a:gs pos="35000">
                  <a:srgbClr val="014924">
                    <a:alpha val="100000"/>
                  </a:srgbClr>
                </a:gs>
                <a:gs pos="59000">
                  <a:srgbClr val="014924">
                    <a:alpha val="95000"/>
                  </a:srgbClr>
                </a:gs>
                <a:gs pos="77000">
                  <a:srgbClr val="014924">
                    <a:alpha val="70000"/>
                  </a:srgbClr>
                </a:gs>
                <a:gs pos="100000">
                  <a:srgbClr val="014924">
                    <a:alpha val="60000"/>
                  </a:srgbClr>
                </a:gs>
              </a:gsLst>
              <a:lin ang="0"/>
            </a:gradFill>
          </p:spPr>
        </p:sp>
      </p:grpSp>
      <p:grpSp>
        <p:nvGrpSpPr>
          <p:cNvPr id="7" name="Group 7"/>
          <p:cNvGrpSpPr/>
          <p:nvPr/>
        </p:nvGrpSpPr>
        <p:grpSpPr>
          <a:xfrm rot="0">
            <a:off x="1685925" y="4029075"/>
            <a:ext cx="2314575" cy="2314575"/>
            <a:chOff x="0" y="0"/>
            <a:chExt cx="3086100" cy="3086100"/>
          </a:xfrm>
        </p:grpSpPr>
        <p:sp>
          <p:nvSpPr>
            <p:cNvPr id="8" name="Freeform 8"/>
            <p:cNvSpPr/>
            <p:nvPr/>
          </p:nvSpPr>
          <p:spPr>
            <a:xfrm>
              <a:off x="0" y="0"/>
              <a:ext cx="3086100" cy="3086100"/>
            </a:xfrm>
            <a:custGeom>
              <a:avLst/>
              <a:gdLst/>
              <a:ahLst/>
              <a:cxnLst/>
              <a:rect l="l" t="t" r="r" b="b"/>
              <a:pathLst>
                <a:path w="3086100" h="3086100">
                  <a:moveTo>
                    <a:pt x="0" y="0"/>
                  </a:moveTo>
                  <a:lnTo>
                    <a:pt x="3086100" y="0"/>
                  </a:lnTo>
                  <a:lnTo>
                    <a:pt x="3086100" y="3086100"/>
                  </a:lnTo>
                  <a:lnTo>
                    <a:pt x="0" y="3086100"/>
                  </a:lnTo>
                  <a:close/>
                </a:path>
              </a:pathLst>
            </a:custGeom>
            <a:solidFill>
              <a:srgbClr val="549E39"/>
            </a:solidFill>
          </p:spPr>
        </p:sp>
      </p:grpSp>
      <p:sp>
        <p:nvSpPr>
          <p:cNvPr id="9" name="TextBox 9"/>
          <p:cNvSpPr txBox="1"/>
          <p:nvPr/>
        </p:nvSpPr>
        <p:spPr>
          <a:xfrm>
            <a:off x="2202368" y="4401086"/>
            <a:ext cx="1281690" cy="1504950"/>
          </a:xfrm>
          <a:prstGeom prst="rect">
            <a:avLst/>
          </a:prstGeom>
        </p:spPr>
        <p:txBody>
          <a:bodyPr lIns="0" tIns="0" rIns="0" bIns="0" rtlCol="0" anchor="t">
            <a:spAutoFit/>
          </a:bodyPr>
          <a:lstStyle/>
          <a:p>
            <a:pPr algn="ctr">
              <a:lnSpc>
                <a:spcPts val="11880"/>
              </a:lnSpc>
            </a:pPr>
            <a:r>
              <a:rPr lang="en-US" sz="99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2</a:t>
            </a:r>
            <a:endParaRPr lang="en-US" sz="99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0" name="TextBox 10"/>
          <p:cNvSpPr txBox="1"/>
          <p:nvPr/>
        </p:nvSpPr>
        <p:spPr>
          <a:xfrm>
            <a:off x="4713472" y="4443026"/>
            <a:ext cx="3787433" cy="1095375"/>
          </a:xfrm>
          <a:prstGeom prst="rect">
            <a:avLst/>
          </a:prstGeom>
        </p:spPr>
        <p:txBody>
          <a:bodyPr lIns="0" tIns="0" rIns="0" bIns="0" rtlCol="0" anchor="t">
            <a:spAutoFit/>
          </a:bodyPr>
          <a:lstStyle/>
          <a:p>
            <a:pPr algn="l">
              <a:lnSpc>
                <a:spcPts val="8640"/>
              </a:lnSpc>
            </a:pPr>
            <a:r>
              <a:rPr lang="en-US" sz="72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项目介绍</a:t>
            </a:r>
            <a:endParaRPr lang="en-US" sz="72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1" name="Group 11"/>
          <p:cNvGrpSpPr>
            <a:grpSpLocks noChangeAspect="1"/>
          </p:cNvGrpSpPr>
          <p:nvPr/>
        </p:nvGrpSpPr>
        <p:grpSpPr>
          <a:xfrm rot="0">
            <a:off x="14723000" y="203883"/>
            <a:ext cx="3565001" cy="1101770"/>
            <a:chOff x="0" y="0"/>
            <a:chExt cx="4753334" cy="1469026"/>
          </a:xfrm>
        </p:grpSpPr>
        <p:sp>
          <p:nvSpPr>
            <p:cNvPr id="12" name="Freeform 12"/>
            <p:cNvSpPr/>
            <p:nvPr/>
          </p:nvSpPr>
          <p:spPr>
            <a:xfrm>
              <a:off x="0" y="0"/>
              <a:ext cx="4753356" cy="1469009"/>
            </a:xfrm>
            <a:custGeom>
              <a:avLst/>
              <a:gdLst/>
              <a:ahLst/>
              <a:cxnLst/>
              <a:rect l="l" t="t" r="r" b="b"/>
              <a:pathLst>
                <a:path w="4753356" h="1469009">
                  <a:moveTo>
                    <a:pt x="0" y="0"/>
                  </a:moveTo>
                  <a:lnTo>
                    <a:pt x="4753356" y="0"/>
                  </a:lnTo>
                  <a:lnTo>
                    <a:pt x="4753356" y="1469009"/>
                  </a:lnTo>
                  <a:lnTo>
                    <a:pt x="0" y="1469009"/>
                  </a:lnTo>
                  <a:lnTo>
                    <a:pt x="0" y="0"/>
                  </a:lnTo>
                  <a:close/>
                </a:path>
              </a:pathLst>
            </a:custGeom>
            <a:blipFill>
              <a:blip r:embed="rId3"/>
              <a:stretch>
                <a:fillRect t="-34825" b="-13078"/>
              </a:stretch>
            </a:blipFill>
          </p:spPr>
        </p:sp>
      </p:grpSp>
      <p:sp>
        <p:nvSpPr>
          <p:cNvPr id="13" name="TextBox 13"/>
          <p:cNvSpPr txBox="1"/>
          <p:nvPr/>
        </p:nvSpPr>
        <p:spPr>
          <a:xfrm>
            <a:off x="2402664" y="5672882"/>
            <a:ext cx="8962686" cy="409575"/>
          </a:xfrm>
          <a:prstGeom prst="rect">
            <a:avLst/>
          </a:prstGeom>
        </p:spPr>
        <p:txBody>
          <a:bodyPr lIns="0" tIns="0" rIns="0" bIns="0" rtlCol="0" anchor="t">
            <a:spAutoFit/>
          </a:bodyPr>
          <a:lstStyle/>
          <a:p>
            <a:pPr algn="ctr">
              <a:lnSpc>
                <a:spcPts val="3240"/>
              </a:lnSpc>
            </a:pPr>
            <a:r>
              <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PROJECT INTRODUCTION</a:t>
            </a:r>
            <a:endPar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4" name="Group 14"/>
          <p:cNvGrpSpPr>
            <a:grpSpLocks noChangeAspect="1"/>
          </p:cNvGrpSpPr>
          <p:nvPr/>
        </p:nvGrpSpPr>
        <p:grpSpPr>
          <a:xfrm rot="0">
            <a:off x="11051896" y="372126"/>
            <a:ext cx="3466641" cy="765282"/>
            <a:chOff x="0" y="0"/>
            <a:chExt cx="4622188" cy="1020376"/>
          </a:xfrm>
        </p:grpSpPr>
        <p:sp>
          <p:nvSpPr>
            <p:cNvPr id="15" name="Freeform 15"/>
            <p:cNvSpPr/>
            <p:nvPr/>
          </p:nvSpPr>
          <p:spPr>
            <a:xfrm>
              <a:off x="0" y="0"/>
              <a:ext cx="4622165" cy="1020318"/>
            </a:xfrm>
            <a:custGeom>
              <a:avLst/>
              <a:gdLst/>
              <a:ahLst/>
              <a:cxnLst/>
              <a:rect l="l" t="t" r="r" b="b"/>
              <a:pathLst>
                <a:path w="4622165" h="1020318">
                  <a:moveTo>
                    <a:pt x="0" y="0"/>
                  </a:moveTo>
                  <a:lnTo>
                    <a:pt x="4622165" y="0"/>
                  </a:lnTo>
                  <a:lnTo>
                    <a:pt x="4622165" y="1020318"/>
                  </a:lnTo>
                  <a:lnTo>
                    <a:pt x="0" y="1020318"/>
                  </a:lnTo>
                  <a:lnTo>
                    <a:pt x="0" y="0"/>
                  </a:lnTo>
                  <a:close/>
                </a:path>
              </a:pathLst>
            </a:custGeom>
            <a:blipFill>
              <a:blip r:embed="rId4"/>
              <a:stretch>
                <a:fillRect b="-5"/>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TextBox 5"/>
          <p:cNvSpPr txBox="1"/>
          <p:nvPr/>
        </p:nvSpPr>
        <p:spPr>
          <a:xfrm>
            <a:off x="189999" y="348244"/>
            <a:ext cx="518661" cy="63817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2</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1143186" y="263128"/>
            <a:ext cx="2556328" cy="723900"/>
          </a:xfrm>
          <a:prstGeom prst="rect">
            <a:avLst/>
          </a:prstGeom>
        </p:spPr>
        <p:txBody>
          <a:bodyPr lIns="0" tIns="0" rIns="0" bIns="0" rtlCol="0" anchor="t">
            <a:spAutoFit/>
          </a:bodyPr>
          <a:lstStyle/>
          <a:p>
            <a:pPr algn="l">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项目介绍</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7" name="Group 7"/>
          <p:cNvGrpSpPr/>
          <p:nvPr/>
        </p:nvGrpSpPr>
        <p:grpSpPr>
          <a:xfrm rot="0">
            <a:off x="3876596" y="326236"/>
            <a:ext cx="15125700" cy="492914"/>
            <a:chOff x="0" y="0"/>
            <a:chExt cx="20167600" cy="657218"/>
          </a:xfrm>
        </p:grpSpPr>
        <p:sp>
          <p:nvSpPr>
            <p:cNvPr id="8" name="Freeform 8"/>
            <p:cNvSpPr/>
            <p:nvPr/>
          </p:nvSpPr>
          <p:spPr>
            <a:xfrm>
              <a:off x="0" y="0"/>
              <a:ext cx="20167600" cy="657225"/>
            </a:xfrm>
            <a:custGeom>
              <a:avLst/>
              <a:gdLst/>
              <a:ahLst/>
              <a:cxnLst/>
              <a:rect l="l" t="t" r="r" b="b"/>
              <a:pathLst>
                <a:path w="20167600" h="657225">
                  <a:moveTo>
                    <a:pt x="0" y="328549"/>
                  </a:moveTo>
                  <a:cubicBezTo>
                    <a:pt x="0" y="147066"/>
                    <a:pt x="147066" y="0"/>
                    <a:pt x="328549" y="0"/>
                  </a:cubicBezTo>
                  <a:lnTo>
                    <a:pt x="19839051" y="0"/>
                  </a:lnTo>
                  <a:cubicBezTo>
                    <a:pt x="20020535" y="0"/>
                    <a:pt x="20167600" y="147066"/>
                    <a:pt x="20167600" y="328549"/>
                  </a:cubicBezTo>
                  <a:cubicBezTo>
                    <a:pt x="20167600" y="510032"/>
                    <a:pt x="20020535" y="657098"/>
                    <a:pt x="19839051" y="657098"/>
                  </a:cubicBezTo>
                  <a:lnTo>
                    <a:pt x="328549" y="657098"/>
                  </a:lnTo>
                  <a:cubicBezTo>
                    <a:pt x="147066" y="657225"/>
                    <a:pt x="0" y="510032"/>
                    <a:pt x="0" y="328549"/>
                  </a:cubicBezTo>
                  <a:close/>
                </a:path>
              </a:pathLst>
            </a:custGeom>
            <a:solidFill>
              <a:srgbClr val="014924"/>
            </a:solidFill>
          </p:spPr>
        </p:sp>
      </p:grpSp>
      <p:grpSp>
        <p:nvGrpSpPr>
          <p:cNvPr id="9" name="Group 9"/>
          <p:cNvGrpSpPr/>
          <p:nvPr/>
        </p:nvGrpSpPr>
        <p:grpSpPr>
          <a:xfrm rot="0">
            <a:off x="3895646" y="931548"/>
            <a:ext cx="15125700" cy="54000"/>
            <a:chOff x="0" y="0"/>
            <a:chExt cx="20167600" cy="72000"/>
          </a:xfrm>
        </p:grpSpPr>
        <p:sp>
          <p:nvSpPr>
            <p:cNvPr id="10" name="Freeform 10"/>
            <p:cNvSpPr/>
            <p:nvPr/>
          </p:nvSpPr>
          <p:spPr>
            <a:xfrm>
              <a:off x="0" y="0"/>
              <a:ext cx="20167600" cy="72009"/>
            </a:xfrm>
            <a:custGeom>
              <a:avLst/>
              <a:gdLst/>
              <a:ahLst/>
              <a:cxnLst/>
              <a:rect l="l" t="t" r="r" b="b"/>
              <a:pathLst>
                <a:path w="20167600" h="72009">
                  <a:moveTo>
                    <a:pt x="0" y="35941"/>
                  </a:moveTo>
                  <a:cubicBezTo>
                    <a:pt x="0" y="55880"/>
                    <a:pt x="16129" y="72009"/>
                    <a:pt x="35941" y="72009"/>
                  </a:cubicBezTo>
                  <a:lnTo>
                    <a:pt x="20131660" y="72009"/>
                  </a:lnTo>
                  <a:cubicBezTo>
                    <a:pt x="20151598" y="72009"/>
                    <a:pt x="20167600" y="55880"/>
                    <a:pt x="20167600" y="36068"/>
                  </a:cubicBezTo>
                  <a:cubicBezTo>
                    <a:pt x="20167600" y="16256"/>
                    <a:pt x="20151471" y="0"/>
                    <a:pt x="20131660" y="0"/>
                  </a:cubicBezTo>
                  <a:lnTo>
                    <a:pt x="35941" y="0"/>
                  </a:lnTo>
                  <a:cubicBezTo>
                    <a:pt x="16129" y="0"/>
                    <a:pt x="0" y="16129"/>
                    <a:pt x="0" y="35941"/>
                  </a:cubicBezTo>
                  <a:close/>
                </a:path>
              </a:pathLst>
            </a:custGeom>
            <a:solidFill>
              <a:srgbClr val="014924"/>
            </a:solidFill>
          </p:spPr>
        </p:sp>
      </p:grpSp>
      <p:sp>
        <p:nvSpPr>
          <p:cNvPr id="11" name="TextBox 11"/>
          <p:cNvSpPr txBox="1"/>
          <p:nvPr/>
        </p:nvSpPr>
        <p:spPr>
          <a:xfrm>
            <a:off x="3968032" y="386342"/>
            <a:ext cx="2944415" cy="266700"/>
          </a:xfrm>
          <a:prstGeom prst="rect">
            <a:avLst/>
          </a:prstGeom>
        </p:spPr>
        <p:txBody>
          <a:bodyPr lIns="0" tIns="0" rIns="0" bIns="0" rtlCol="0" anchor="t">
            <a:spAutoFit/>
          </a:bodyPr>
          <a:lstStyle/>
          <a:p>
            <a:pPr algn="ctr">
              <a:lnSpc>
                <a:spcPts val="2160"/>
              </a:lnSpc>
            </a:pPr>
            <a:r>
              <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PROJECT INTRODUCTION</a:t>
            </a:r>
            <a:endPar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2" name="Group 12"/>
          <p:cNvGrpSpPr>
            <a:grpSpLocks noChangeAspect="1"/>
          </p:cNvGrpSpPr>
          <p:nvPr/>
        </p:nvGrpSpPr>
        <p:grpSpPr>
          <a:xfrm rot="0">
            <a:off x="16100484" y="264381"/>
            <a:ext cx="1896959" cy="667167"/>
            <a:chOff x="0" y="0"/>
            <a:chExt cx="2529278" cy="889556"/>
          </a:xfrm>
        </p:grpSpPr>
        <p:sp>
          <p:nvSpPr>
            <p:cNvPr id="13" name="Freeform 13"/>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1"/>
              <a:stretch>
                <a:fillRect t="-29960" r="2" b="-53"/>
              </a:stretch>
            </a:blipFill>
          </p:spPr>
        </p:sp>
      </p:grpSp>
      <p:pic>
        <p:nvPicPr>
          <p:cNvPr id="17" name="图片 16" descr="1755259813771"/>
          <p:cNvPicPr>
            <a:picLocks noChangeAspect="1"/>
          </p:cNvPicPr>
          <p:nvPr/>
        </p:nvPicPr>
        <p:blipFill>
          <a:blip r:embed="rId2"/>
          <a:stretch>
            <a:fillRect/>
          </a:stretch>
        </p:blipFill>
        <p:spPr>
          <a:xfrm>
            <a:off x="1280160" y="2552700"/>
            <a:ext cx="15452090" cy="7063105"/>
          </a:xfrm>
          <a:prstGeom prst="rect">
            <a:avLst/>
          </a:prstGeom>
        </p:spPr>
      </p:pic>
      <p:grpSp>
        <p:nvGrpSpPr>
          <p:cNvPr id="18" name="Group 8"/>
          <p:cNvGrpSpPr/>
          <p:nvPr/>
        </p:nvGrpSpPr>
        <p:grpSpPr>
          <a:xfrm rot="0">
            <a:off x="0" y="1285875"/>
            <a:ext cx="5163820" cy="1145131"/>
            <a:chOff x="0" y="0"/>
            <a:chExt cx="8597416" cy="1498644"/>
          </a:xfrm>
        </p:grpSpPr>
        <p:sp>
          <p:nvSpPr>
            <p:cNvPr id="19" name="Freeform 9"/>
            <p:cNvSpPr/>
            <p:nvPr/>
          </p:nvSpPr>
          <p:spPr>
            <a:xfrm>
              <a:off x="0" y="0"/>
              <a:ext cx="8597416" cy="1498644"/>
            </a:xfrm>
            <a:custGeom>
              <a:avLst/>
              <a:gdLst/>
              <a:ahLst/>
              <a:cxnLst/>
              <a:rect l="l" t="t" r="r" b="b"/>
              <a:pathLst>
                <a:path w="8597416" h="1498644">
                  <a:moveTo>
                    <a:pt x="0" y="0"/>
                  </a:moveTo>
                  <a:lnTo>
                    <a:pt x="8597416" y="0"/>
                  </a:lnTo>
                  <a:lnTo>
                    <a:pt x="8597416" y="1498644"/>
                  </a:lnTo>
                  <a:lnTo>
                    <a:pt x="0" y="1498644"/>
                  </a:lnTo>
                  <a:close/>
                </a:path>
              </a:pathLst>
            </a:custGeom>
            <a:solidFill>
              <a:srgbClr val="014924"/>
            </a:solidFill>
          </p:spPr>
        </p:sp>
        <p:sp>
          <p:nvSpPr>
            <p:cNvPr id="20" name="TextBox 10"/>
            <p:cNvSpPr txBox="1"/>
            <p:nvPr/>
          </p:nvSpPr>
          <p:spPr>
            <a:xfrm>
              <a:off x="761207" y="560946"/>
              <a:ext cx="7113061" cy="837679"/>
            </a:xfrm>
            <a:prstGeom prst="rect">
              <a:avLst/>
            </a:prstGeom>
          </p:spPr>
          <p:txBody>
            <a:bodyPr lIns="51756" tIns="51756" rIns="51756" bIns="51756" rtlCol="0" anchor="ctr"/>
            <a:p>
              <a:pPr algn="ctr">
                <a:lnSpc>
                  <a:spcPts val="3300"/>
                </a:lnSpc>
              </a:pPr>
              <a:r>
                <a:rPr lang="zh-CN" altLang="en-US" sz="44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项目开发历程</a:t>
              </a:r>
              <a:endParaRPr lang="zh-CN" altLang="en-US" sz="44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16100484" y="264381"/>
            <a:ext cx="1896959" cy="667167"/>
            <a:chOff x="0" y="0"/>
            <a:chExt cx="2529278" cy="889556"/>
          </a:xfrm>
        </p:grpSpPr>
        <p:sp>
          <p:nvSpPr>
            <p:cNvPr id="4" name="Freeform 4"/>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grpSp>
        <p:nvGrpSpPr>
          <p:cNvPr id="5" name="Group 5"/>
          <p:cNvGrpSpPr/>
          <p:nvPr/>
        </p:nvGrpSpPr>
        <p:grpSpPr>
          <a:xfrm rot="0">
            <a:off x="-381000" y="284064"/>
            <a:ext cx="1347105" cy="659502"/>
            <a:chOff x="0" y="0"/>
            <a:chExt cx="1796140" cy="879336"/>
          </a:xfrm>
        </p:grpSpPr>
        <p:sp>
          <p:nvSpPr>
            <p:cNvPr id="6" name="Freeform 6"/>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7" name="Freeform 7"/>
          <p:cNvSpPr/>
          <p:nvPr/>
        </p:nvSpPr>
        <p:spPr>
          <a:xfrm>
            <a:off x="3876596" y="326236"/>
            <a:ext cx="15144750" cy="659311"/>
          </a:xfrm>
          <a:custGeom>
            <a:avLst/>
            <a:gdLst/>
            <a:ahLst/>
            <a:cxnLst/>
            <a:rect l="l" t="t" r="r" b="b"/>
            <a:pathLst>
              <a:path w="15144750" h="659311">
                <a:moveTo>
                  <a:pt x="0" y="0"/>
                </a:moveTo>
                <a:lnTo>
                  <a:pt x="15144750" y="0"/>
                </a:lnTo>
                <a:lnTo>
                  <a:pt x="15144750" y="659312"/>
                </a:lnTo>
                <a:lnTo>
                  <a:pt x="0" y="6593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a:grpSpLocks noChangeAspect="1"/>
          </p:cNvGrpSpPr>
          <p:nvPr/>
        </p:nvGrpSpPr>
        <p:grpSpPr>
          <a:xfrm rot="0">
            <a:off x="16100484" y="264381"/>
            <a:ext cx="1896959" cy="667167"/>
            <a:chOff x="0" y="0"/>
            <a:chExt cx="2529278" cy="889556"/>
          </a:xfrm>
        </p:grpSpPr>
        <p:sp>
          <p:nvSpPr>
            <p:cNvPr id="9" name="Freeform 9"/>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sp>
        <p:nvSpPr>
          <p:cNvPr id="11" name="TextBox 11"/>
          <p:cNvSpPr txBox="1"/>
          <p:nvPr/>
        </p:nvSpPr>
        <p:spPr>
          <a:xfrm>
            <a:off x="189999" y="291684"/>
            <a:ext cx="518661" cy="64579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2</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2" name="TextBox 12"/>
          <p:cNvSpPr txBox="1"/>
          <p:nvPr/>
        </p:nvSpPr>
        <p:spPr>
          <a:xfrm>
            <a:off x="1143186" y="263128"/>
            <a:ext cx="2556328" cy="738505"/>
          </a:xfrm>
          <a:prstGeom prst="rect">
            <a:avLst/>
          </a:prstGeom>
        </p:spPr>
        <p:txBody>
          <a:bodyPr lIns="0" tIns="0" rIns="0" bIns="0" rtlCol="0" anchor="t">
            <a:spAutoFit/>
          </a:bodyPr>
          <a:lstStyle/>
          <a:p>
            <a:pPr algn="l">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项目</a:t>
            </a:r>
            <a:r>
              <a:rPr lang="zh-CN" alt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介绍</a:t>
            </a:r>
            <a:endParaRPr lang="zh-CN" alt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3" name="TextBox 13"/>
          <p:cNvSpPr txBox="1"/>
          <p:nvPr/>
        </p:nvSpPr>
        <p:spPr>
          <a:xfrm>
            <a:off x="3987082" y="435935"/>
            <a:ext cx="2490146" cy="276860"/>
          </a:xfrm>
          <a:prstGeom prst="rect">
            <a:avLst/>
          </a:prstGeom>
        </p:spPr>
        <p:txBody>
          <a:bodyPr lIns="0" tIns="0" rIns="0" bIns="0" rtlCol="0" anchor="t">
            <a:spAutoFit/>
          </a:bodyPr>
          <a:lstStyle/>
          <a:p>
            <a:pPr algn="ctr">
              <a:lnSpc>
                <a:spcPts val="2160"/>
              </a:lnSpc>
            </a:pPr>
            <a:r>
              <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PROJECT </a:t>
            </a:r>
            <a:r>
              <a:rPr lang="en-US">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INTRODUCTION</a:t>
            </a:r>
            <a:endPar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4" name="Group 14"/>
          <p:cNvGrpSpPr/>
          <p:nvPr/>
        </p:nvGrpSpPr>
        <p:grpSpPr>
          <a:xfrm rot="0">
            <a:off x="-76200" y="1099185"/>
            <a:ext cx="4578985" cy="1197610"/>
            <a:chOff x="0" y="0"/>
            <a:chExt cx="4874022" cy="1900083"/>
          </a:xfrm>
        </p:grpSpPr>
        <p:sp>
          <p:nvSpPr>
            <p:cNvPr id="15" name="Freeform 15"/>
            <p:cNvSpPr/>
            <p:nvPr/>
          </p:nvSpPr>
          <p:spPr>
            <a:xfrm>
              <a:off x="0" y="0"/>
              <a:ext cx="4874022" cy="1900083"/>
            </a:xfrm>
            <a:custGeom>
              <a:avLst/>
              <a:gdLst/>
              <a:ahLst/>
              <a:cxnLst/>
              <a:rect l="l" t="t" r="r" b="b"/>
              <a:pathLst>
                <a:path w="4874022" h="1900083">
                  <a:moveTo>
                    <a:pt x="0" y="0"/>
                  </a:moveTo>
                  <a:lnTo>
                    <a:pt x="4874022" y="0"/>
                  </a:lnTo>
                  <a:lnTo>
                    <a:pt x="4874022" y="1900083"/>
                  </a:lnTo>
                  <a:lnTo>
                    <a:pt x="0" y="1900083"/>
                  </a:lnTo>
                  <a:close/>
                </a:path>
              </a:pathLst>
            </a:custGeom>
            <a:solidFill>
              <a:srgbClr val="014924"/>
            </a:solidFill>
          </p:spPr>
        </p:sp>
        <p:sp>
          <p:nvSpPr>
            <p:cNvPr id="16" name="TextBox 16"/>
            <p:cNvSpPr txBox="1"/>
            <p:nvPr/>
          </p:nvSpPr>
          <p:spPr>
            <a:xfrm>
              <a:off x="0" y="9525"/>
              <a:ext cx="4874022" cy="1890558"/>
            </a:xfrm>
            <a:prstGeom prst="rect">
              <a:avLst/>
            </a:prstGeom>
          </p:spPr>
          <p:txBody>
            <a:bodyPr lIns="50800" tIns="50800" rIns="50800" bIns="50800" rtlCol="0" anchor="ctr"/>
            <a:lstStyle/>
            <a:p>
              <a:pPr algn="ctr">
                <a:lnSpc>
                  <a:spcPts val="4200"/>
                </a:lnSpc>
              </a:pPr>
              <a:r>
                <a:rPr lang="en-US" sz="3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项目</a:t>
              </a:r>
              <a:r>
                <a:rPr lang="zh-CN" altLang="en-US" sz="3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平台</a:t>
              </a:r>
              <a:endParaRPr lang="zh-CN" altLang="en-US" sz="3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pic>
        <p:nvPicPr>
          <p:cNvPr id="21" name="图片 20"/>
          <p:cNvPicPr>
            <a:picLocks noChangeAspect="1"/>
          </p:cNvPicPr>
          <p:nvPr/>
        </p:nvPicPr>
        <p:blipFill>
          <a:blip r:embed="rId5"/>
          <a:stretch>
            <a:fillRect/>
          </a:stretch>
        </p:blipFill>
        <p:spPr>
          <a:xfrm>
            <a:off x="9829800" y="4000500"/>
            <a:ext cx="7188200" cy="5221605"/>
          </a:xfrm>
          <a:prstGeom prst="rect">
            <a:avLst/>
          </a:prstGeom>
        </p:spPr>
      </p:pic>
      <p:sp>
        <p:nvSpPr>
          <p:cNvPr id="22" name="文本框 21"/>
          <p:cNvSpPr txBox="1"/>
          <p:nvPr/>
        </p:nvSpPr>
        <p:spPr>
          <a:xfrm>
            <a:off x="809625" y="2826385"/>
            <a:ext cx="18211800" cy="645160"/>
          </a:xfrm>
          <a:prstGeom prst="rect">
            <a:avLst/>
          </a:prstGeom>
          <a:noFill/>
        </p:spPr>
        <p:txBody>
          <a:bodyPr wrap="square" rtlCol="0">
            <a:spAutoFit/>
          </a:bodyPr>
          <a:p>
            <a:r>
              <a:rPr lang="zh-CN" altLang="en-US" sz="3600"/>
              <a:t>VMware 搭建整体内核框架（x86）</a:t>
            </a:r>
            <a:r>
              <a:rPr lang="en-US" altLang="zh-CN" sz="3600"/>
              <a:t>---&gt;</a:t>
            </a:r>
            <a:r>
              <a:rPr lang="zh-CN" altLang="en-US" sz="3600"/>
              <a:t>Qemu 仿真测试</a:t>
            </a:r>
            <a:r>
              <a:rPr lang="en-US" altLang="zh-CN" sz="3600"/>
              <a:t>---&gt;</a:t>
            </a:r>
            <a:r>
              <a:rPr lang="zh-CN" altLang="en-US" sz="3600"/>
              <a:t>树莓派实机测试（arm）</a:t>
            </a:r>
            <a:endParaRPr lang="zh-CN" altLang="en-US" sz="3600"/>
          </a:p>
        </p:txBody>
      </p:sp>
      <p:pic>
        <p:nvPicPr>
          <p:cNvPr id="23" name="图片 22"/>
          <p:cNvPicPr>
            <a:picLocks noChangeAspect="1"/>
          </p:cNvPicPr>
          <p:nvPr/>
        </p:nvPicPr>
        <p:blipFill>
          <a:blip r:embed="rId6"/>
          <a:stretch>
            <a:fillRect/>
          </a:stretch>
        </p:blipFill>
        <p:spPr>
          <a:xfrm>
            <a:off x="457200" y="3924300"/>
            <a:ext cx="7649210" cy="5202555"/>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TextBox 5"/>
          <p:cNvSpPr txBox="1"/>
          <p:nvPr/>
        </p:nvSpPr>
        <p:spPr>
          <a:xfrm>
            <a:off x="189999" y="348244"/>
            <a:ext cx="518661" cy="63817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2</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1143186" y="263128"/>
            <a:ext cx="2556328" cy="723900"/>
          </a:xfrm>
          <a:prstGeom prst="rect">
            <a:avLst/>
          </a:prstGeom>
        </p:spPr>
        <p:txBody>
          <a:bodyPr lIns="0" tIns="0" rIns="0" bIns="0" rtlCol="0" anchor="t">
            <a:spAutoFit/>
          </a:bodyPr>
          <a:lstStyle/>
          <a:p>
            <a:pPr algn="l">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项目介绍</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7" name="Group 7"/>
          <p:cNvGrpSpPr/>
          <p:nvPr/>
        </p:nvGrpSpPr>
        <p:grpSpPr>
          <a:xfrm rot="0">
            <a:off x="3876596" y="326236"/>
            <a:ext cx="15125700" cy="492914"/>
            <a:chOff x="0" y="0"/>
            <a:chExt cx="20167600" cy="657218"/>
          </a:xfrm>
        </p:grpSpPr>
        <p:sp>
          <p:nvSpPr>
            <p:cNvPr id="8" name="Freeform 8"/>
            <p:cNvSpPr/>
            <p:nvPr/>
          </p:nvSpPr>
          <p:spPr>
            <a:xfrm>
              <a:off x="0" y="0"/>
              <a:ext cx="20167600" cy="657225"/>
            </a:xfrm>
            <a:custGeom>
              <a:avLst/>
              <a:gdLst/>
              <a:ahLst/>
              <a:cxnLst/>
              <a:rect l="l" t="t" r="r" b="b"/>
              <a:pathLst>
                <a:path w="20167600" h="657225">
                  <a:moveTo>
                    <a:pt x="0" y="328549"/>
                  </a:moveTo>
                  <a:cubicBezTo>
                    <a:pt x="0" y="147066"/>
                    <a:pt x="147066" y="0"/>
                    <a:pt x="328549" y="0"/>
                  </a:cubicBezTo>
                  <a:lnTo>
                    <a:pt x="19839051" y="0"/>
                  </a:lnTo>
                  <a:cubicBezTo>
                    <a:pt x="20020535" y="0"/>
                    <a:pt x="20167600" y="147066"/>
                    <a:pt x="20167600" y="328549"/>
                  </a:cubicBezTo>
                  <a:cubicBezTo>
                    <a:pt x="20167600" y="510032"/>
                    <a:pt x="20020535" y="657098"/>
                    <a:pt x="19839051" y="657098"/>
                  </a:cubicBezTo>
                  <a:lnTo>
                    <a:pt x="328549" y="657098"/>
                  </a:lnTo>
                  <a:cubicBezTo>
                    <a:pt x="147066" y="657225"/>
                    <a:pt x="0" y="510032"/>
                    <a:pt x="0" y="328549"/>
                  </a:cubicBezTo>
                  <a:close/>
                </a:path>
              </a:pathLst>
            </a:custGeom>
            <a:solidFill>
              <a:srgbClr val="014924"/>
            </a:solidFill>
          </p:spPr>
        </p:sp>
      </p:grpSp>
      <p:grpSp>
        <p:nvGrpSpPr>
          <p:cNvPr id="9" name="Group 9"/>
          <p:cNvGrpSpPr/>
          <p:nvPr/>
        </p:nvGrpSpPr>
        <p:grpSpPr>
          <a:xfrm rot="0">
            <a:off x="3895646" y="931548"/>
            <a:ext cx="15125700" cy="54000"/>
            <a:chOff x="0" y="0"/>
            <a:chExt cx="20167600" cy="72000"/>
          </a:xfrm>
        </p:grpSpPr>
        <p:sp>
          <p:nvSpPr>
            <p:cNvPr id="10" name="Freeform 10"/>
            <p:cNvSpPr/>
            <p:nvPr/>
          </p:nvSpPr>
          <p:spPr>
            <a:xfrm>
              <a:off x="0" y="0"/>
              <a:ext cx="20167600" cy="72009"/>
            </a:xfrm>
            <a:custGeom>
              <a:avLst/>
              <a:gdLst/>
              <a:ahLst/>
              <a:cxnLst/>
              <a:rect l="l" t="t" r="r" b="b"/>
              <a:pathLst>
                <a:path w="20167600" h="72009">
                  <a:moveTo>
                    <a:pt x="0" y="35941"/>
                  </a:moveTo>
                  <a:cubicBezTo>
                    <a:pt x="0" y="55880"/>
                    <a:pt x="16129" y="72009"/>
                    <a:pt x="35941" y="72009"/>
                  </a:cubicBezTo>
                  <a:lnTo>
                    <a:pt x="20131660" y="72009"/>
                  </a:lnTo>
                  <a:cubicBezTo>
                    <a:pt x="20151598" y="72009"/>
                    <a:pt x="20167600" y="55880"/>
                    <a:pt x="20167600" y="36068"/>
                  </a:cubicBezTo>
                  <a:cubicBezTo>
                    <a:pt x="20167600" y="16256"/>
                    <a:pt x="20151471" y="0"/>
                    <a:pt x="20131660" y="0"/>
                  </a:cubicBezTo>
                  <a:lnTo>
                    <a:pt x="35941" y="0"/>
                  </a:lnTo>
                  <a:cubicBezTo>
                    <a:pt x="16129" y="0"/>
                    <a:pt x="0" y="16129"/>
                    <a:pt x="0" y="35941"/>
                  </a:cubicBezTo>
                  <a:close/>
                </a:path>
              </a:pathLst>
            </a:custGeom>
            <a:solidFill>
              <a:srgbClr val="014924"/>
            </a:solidFill>
          </p:spPr>
        </p:sp>
      </p:grpSp>
      <p:sp>
        <p:nvSpPr>
          <p:cNvPr id="11" name="TextBox 11"/>
          <p:cNvSpPr txBox="1"/>
          <p:nvPr/>
        </p:nvSpPr>
        <p:spPr>
          <a:xfrm>
            <a:off x="3968032" y="386342"/>
            <a:ext cx="2944415" cy="266700"/>
          </a:xfrm>
          <a:prstGeom prst="rect">
            <a:avLst/>
          </a:prstGeom>
        </p:spPr>
        <p:txBody>
          <a:bodyPr lIns="0" tIns="0" rIns="0" bIns="0" rtlCol="0" anchor="t">
            <a:spAutoFit/>
          </a:bodyPr>
          <a:lstStyle/>
          <a:p>
            <a:pPr algn="ctr">
              <a:lnSpc>
                <a:spcPts val="2160"/>
              </a:lnSpc>
            </a:pPr>
            <a:r>
              <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PROJECT INTRODUCTION</a:t>
            </a:r>
            <a:endPar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2" name="Group 12"/>
          <p:cNvGrpSpPr>
            <a:grpSpLocks noChangeAspect="1"/>
          </p:cNvGrpSpPr>
          <p:nvPr/>
        </p:nvGrpSpPr>
        <p:grpSpPr>
          <a:xfrm rot="0">
            <a:off x="16100484" y="264381"/>
            <a:ext cx="1896959" cy="667167"/>
            <a:chOff x="0" y="0"/>
            <a:chExt cx="2529278" cy="889556"/>
          </a:xfrm>
        </p:grpSpPr>
        <p:sp>
          <p:nvSpPr>
            <p:cNvPr id="13" name="Freeform 13"/>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graphicFrame>
        <p:nvGraphicFramePr>
          <p:cNvPr id="15" name="Table 15"/>
          <p:cNvGraphicFramePr>
            <a:graphicFrameLocks noGrp="1"/>
          </p:cNvGraphicFramePr>
          <p:nvPr>
            <p:custDataLst>
              <p:tags r:id="rId3"/>
            </p:custDataLst>
          </p:nvPr>
        </p:nvGraphicFramePr>
        <p:xfrm>
          <a:off x="457200" y="2281555"/>
          <a:ext cx="17120235" cy="7519035"/>
        </p:xfrm>
        <a:graphic>
          <a:graphicData uri="http://schemas.openxmlformats.org/drawingml/2006/table">
            <a:tbl>
              <a:tblPr/>
              <a:tblGrid>
                <a:gridCol w="9043035"/>
                <a:gridCol w="8077200"/>
              </a:tblGrid>
              <a:tr h="1184910">
                <a:tc>
                  <a:txBody>
                    <a:bodyPr rtlCol="0"/>
                    <a:lstStyle/>
                    <a:p>
                      <a:pPr algn="ctr">
                        <a:lnSpc>
                          <a:spcPts val="3360"/>
                        </a:lnSpc>
                        <a:defRPr/>
                      </a:pPr>
                      <a:r>
                        <a:rPr lang="en-US" sz="40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赛题行动项</a:t>
                      </a:r>
                      <a:endParaRPr lang="en-US" sz="40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49E39"/>
                    </a:solidFill>
                  </a:tcPr>
                </a:tc>
                <a:tc>
                  <a:txBody>
                    <a:bodyPr rtlCol="0"/>
                    <a:lstStyle/>
                    <a:p>
                      <a:pPr algn="ctr">
                        <a:lnSpc>
                          <a:spcPts val="3360"/>
                        </a:lnSpc>
                        <a:defRPr/>
                      </a:pPr>
                      <a:r>
                        <a:rPr lang="en-US" sz="4000">
                          <a:solidFill>
                            <a:schemeClr val="bg1"/>
                          </a:solidFill>
                          <a:latin typeface="思源黑体" panose="020B0500000000000000" charset="-122"/>
                          <a:ea typeface="思源黑体" panose="020B0500000000000000" charset="-122"/>
                          <a:cs typeface="思源黑体" panose="020B0500000000000000" charset="-122"/>
                          <a:sym typeface="思源黑体" panose="020B0500000000000000" charset="-122"/>
                        </a:rPr>
                        <a:t>完成情况</a:t>
                      </a:r>
                      <a:endParaRPr lang="en-US" sz="4000">
                        <a:solidFill>
                          <a:schemeClr val="bg1"/>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49E39"/>
                    </a:solidFill>
                  </a:tcPr>
                </a:tc>
              </a:tr>
              <a:tr h="1597025">
                <a:tc>
                  <a:txBody>
                    <a:bodyPr rtlCol="0"/>
                    <a:lstStyle/>
                    <a:p>
                      <a:pPr algn="l">
                        <a:lnSpc>
                          <a:spcPts val="3360"/>
                        </a:lnSpc>
                        <a:defRPr/>
                      </a:pPr>
                      <a:r>
                        <a:rPr lang="en-US" sz="2800" b="1">
                          <a:solidFill>
                            <a:srgbClr val="000000"/>
                          </a:solidFill>
                          <a:latin typeface="Calibri (MS)" panose="020F0502020204030204"/>
                          <a:ea typeface="Calibri (MS)" panose="020F0502020204030204"/>
                          <a:cs typeface="Calibri (MS)" panose="020F0502020204030204"/>
                          <a:sym typeface="Calibri (MS)" panose="020F0502020204030204"/>
                        </a:rPr>
                        <a:t>【行动项1】 设计轻量化内核调度类，替代CFS复杂机制</a:t>
                      </a:r>
                      <a:endParaRPr lang="en-US" sz="1100" b="1"/>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c>
                  <a:txBody>
                    <a:bodyPr rtlCol="0"/>
                    <a:lstStyle/>
                    <a:p>
                      <a:pPr algn="l">
                        <a:lnSpc>
                          <a:spcPts val="3360"/>
                        </a:lnSpc>
                        <a:defRPr/>
                      </a:pPr>
                      <a:r>
                        <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实现SCHED_YAT_CASCHED调度策略，精简数据结构，</a:t>
                      </a:r>
                      <a:r>
                        <a:rPr lang="en-US" sz="2800" b="1">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降低调度开销</a:t>
                      </a:r>
                      <a:r>
                        <a:rPr lang="zh-CN" alt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a:t>
                      </a:r>
                      <a:endParaRPr lang="zh-CN" alt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r>
              <a:tr h="1578610">
                <a:tc>
                  <a:txBody>
                    <a:bodyPr rtlCol="0"/>
                    <a:lstStyle/>
                    <a:p>
                      <a:pPr algn="l">
                        <a:lnSpc>
                          <a:spcPts val="3360"/>
                        </a:lnSpc>
                        <a:defRPr/>
                      </a:pPr>
                      <a:r>
                        <a:rPr lang="en-US" sz="2800" b="1">
                          <a:solidFill>
                            <a:srgbClr val="000000"/>
                          </a:solidFill>
                          <a:latin typeface="Calibri (MS)" panose="020F0502020204030204"/>
                          <a:ea typeface="Calibri (MS)" panose="020F0502020204030204"/>
                          <a:cs typeface="Calibri (MS)" panose="020F0502020204030204"/>
                          <a:sym typeface="Calibri (MS)" panose="020F0502020204030204"/>
                        </a:rPr>
                        <a:t>【行动项2】 支持关键进程优先调度与抢占</a:t>
                      </a:r>
                      <a:endParaRPr lang="en-US" sz="1100" b="1"/>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8"/>
                    </a:solidFill>
                  </a:tcPr>
                </a:tc>
                <a:tc>
                  <a:txBody>
                    <a:bodyPr rtlCol="0"/>
                    <a:lstStyle/>
                    <a:p>
                      <a:pPr algn="l">
                        <a:lnSpc>
                          <a:spcPts val="3360"/>
                        </a:lnSpc>
                        <a:defRPr/>
                      </a:pPr>
                      <a:r>
                        <a:rPr lang="zh-CN" alt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实现</a:t>
                      </a:r>
                      <a:r>
                        <a:rPr lang="zh-CN" altLang="en-US" sz="2800" b="1">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伪抢占</a:t>
                      </a:r>
                      <a:r>
                        <a:rPr lang="en-US" sz="2800" b="1">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，优先级高的任务优先</a:t>
                      </a:r>
                      <a:r>
                        <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，关键任务可抢占普通任务</a:t>
                      </a:r>
                      <a:r>
                        <a:rPr lang="zh-CN" alt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a:t>
                      </a:r>
                      <a:endParaRPr lang="zh-CN" alt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8"/>
                    </a:solidFill>
                  </a:tcPr>
                </a:tc>
              </a:tr>
              <a:tr h="1579880">
                <a:tc>
                  <a:txBody>
                    <a:bodyPr rtlCol="0"/>
                    <a:lstStyle/>
                    <a:p>
                      <a:pPr algn="l">
                        <a:lnSpc>
                          <a:spcPts val="3360"/>
                        </a:lnSpc>
                        <a:defRPr/>
                      </a:pPr>
                      <a:r>
                        <a:rPr lang="en-US" sz="2800" b="1">
                          <a:solidFill>
                            <a:srgbClr val="000000"/>
                          </a:solidFill>
                          <a:latin typeface="Calibri (MS)" panose="020F0502020204030204"/>
                          <a:ea typeface="Calibri (MS)" panose="020F0502020204030204"/>
                          <a:cs typeface="Calibri (MS)" panose="020F0502020204030204"/>
                          <a:sym typeface="Calibri (MS)" panose="020F0502020204030204"/>
                        </a:rPr>
                        <a:t>【行动项3】</a:t>
                      </a:r>
                      <a:r>
                        <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缓存感知</a:t>
                      </a:r>
                      <a:r>
                        <a:rPr lang="zh-CN" alt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，实现缓存感知亲和性</a:t>
                      </a:r>
                      <a:endParaRPr lang="zh-CN" altLang="en-US" sz="2800" b="1">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c>
                  <a:txBody>
                    <a:bodyPr rtlCol="0"/>
                    <a:lstStyle/>
                    <a:p>
                      <a:pPr algn="l">
                        <a:lnSpc>
                          <a:spcPts val="3360"/>
                        </a:lnSpc>
                        <a:buClrTx/>
                        <a:buSzTx/>
                        <a:buFontTx/>
                        <a:buNone/>
                        <a:defRPr/>
                      </a:pPr>
                      <a:r>
                        <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维护多级缓存历史表，</a:t>
                      </a:r>
                      <a:r>
                        <a:rPr lang="en-US" sz="2800">
                          <a:solidFill>
                            <a:srgbClr val="000000"/>
                          </a:solidFill>
                          <a:latin typeface="思源黑体" panose="020B0500000000000000" charset="-122"/>
                          <a:ea typeface="思源黑体" panose="020B0500000000000000" charset="-122"/>
                          <a:cs typeface="思源黑体" panose="020B0500000000000000" charset="-122"/>
                          <a:sym typeface="+mn-ea"/>
                        </a:rPr>
                        <a:t>基于 CRP(cache recency profile) </a:t>
                      </a:r>
                      <a:r>
                        <a:rPr lang="en-US" sz="2800" b="1">
                          <a:solidFill>
                            <a:srgbClr val="000000"/>
                          </a:solidFill>
                          <a:latin typeface="思源黑体" panose="020B0500000000000000" charset="-122"/>
                          <a:ea typeface="思源黑体" panose="020B0500000000000000" charset="-122"/>
                          <a:cs typeface="思源黑体" panose="020B0500000000000000" charset="-122"/>
                          <a:sym typeface="+mn-ea"/>
                        </a:rPr>
                        <a:t>缓存感知机制的五级调度策略</a:t>
                      </a:r>
                      <a:r>
                        <a:rPr lang="en-US" sz="2800">
                          <a:solidFill>
                            <a:srgbClr val="000000"/>
                          </a:solidFill>
                          <a:latin typeface="思源黑体" panose="020B0500000000000000" charset="-122"/>
                          <a:ea typeface="思源黑体" panose="020B0500000000000000" charset="-122"/>
                          <a:cs typeface="思源黑体" panose="020B0500000000000000" charset="-122"/>
                          <a:sym typeface="+mn-ea"/>
                        </a:rPr>
                        <a:t>，最大化缓存利用率。</a:t>
                      </a:r>
                      <a:endPar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1DFCE"/>
                    </a:solidFill>
                  </a:tcPr>
                </a:tc>
              </a:tr>
              <a:tr h="1578610">
                <a:tc>
                  <a:txBody>
                    <a:bodyPr rtlCol="0"/>
                    <a:lstStyle/>
                    <a:p>
                      <a:pPr algn="l">
                        <a:lnSpc>
                          <a:spcPts val="3360"/>
                        </a:lnSpc>
                        <a:buClrTx/>
                        <a:buSzTx/>
                        <a:buFontTx/>
                        <a:defRPr/>
                      </a:pPr>
                      <a:r>
                        <a:rPr lang="en-US" sz="2800" b="1">
                          <a:solidFill>
                            <a:srgbClr val="000000"/>
                          </a:solidFill>
                          <a:latin typeface="Calibri (MS)" panose="020F0502020204030204"/>
                          <a:ea typeface="Calibri (MS)" panose="020F0502020204030204"/>
                          <a:cs typeface="Calibri (MS)" panose="020F0502020204030204"/>
                          <a:sym typeface="思源黑体" panose="020B0500000000000000" charset="-122"/>
                        </a:rPr>
                        <a:t>【行动项4】 </a:t>
                      </a:r>
                      <a:r>
                        <a:rPr lang="en-US" sz="2800" b="1">
                          <a:solidFill>
                            <a:srgbClr val="000000"/>
                          </a:solidFill>
                          <a:latin typeface="Calibri (MS)" panose="020F0502020204030204"/>
                          <a:ea typeface="Calibri (MS)" panose="020F0502020204030204"/>
                          <a:cs typeface="Calibri (MS)" panose="020F0502020204030204"/>
                          <a:sym typeface="+mn-ea"/>
                        </a:rPr>
                        <a:t>模块化和兼容性，支持不同平台架构。</a:t>
                      </a:r>
                      <a:endParaRPr lang="en-US" sz="2800" b="1">
                        <a:solidFill>
                          <a:srgbClr val="000000"/>
                        </a:solidFill>
                        <a:latin typeface="Calibri (MS)" panose="020F0502020204030204"/>
                        <a:ea typeface="Calibri (MS)" panose="020F0502020204030204"/>
                        <a:cs typeface="Calibri (MS)" panose="020F0502020204030204"/>
                        <a:sym typeface="+mn-ea"/>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8"/>
                    </a:solidFill>
                  </a:tcPr>
                </a:tc>
                <a:tc>
                  <a:txBody>
                    <a:bodyPr rtlCol="0"/>
                    <a:lstStyle/>
                    <a:p>
                      <a:pPr algn="l">
                        <a:lnSpc>
                          <a:spcPts val="3360"/>
                        </a:lnSpc>
                        <a:buClrTx/>
                        <a:buSzTx/>
                        <a:buFontTx/>
                        <a:defRPr/>
                      </a:pPr>
                      <a:r>
                        <a:rPr lang="en-US" sz="2800" b="1">
                          <a:solidFill>
                            <a:srgbClr val="000000"/>
                          </a:solidFill>
                          <a:latin typeface="思源黑体" panose="020B0500000000000000" charset="-122"/>
                          <a:ea typeface="思源黑体" panose="020B0500000000000000" charset="-122"/>
                          <a:cs typeface="思源黑体" panose="020B0500000000000000" charset="-122"/>
                          <a:sym typeface="+mn-ea"/>
                        </a:rPr>
                        <a:t>独立调度类</a:t>
                      </a:r>
                      <a:r>
                        <a:rPr lang="en-US" sz="2800">
                          <a:solidFill>
                            <a:srgbClr val="000000"/>
                          </a:solidFill>
                          <a:latin typeface="思源黑体" panose="020B0500000000000000" charset="-122"/>
                          <a:ea typeface="思源黑体" panose="020B0500000000000000" charset="-122"/>
                          <a:cs typeface="思源黑体" panose="020B0500000000000000" charset="-122"/>
                          <a:sym typeface="+mn-ea"/>
                        </a:rPr>
                        <a:t>，与现有调度器并存，渐进式部署。</a:t>
                      </a:r>
                      <a:r>
                        <a:rPr lang="en-US" sz="2800" b="1">
                          <a:solidFill>
                            <a:srgbClr val="000000"/>
                          </a:solidFill>
                          <a:latin typeface="思源黑体" panose="020B0500000000000000" charset="-122"/>
                          <a:ea typeface="思源黑体" panose="020B0500000000000000" charset="-122"/>
                          <a:cs typeface="思源黑体" panose="020B0500000000000000" charset="-122"/>
                          <a:sym typeface="+mn-ea"/>
                        </a:rPr>
                        <a:t>在x86和arm架构下均实现部署</a:t>
                      </a:r>
                      <a:r>
                        <a:rPr lang="zh-CN" altLang="en-US" sz="2800">
                          <a:solidFill>
                            <a:srgbClr val="000000"/>
                          </a:solidFill>
                          <a:latin typeface="思源黑体" panose="020B0500000000000000" charset="-122"/>
                          <a:ea typeface="思源黑体" panose="020B0500000000000000" charset="-122"/>
                          <a:cs typeface="思源黑体" panose="020B0500000000000000" charset="-122"/>
                          <a:sym typeface="+mn-ea"/>
                        </a:rPr>
                        <a:t>。</a:t>
                      </a:r>
                      <a:endParaRPr lang="zh-CN" altLang="en-US" sz="2800">
                        <a:solidFill>
                          <a:srgbClr val="000000"/>
                        </a:solidFill>
                        <a:latin typeface="思源黑体" panose="020B0500000000000000" charset="-122"/>
                        <a:ea typeface="思源黑体" panose="020B0500000000000000" charset="-122"/>
                        <a:cs typeface="思源黑体" panose="020B0500000000000000" charset="-122"/>
                        <a:sym typeface="+mn-ea"/>
                      </a:endParaRPr>
                    </a:p>
                  </a:txBody>
                  <a:tcPr marT="91440" marB="91440"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0E8"/>
                    </a:solidFill>
                  </a:tcPr>
                </a:tc>
              </a:tr>
            </a:tbl>
          </a:graphicData>
        </a:graphic>
      </p:graphicFrame>
      <p:grpSp>
        <p:nvGrpSpPr>
          <p:cNvPr id="18" name="Group 8"/>
          <p:cNvGrpSpPr/>
          <p:nvPr/>
        </p:nvGrpSpPr>
        <p:grpSpPr>
          <a:xfrm rot="0">
            <a:off x="0" y="1097915"/>
            <a:ext cx="5163820" cy="1145131"/>
            <a:chOff x="0" y="0"/>
            <a:chExt cx="8597416" cy="1498644"/>
          </a:xfrm>
        </p:grpSpPr>
        <p:sp>
          <p:nvSpPr>
            <p:cNvPr id="19" name="Freeform 9"/>
            <p:cNvSpPr/>
            <p:nvPr/>
          </p:nvSpPr>
          <p:spPr>
            <a:xfrm>
              <a:off x="0" y="0"/>
              <a:ext cx="8597416" cy="1498644"/>
            </a:xfrm>
            <a:custGeom>
              <a:avLst/>
              <a:gdLst/>
              <a:ahLst/>
              <a:cxnLst/>
              <a:rect l="l" t="t" r="r" b="b"/>
              <a:pathLst>
                <a:path w="8597416" h="1498644">
                  <a:moveTo>
                    <a:pt x="0" y="0"/>
                  </a:moveTo>
                  <a:lnTo>
                    <a:pt x="8597416" y="0"/>
                  </a:lnTo>
                  <a:lnTo>
                    <a:pt x="8597416" y="1498644"/>
                  </a:lnTo>
                  <a:lnTo>
                    <a:pt x="0" y="1498644"/>
                  </a:lnTo>
                  <a:close/>
                </a:path>
              </a:pathLst>
            </a:custGeom>
            <a:solidFill>
              <a:srgbClr val="014924"/>
            </a:solidFill>
          </p:spPr>
        </p:sp>
        <p:sp>
          <p:nvSpPr>
            <p:cNvPr id="20" name="TextBox 10"/>
            <p:cNvSpPr txBox="1"/>
            <p:nvPr/>
          </p:nvSpPr>
          <p:spPr>
            <a:xfrm>
              <a:off x="761207" y="560946"/>
              <a:ext cx="7113061" cy="837679"/>
            </a:xfrm>
            <a:prstGeom prst="rect">
              <a:avLst/>
            </a:prstGeom>
          </p:spPr>
          <p:txBody>
            <a:bodyPr lIns="51756" tIns="51756" rIns="51756" bIns="51756" rtlCol="0" anchor="ctr"/>
            <a:p>
              <a:pPr algn="ctr">
                <a:lnSpc>
                  <a:spcPts val="3300"/>
                </a:lnSpc>
              </a:pPr>
              <a:r>
                <a:rPr lang="zh-CN" altLang="en-US" sz="44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项目完成情况</a:t>
              </a:r>
              <a:endParaRPr lang="zh-CN" altLang="en-US" sz="44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620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TextBox 5"/>
          <p:cNvSpPr txBox="1"/>
          <p:nvPr/>
        </p:nvSpPr>
        <p:spPr>
          <a:xfrm>
            <a:off x="189999" y="348244"/>
            <a:ext cx="518661" cy="63817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2</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6" name="TextBox 6"/>
          <p:cNvSpPr txBox="1"/>
          <p:nvPr/>
        </p:nvSpPr>
        <p:spPr>
          <a:xfrm>
            <a:off x="1143186" y="263128"/>
            <a:ext cx="2556328" cy="723900"/>
          </a:xfrm>
          <a:prstGeom prst="rect">
            <a:avLst/>
          </a:prstGeom>
        </p:spPr>
        <p:txBody>
          <a:bodyPr lIns="0" tIns="0" rIns="0" bIns="0" rtlCol="0" anchor="t">
            <a:spAutoFit/>
          </a:bodyPr>
          <a:lstStyle/>
          <a:p>
            <a:pPr algn="l">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项目介绍</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7" name="Group 7"/>
          <p:cNvGrpSpPr/>
          <p:nvPr/>
        </p:nvGrpSpPr>
        <p:grpSpPr>
          <a:xfrm rot="0">
            <a:off x="3876596" y="326236"/>
            <a:ext cx="15125700" cy="492914"/>
            <a:chOff x="0" y="0"/>
            <a:chExt cx="20167600" cy="657218"/>
          </a:xfrm>
        </p:grpSpPr>
        <p:sp>
          <p:nvSpPr>
            <p:cNvPr id="8" name="Freeform 8"/>
            <p:cNvSpPr/>
            <p:nvPr/>
          </p:nvSpPr>
          <p:spPr>
            <a:xfrm>
              <a:off x="0" y="0"/>
              <a:ext cx="20167600" cy="657225"/>
            </a:xfrm>
            <a:custGeom>
              <a:avLst/>
              <a:gdLst/>
              <a:ahLst/>
              <a:cxnLst/>
              <a:rect l="l" t="t" r="r" b="b"/>
              <a:pathLst>
                <a:path w="20167600" h="657225">
                  <a:moveTo>
                    <a:pt x="0" y="328549"/>
                  </a:moveTo>
                  <a:cubicBezTo>
                    <a:pt x="0" y="147066"/>
                    <a:pt x="147066" y="0"/>
                    <a:pt x="328549" y="0"/>
                  </a:cubicBezTo>
                  <a:lnTo>
                    <a:pt x="19839051" y="0"/>
                  </a:lnTo>
                  <a:cubicBezTo>
                    <a:pt x="20020535" y="0"/>
                    <a:pt x="20167600" y="147066"/>
                    <a:pt x="20167600" y="328549"/>
                  </a:cubicBezTo>
                  <a:cubicBezTo>
                    <a:pt x="20167600" y="510032"/>
                    <a:pt x="20020535" y="657098"/>
                    <a:pt x="19839051" y="657098"/>
                  </a:cubicBezTo>
                  <a:lnTo>
                    <a:pt x="328549" y="657098"/>
                  </a:lnTo>
                  <a:cubicBezTo>
                    <a:pt x="147066" y="657225"/>
                    <a:pt x="0" y="510032"/>
                    <a:pt x="0" y="328549"/>
                  </a:cubicBezTo>
                  <a:close/>
                </a:path>
              </a:pathLst>
            </a:custGeom>
            <a:solidFill>
              <a:srgbClr val="014924"/>
            </a:solidFill>
          </p:spPr>
        </p:sp>
      </p:grpSp>
      <p:grpSp>
        <p:nvGrpSpPr>
          <p:cNvPr id="9" name="Group 9"/>
          <p:cNvGrpSpPr/>
          <p:nvPr/>
        </p:nvGrpSpPr>
        <p:grpSpPr>
          <a:xfrm rot="0">
            <a:off x="3895646" y="931548"/>
            <a:ext cx="15125700" cy="54000"/>
            <a:chOff x="0" y="0"/>
            <a:chExt cx="20167600" cy="72000"/>
          </a:xfrm>
        </p:grpSpPr>
        <p:sp>
          <p:nvSpPr>
            <p:cNvPr id="10" name="Freeform 10"/>
            <p:cNvSpPr/>
            <p:nvPr/>
          </p:nvSpPr>
          <p:spPr>
            <a:xfrm>
              <a:off x="0" y="0"/>
              <a:ext cx="20167600" cy="72009"/>
            </a:xfrm>
            <a:custGeom>
              <a:avLst/>
              <a:gdLst/>
              <a:ahLst/>
              <a:cxnLst/>
              <a:rect l="l" t="t" r="r" b="b"/>
              <a:pathLst>
                <a:path w="20167600" h="72009">
                  <a:moveTo>
                    <a:pt x="0" y="35941"/>
                  </a:moveTo>
                  <a:cubicBezTo>
                    <a:pt x="0" y="55880"/>
                    <a:pt x="16129" y="72009"/>
                    <a:pt x="35941" y="72009"/>
                  </a:cubicBezTo>
                  <a:lnTo>
                    <a:pt x="20131660" y="72009"/>
                  </a:lnTo>
                  <a:cubicBezTo>
                    <a:pt x="20151598" y="72009"/>
                    <a:pt x="20167600" y="55880"/>
                    <a:pt x="20167600" y="36068"/>
                  </a:cubicBezTo>
                  <a:cubicBezTo>
                    <a:pt x="20167600" y="16256"/>
                    <a:pt x="20151471" y="0"/>
                    <a:pt x="20131660" y="0"/>
                  </a:cubicBezTo>
                  <a:lnTo>
                    <a:pt x="35941" y="0"/>
                  </a:lnTo>
                  <a:cubicBezTo>
                    <a:pt x="16129" y="0"/>
                    <a:pt x="0" y="16129"/>
                    <a:pt x="0" y="35941"/>
                  </a:cubicBezTo>
                  <a:close/>
                </a:path>
              </a:pathLst>
            </a:custGeom>
            <a:solidFill>
              <a:srgbClr val="014924"/>
            </a:solidFill>
          </p:spPr>
        </p:sp>
      </p:grpSp>
      <p:sp>
        <p:nvSpPr>
          <p:cNvPr id="11" name="TextBox 11"/>
          <p:cNvSpPr txBox="1"/>
          <p:nvPr/>
        </p:nvSpPr>
        <p:spPr>
          <a:xfrm>
            <a:off x="3968032" y="386342"/>
            <a:ext cx="2944415" cy="266700"/>
          </a:xfrm>
          <a:prstGeom prst="rect">
            <a:avLst/>
          </a:prstGeom>
        </p:spPr>
        <p:txBody>
          <a:bodyPr lIns="0" tIns="0" rIns="0" bIns="0" rtlCol="0" anchor="t">
            <a:spAutoFit/>
          </a:bodyPr>
          <a:lstStyle/>
          <a:p>
            <a:pPr algn="ctr">
              <a:lnSpc>
                <a:spcPts val="2160"/>
              </a:lnSpc>
            </a:pPr>
            <a:r>
              <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PROJECT INTRODUCTION</a:t>
            </a:r>
            <a:endPar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2" name="Group 12"/>
          <p:cNvGrpSpPr>
            <a:grpSpLocks noChangeAspect="1"/>
          </p:cNvGrpSpPr>
          <p:nvPr/>
        </p:nvGrpSpPr>
        <p:grpSpPr>
          <a:xfrm rot="0">
            <a:off x="16100484" y="264381"/>
            <a:ext cx="1896959" cy="667167"/>
            <a:chOff x="0" y="0"/>
            <a:chExt cx="2529278" cy="889556"/>
          </a:xfrm>
        </p:grpSpPr>
        <p:sp>
          <p:nvSpPr>
            <p:cNvPr id="13" name="Freeform 13"/>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sp>
        <p:nvSpPr>
          <p:cNvPr id="14" name="TextBox 14"/>
          <p:cNvSpPr txBox="1"/>
          <p:nvPr/>
        </p:nvSpPr>
        <p:spPr>
          <a:xfrm>
            <a:off x="5649521" y="2697758"/>
            <a:ext cx="12486496" cy="506095"/>
          </a:xfrm>
          <a:prstGeom prst="rect">
            <a:avLst/>
          </a:prstGeom>
        </p:spPr>
        <p:txBody>
          <a:bodyPr lIns="0" tIns="0" rIns="0" bIns="0" rtlCol="0" anchor="t">
            <a:spAutoFit/>
          </a:bodyPr>
          <a:lstStyle/>
          <a:p>
            <a:pPr algn="l">
              <a:lnSpc>
                <a:spcPts val="3950"/>
              </a:lnSpc>
              <a:spcBef>
                <a:spcPct val="0"/>
              </a:spcBef>
            </a:pPr>
            <a:endParaRPr lang="en-US" sz="329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9" name="Freeform 9"/>
          <p:cNvSpPr/>
          <p:nvPr/>
        </p:nvSpPr>
        <p:spPr>
          <a:xfrm>
            <a:off x="0" y="952500"/>
            <a:ext cx="4107180" cy="1144905"/>
          </a:xfrm>
          <a:custGeom>
            <a:avLst/>
            <a:gdLst/>
            <a:ahLst/>
            <a:cxnLst/>
            <a:rect l="l" t="t" r="r" b="b"/>
            <a:pathLst>
              <a:path w="8597416" h="1498644">
                <a:moveTo>
                  <a:pt x="0" y="0"/>
                </a:moveTo>
                <a:lnTo>
                  <a:pt x="8597416" y="0"/>
                </a:lnTo>
                <a:lnTo>
                  <a:pt x="8597416" y="1498644"/>
                </a:lnTo>
                <a:lnTo>
                  <a:pt x="0" y="1498644"/>
                </a:lnTo>
                <a:close/>
              </a:path>
            </a:pathLst>
          </a:custGeom>
          <a:solidFill>
            <a:srgbClr val="014924"/>
          </a:solidFill>
        </p:spPr>
      </p:sp>
      <p:sp>
        <p:nvSpPr>
          <p:cNvPr id="15" name="文本框 14"/>
          <p:cNvSpPr txBox="1"/>
          <p:nvPr/>
        </p:nvSpPr>
        <p:spPr>
          <a:xfrm>
            <a:off x="-533400" y="1264285"/>
            <a:ext cx="5274310" cy="734695"/>
          </a:xfrm>
          <a:prstGeom prst="rect">
            <a:avLst/>
          </a:prstGeom>
          <a:noFill/>
        </p:spPr>
        <p:txBody>
          <a:bodyPr wrap="square" rtlCol="0" anchor="t">
            <a:noAutofit/>
          </a:bodyPr>
          <a:p>
            <a:pPr algn="ctr">
              <a:lnSpc>
                <a:spcPts val="3300"/>
              </a:lnSpc>
            </a:pPr>
            <a:r>
              <a:rPr lang="zh-CN" altLang="en-US" sz="44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具体开发过程</a:t>
            </a:r>
            <a:endParaRPr lang="zh-CN" altLang="en-US" sz="44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7" name="文本框 16"/>
          <p:cNvSpPr txBox="1"/>
          <p:nvPr/>
        </p:nvSpPr>
        <p:spPr>
          <a:xfrm>
            <a:off x="523240" y="2374265"/>
            <a:ext cx="3439160" cy="6680200"/>
          </a:xfrm>
          <a:prstGeom prst="rect">
            <a:avLst/>
          </a:prstGeom>
          <a:noFill/>
        </p:spPr>
        <p:txBody>
          <a:bodyPr wrap="square" rtlCol="0">
            <a:noAutofit/>
          </a:bodyPr>
          <a:p>
            <a:pPr indent="0">
              <a:buFont typeface="Arial" panose="020B0604020202020204" pitchFamily="34" charset="0"/>
              <a:buNone/>
            </a:pPr>
            <a:r>
              <a:rPr lang="zh-CN" altLang="en-US" sz="4000"/>
              <a:t>项目步步推进历经以下平台开发和测试：</a:t>
            </a:r>
            <a:endParaRPr lang="zh-CN" altLang="en-US" sz="4000"/>
          </a:p>
          <a:p>
            <a:pPr marL="571500" indent="-571500">
              <a:buFont typeface="Arial" panose="020B0604020202020204" pitchFamily="34" charset="0"/>
              <a:buChar char="•"/>
            </a:pPr>
            <a:r>
              <a:rPr lang="zh-CN" altLang="en-US" sz="4000"/>
              <a:t>理论探究</a:t>
            </a:r>
            <a:endParaRPr lang="zh-CN" altLang="en-US" sz="4000"/>
          </a:p>
          <a:p>
            <a:pPr marL="571500" indent="-571500">
              <a:buFont typeface="Arial" panose="020B0604020202020204" pitchFamily="34" charset="0"/>
              <a:buChar char="•"/>
            </a:pPr>
            <a:r>
              <a:rPr lang="zh-CN" altLang="en-US" sz="4000"/>
              <a:t>模拟验证</a:t>
            </a:r>
            <a:endParaRPr lang="zh-CN" altLang="en-US" sz="4000"/>
          </a:p>
          <a:p>
            <a:pPr marL="571500" indent="-571500">
              <a:buFont typeface="Arial" panose="020B0604020202020204" pitchFamily="34" charset="0"/>
              <a:buChar char="•"/>
            </a:pPr>
            <a:r>
              <a:rPr lang="en-US" altLang="zh-CN" sz="4000"/>
              <a:t>VMware</a:t>
            </a:r>
            <a:r>
              <a:rPr lang="zh-CN" altLang="en-US" sz="4000"/>
              <a:t>搭建整体内核框架（</a:t>
            </a:r>
            <a:r>
              <a:rPr lang="en-US" altLang="zh-CN" sz="4000"/>
              <a:t>x86</a:t>
            </a:r>
            <a:r>
              <a:rPr lang="zh-CN" altLang="en-US" sz="4000"/>
              <a:t>）</a:t>
            </a:r>
            <a:endParaRPr lang="zh-CN" altLang="en-US" sz="4000"/>
          </a:p>
          <a:p>
            <a:pPr marL="571500" indent="-571500">
              <a:buFont typeface="Arial" panose="020B0604020202020204" pitchFamily="34" charset="0"/>
              <a:buChar char="•"/>
            </a:pPr>
            <a:r>
              <a:rPr lang="en-US" altLang="zh-CN" sz="4000"/>
              <a:t>Qemu</a:t>
            </a:r>
            <a:r>
              <a:rPr lang="zh-CN" altLang="en-US" sz="4000"/>
              <a:t>仿真测试</a:t>
            </a:r>
            <a:endParaRPr lang="zh-CN" altLang="en-US" sz="4000"/>
          </a:p>
          <a:p>
            <a:pPr marL="571500" indent="-571500">
              <a:buFont typeface="Arial" panose="020B0604020202020204" pitchFamily="34" charset="0"/>
              <a:buChar char="•"/>
            </a:pPr>
            <a:r>
              <a:rPr lang="zh-CN" altLang="en-US" sz="4000"/>
              <a:t>树莓派实机测试（</a:t>
            </a:r>
            <a:r>
              <a:rPr lang="en-US" altLang="zh-CN" sz="4000"/>
              <a:t>arm</a:t>
            </a:r>
            <a:r>
              <a:rPr lang="zh-CN" altLang="en-US" sz="4000"/>
              <a:t>）</a:t>
            </a:r>
            <a:br>
              <a:rPr lang="zh-CN" altLang="en-US" sz="4000"/>
            </a:br>
            <a:endParaRPr lang="zh-CN" altLang="en-US" sz="4000"/>
          </a:p>
        </p:txBody>
      </p:sp>
      <p:pic>
        <p:nvPicPr>
          <p:cNvPr id="18" name="图片 17"/>
          <p:cNvPicPr>
            <a:picLocks noChangeAspect="1"/>
          </p:cNvPicPr>
          <p:nvPr/>
        </p:nvPicPr>
        <p:blipFill>
          <a:blip r:embed="rId3"/>
          <a:srcRect l="8750" t="7000" r="1250" b="6000"/>
          <a:stretch>
            <a:fillRect/>
          </a:stretch>
        </p:blipFill>
        <p:spPr>
          <a:xfrm>
            <a:off x="4191000" y="1005205"/>
            <a:ext cx="13713460" cy="9245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9481764" y="4029974"/>
            <a:ext cx="8806236" cy="2313674"/>
            <a:chOff x="0" y="0"/>
            <a:chExt cx="11741648" cy="3084898"/>
          </a:xfrm>
        </p:grpSpPr>
        <p:sp>
          <p:nvSpPr>
            <p:cNvPr id="4" name="Freeform 4"/>
            <p:cNvSpPr/>
            <p:nvPr/>
          </p:nvSpPr>
          <p:spPr>
            <a:xfrm>
              <a:off x="0" y="0"/>
              <a:ext cx="11741658" cy="3084957"/>
            </a:xfrm>
            <a:custGeom>
              <a:avLst/>
              <a:gdLst/>
              <a:ahLst/>
              <a:cxnLst/>
              <a:rect l="l" t="t" r="r" b="b"/>
              <a:pathLst>
                <a:path w="11741658" h="3084957">
                  <a:moveTo>
                    <a:pt x="0" y="0"/>
                  </a:moveTo>
                  <a:lnTo>
                    <a:pt x="11741658" y="0"/>
                  </a:lnTo>
                  <a:lnTo>
                    <a:pt x="11741658" y="3084957"/>
                  </a:lnTo>
                  <a:lnTo>
                    <a:pt x="0" y="3084957"/>
                  </a:lnTo>
                  <a:lnTo>
                    <a:pt x="0" y="0"/>
                  </a:lnTo>
                  <a:close/>
                </a:path>
              </a:pathLst>
            </a:custGeom>
            <a:blipFill>
              <a:blip r:embed="rId2"/>
              <a:stretch>
                <a:fillRect t="-74003" r="-17268" b="-160884"/>
              </a:stretch>
            </a:blipFill>
          </p:spPr>
        </p:sp>
      </p:grpSp>
      <p:grpSp>
        <p:nvGrpSpPr>
          <p:cNvPr id="5" name="Group 5"/>
          <p:cNvGrpSpPr/>
          <p:nvPr/>
        </p:nvGrpSpPr>
        <p:grpSpPr>
          <a:xfrm rot="0">
            <a:off x="4286250" y="4029075"/>
            <a:ext cx="14001750" cy="2314573"/>
            <a:chOff x="0" y="0"/>
            <a:chExt cx="18669000" cy="3086098"/>
          </a:xfrm>
        </p:grpSpPr>
        <p:sp>
          <p:nvSpPr>
            <p:cNvPr id="6" name="Freeform 6"/>
            <p:cNvSpPr/>
            <p:nvPr/>
          </p:nvSpPr>
          <p:spPr>
            <a:xfrm>
              <a:off x="0" y="0"/>
              <a:ext cx="18669000" cy="3086100"/>
            </a:xfrm>
            <a:custGeom>
              <a:avLst/>
              <a:gdLst/>
              <a:ahLst/>
              <a:cxnLst/>
              <a:rect l="l" t="t" r="r" b="b"/>
              <a:pathLst>
                <a:path w="18669000" h="3086100">
                  <a:moveTo>
                    <a:pt x="0" y="0"/>
                  </a:moveTo>
                  <a:lnTo>
                    <a:pt x="18669000" y="0"/>
                  </a:lnTo>
                  <a:lnTo>
                    <a:pt x="18669000" y="3086100"/>
                  </a:lnTo>
                  <a:lnTo>
                    <a:pt x="0" y="3086100"/>
                  </a:lnTo>
                  <a:close/>
                </a:path>
              </a:pathLst>
            </a:custGeom>
            <a:gradFill rotWithShape="1">
              <a:gsLst>
                <a:gs pos="0">
                  <a:srgbClr val="014924">
                    <a:alpha val="100000"/>
                  </a:srgbClr>
                </a:gs>
                <a:gs pos="35000">
                  <a:srgbClr val="014924">
                    <a:alpha val="100000"/>
                  </a:srgbClr>
                </a:gs>
                <a:gs pos="59000">
                  <a:srgbClr val="014924">
                    <a:alpha val="95000"/>
                  </a:srgbClr>
                </a:gs>
                <a:gs pos="77000">
                  <a:srgbClr val="014924">
                    <a:alpha val="70000"/>
                  </a:srgbClr>
                </a:gs>
                <a:gs pos="100000">
                  <a:srgbClr val="014924">
                    <a:alpha val="60000"/>
                  </a:srgbClr>
                </a:gs>
              </a:gsLst>
              <a:lin ang="0"/>
            </a:gradFill>
          </p:spPr>
        </p:sp>
      </p:grpSp>
      <p:grpSp>
        <p:nvGrpSpPr>
          <p:cNvPr id="7" name="Group 7"/>
          <p:cNvGrpSpPr/>
          <p:nvPr/>
        </p:nvGrpSpPr>
        <p:grpSpPr>
          <a:xfrm rot="0">
            <a:off x="1685925" y="4029075"/>
            <a:ext cx="2314575" cy="2314575"/>
            <a:chOff x="0" y="0"/>
            <a:chExt cx="3086100" cy="3086100"/>
          </a:xfrm>
        </p:grpSpPr>
        <p:sp>
          <p:nvSpPr>
            <p:cNvPr id="8" name="Freeform 8"/>
            <p:cNvSpPr/>
            <p:nvPr/>
          </p:nvSpPr>
          <p:spPr>
            <a:xfrm>
              <a:off x="0" y="0"/>
              <a:ext cx="3086100" cy="3086100"/>
            </a:xfrm>
            <a:custGeom>
              <a:avLst/>
              <a:gdLst/>
              <a:ahLst/>
              <a:cxnLst/>
              <a:rect l="l" t="t" r="r" b="b"/>
              <a:pathLst>
                <a:path w="3086100" h="3086100">
                  <a:moveTo>
                    <a:pt x="0" y="0"/>
                  </a:moveTo>
                  <a:lnTo>
                    <a:pt x="3086100" y="0"/>
                  </a:lnTo>
                  <a:lnTo>
                    <a:pt x="3086100" y="3086100"/>
                  </a:lnTo>
                  <a:lnTo>
                    <a:pt x="0" y="3086100"/>
                  </a:lnTo>
                  <a:close/>
                </a:path>
              </a:pathLst>
            </a:custGeom>
            <a:solidFill>
              <a:srgbClr val="549E39"/>
            </a:solidFill>
          </p:spPr>
        </p:sp>
      </p:grpSp>
      <p:sp>
        <p:nvSpPr>
          <p:cNvPr id="9" name="TextBox 9"/>
          <p:cNvSpPr txBox="1"/>
          <p:nvPr/>
        </p:nvSpPr>
        <p:spPr>
          <a:xfrm>
            <a:off x="2202368" y="4401086"/>
            <a:ext cx="1281690" cy="1504950"/>
          </a:xfrm>
          <a:prstGeom prst="rect">
            <a:avLst/>
          </a:prstGeom>
        </p:spPr>
        <p:txBody>
          <a:bodyPr lIns="0" tIns="0" rIns="0" bIns="0" rtlCol="0" anchor="t">
            <a:spAutoFit/>
          </a:bodyPr>
          <a:lstStyle/>
          <a:p>
            <a:pPr algn="ctr">
              <a:lnSpc>
                <a:spcPts val="11880"/>
              </a:lnSpc>
            </a:pPr>
            <a:r>
              <a:rPr lang="en-US" sz="99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3</a:t>
            </a:r>
            <a:endParaRPr lang="en-US" sz="99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0" name="TextBox 10"/>
          <p:cNvSpPr txBox="1"/>
          <p:nvPr/>
        </p:nvSpPr>
        <p:spPr>
          <a:xfrm>
            <a:off x="4516938" y="4519632"/>
            <a:ext cx="3787433" cy="1095375"/>
          </a:xfrm>
          <a:prstGeom prst="rect">
            <a:avLst/>
          </a:prstGeom>
        </p:spPr>
        <p:txBody>
          <a:bodyPr lIns="0" tIns="0" rIns="0" bIns="0" rtlCol="0" anchor="t">
            <a:spAutoFit/>
          </a:bodyPr>
          <a:lstStyle/>
          <a:p>
            <a:pPr algn="l">
              <a:lnSpc>
                <a:spcPts val="8640"/>
              </a:lnSpc>
            </a:pPr>
            <a:r>
              <a:rPr lang="en-US" sz="72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总体架构</a:t>
            </a:r>
            <a:endParaRPr lang="en-US" sz="72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1" name="Group 11"/>
          <p:cNvGrpSpPr>
            <a:grpSpLocks noChangeAspect="1"/>
          </p:cNvGrpSpPr>
          <p:nvPr/>
        </p:nvGrpSpPr>
        <p:grpSpPr>
          <a:xfrm rot="0">
            <a:off x="14723000" y="203883"/>
            <a:ext cx="3565001" cy="1101770"/>
            <a:chOff x="0" y="0"/>
            <a:chExt cx="4753334" cy="1469026"/>
          </a:xfrm>
        </p:grpSpPr>
        <p:sp>
          <p:nvSpPr>
            <p:cNvPr id="12" name="Freeform 12"/>
            <p:cNvSpPr/>
            <p:nvPr/>
          </p:nvSpPr>
          <p:spPr>
            <a:xfrm>
              <a:off x="0" y="0"/>
              <a:ext cx="4753356" cy="1469009"/>
            </a:xfrm>
            <a:custGeom>
              <a:avLst/>
              <a:gdLst/>
              <a:ahLst/>
              <a:cxnLst/>
              <a:rect l="l" t="t" r="r" b="b"/>
              <a:pathLst>
                <a:path w="4753356" h="1469009">
                  <a:moveTo>
                    <a:pt x="0" y="0"/>
                  </a:moveTo>
                  <a:lnTo>
                    <a:pt x="4753356" y="0"/>
                  </a:lnTo>
                  <a:lnTo>
                    <a:pt x="4753356" y="1469009"/>
                  </a:lnTo>
                  <a:lnTo>
                    <a:pt x="0" y="1469009"/>
                  </a:lnTo>
                  <a:lnTo>
                    <a:pt x="0" y="0"/>
                  </a:lnTo>
                  <a:close/>
                </a:path>
              </a:pathLst>
            </a:custGeom>
            <a:blipFill>
              <a:blip r:embed="rId3"/>
              <a:stretch>
                <a:fillRect t="-34825" b="-13078"/>
              </a:stretch>
            </a:blipFill>
          </p:spPr>
        </p:sp>
      </p:grpSp>
      <p:sp>
        <p:nvSpPr>
          <p:cNvPr id="13" name="TextBox 13"/>
          <p:cNvSpPr txBox="1"/>
          <p:nvPr/>
        </p:nvSpPr>
        <p:spPr>
          <a:xfrm>
            <a:off x="2202368" y="5656963"/>
            <a:ext cx="8962686" cy="409575"/>
          </a:xfrm>
          <a:prstGeom prst="rect">
            <a:avLst/>
          </a:prstGeom>
        </p:spPr>
        <p:txBody>
          <a:bodyPr lIns="0" tIns="0" rIns="0" bIns="0" rtlCol="0" anchor="t">
            <a:spAutoFit/>
          </a:bodyPr>
          <a:lstStyle/>
          <a:p>
            <a:pPr algn="ctr">
              <a:lnSpc>
                <a:spcPts val="3240"/>
              </a:lnSpc>
            </a:pPr>
            <a:r>
              <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OVERALL ARCHITECTURE</a:t>
            </a:r>
            <a:endPar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4" name="Group 14"/>
          <p:cNvGrpSpPr>
            <a:grpSpLocks noChangeAspect="1"/>
          </p:cNvGrpSpPr>
          <p:nvPr/>
        </p:nvGrpSpPr>
        <p:grpSpPr>
          <a:xfrm rot="0">
            <a:off x="10853934" y="372126"/>
            <a:ext cx="3466641" cy="765282"/>
            <a:chOff x="0" y="0"/>
            <a:chExt cx="4622188" cy="1020376"/>
          </a:xfrm>
        </p:grpSpPr>
        <p:sp>
          <p:nvSpPr>
            <p:cNvPr id="15" name="Freeform 15"/>
            <p:cNvSpPr/>
            <p:nvPr/>
          </p:nvSpPr>
          <p:spPr>
            <a:xfrm>
              <a:off x="0" y="0"/>
              <a:ext cx="4622165" cy="1020318"/>
            </a:xfrm>
            <a:custGeom>
              <a:avLst/>
              <a:gdLst/>
              <a:ahLst/>
              <a:cxnLst/>
              <a:rect l="l" t="t" r="r" b="b"/>
              <a:pathLst>
                <a:path w="4622165" h="1020318">
                  <a:moveTo>
                    <a:pt x="0" y="0"/>
                  </a:moveTo>
                  <a:lnTo>
                    <a:pt x="4622165" y="0"/>
                  </a:lnTo>
                  <a:lnTo>
                    <a:pt x="4622165" y="1020318"/>
                  </a:lnTo>
                  <a:lnTo>
                    <a:pt x="0" y="1020318"/>
                  </a:lnTo>
                  <a:lnTo>
                    <a:pt x="0" y="0"/>
                  </a:lnTo>
                  <a:close/>
                </a:path>
              </a:pathLst>
            </a:custGeom>
            <a:blipFill>
              <a:blip r:embed="rId4"/>
              <a:stretch>
                <a:fillRect b="-5"/>
              </a:stretch>
            </a:blipFill>
          </p:spPr>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571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Freeform 5"/>
          <p:cNvSpPr/>
          <p:nvPr/>
        </p:nvSpPr>
        <p:spPr>
          <a:xfrm>
            <a:off x="3876596" y="326236"/>
            <a:ext cx="15144750" cy="659311"/>
          </a:xfrm>
          <a:custGeom>
            <a:avLst/>
            <a:gdLst/>
            <a:ahLst/>
            <a:cxnLst/>
            <a:rect l="l" t="t" r="r" b="b"/>
            <a:pathLst>
              <a:path w="15144750" h="659311">
                <a:moveTo>
                  <a:pt x="0" y="0"/>
                </a:moveTo>
                <a:lnTo>
                  <a:pt x="15144750" y="0"/>
                </a:lnTo>
                <a:lnTo>
                  <a:pt x="15144750" y="659312"/>
                </a:lnTo>
                <a:lnTo>
                  <a:pt x="0" y="65931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a:grpSpLocks noChangeAspect="1"/>
          </p:cNvGrpSpPr>
          <p:nvPr/>
        </p:nvGrpSpPr>
        <p:grpSpPr>
          <a:xfrm rot="0">
            <a:off x="16100484" y="264381"/>
            <a:ext cx="1896959" cy="667167"/>
            <a:chOff x="0" y="0"/>
            <a:chExt cx="2529278" cy="889556"/>
          </a:xfrm>
        </p:grpSpPr>
        <p:sp>
          <p:nvSpPr>
            <p:cNvPr id="7" name="Freeform 7"/>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4"/>
              <a:stretch>
                <a:fillRect t="-29960" r="2" b="-53"/>
              </a:stretch>
            </a:blipFill>
          </p:spPr>
        </p:sp>
      </p:grpSp>
      <p:sp>
        <p:nvSpPr>
          <p:cNvPr id="9" name="TextBox 9"/>
          <p:cNvSpPr txBox="1"/>
          <p:nvPr/>
        </p:nvSpPr>
        <p:spPr>
          <a:xfrm>
            <a:off x="189999" y="348244"/>
            <a:ext cx="518661" cy="63817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3</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0" name="TextBox 10"/>
          <p:cNvSpPr txBox="1"/>
          <p:nvPr/>
        </p:nvSpPr>
        <p:spPr>
          <a:xfrm>
            <a:off x="1143186" y="263128"/>
            <a:ext cx="2556328" cy="723900"/>
          </a:xfrm>
          <a:prstGeom prst="rect">
            <a:avLst/>
          </a:prstGeom>
        </p:spPr>
        <p:txBody>
          <a:bodyPr lIns="0" tIns="0" rIns="0" bIns="0" rtlCol="0" anchor="t">
            <a:spAutoFit/>
          </a:bodyPr>
          <a:lstStyle/>
          <a:p>
            <a:pPr algn="l">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总体架构</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1" name="TextBox 11"/>
          <p:cNvSpPr txBox="1"/>
          <p:nvPr/>
        </p:nvSpPr>
        <p:spPr>
          <a:xfrm>
            <a:off x="1371099" y="339684"/>
            <a:ext cx="9521658" cy="409575"/>
          </a:xfrm>
          <a:prstGeom prst="rect">
            <a:avLst/>
          </a:prstGeom>
        </p:spPr>
        <p:txBody>
          <a:bodyPr lIns="0" tIns="0" rIns="0" bIns="0" rtlCol="0" anchor="t">
            <a:spAutoFit/>
          </a:bodyPr>
          <a:lstStyle/>
          <a:p>
            <a:pPr algn="ctr">
              <a:lnSpc>
                <a:spcPts val="3240"/>
              </a:lnSpc>
            </a:pPr>
            <a:r>
              <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OVERALL ARCHITECTURE</a:t>
            </a:r>
            <a:endPar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pic>
        <p:nvPicPr>
          <p:cNvPr id="13" name="图片 12" descr="1755250239350"/>
          <p:cNvPicPr>
            <a:picLocks noChangeAspect="1"/>
          </p:cNvPicPr>
          <p:nvPr/>
        </p:nvPicPr>
        <p:blipFill>
          <a:blip r:embed="rId5"/>
          <a:srcRect b="3737"/>
          <a:stretch>
            <a:fillRect/>
          </a:stretch>
        </p:blipFill>
        <p:spPr>
          <a:xfrm>
            <a:off x="11811000" y="1104900"/>
            <a:ext cx="6262370" cy="9187815"/>
          </a:xfrm>
          <a:prstGeom prst="rect">
            <a:avLst/>
          </a:prstGeom>
        </p:spPr>
      </p:pic>
      <p:sp>
        <p:nvSpPr>
          <p:cNvPr id="19" name="Freeform 9"/>
          <p:cNvSpPr/>
          <p:nvPr/>
        </p:nvSpPr>
        <p:spPr>
          <a:xfrm>
            <a:off x="0" y="931545"/>
            <a:ext cx="5163820" cy="1136650"/>
          </a:xfrm>
          <a:custGeom>
            <a:avLst/>
            <a:gdLst/>
            <a:ahLst/>
            <a:cxnLst/>
            <a:rect l="l" t="t" r="r" b="b"/>
            <a:pathLst>
              <a:path w="8597416" h="1498644">
                <a:moveTo>
                  <a:pt x="0" y="0"/>
                </a:moveTo>
                <a:lnTo>
                  <a:pt x="8597416" y="0"/>
                </a:lnTo>
                <a:lnTo>
                  <a:pt x="8597416" y="1498644"/>
                </a:lnTo>
                <a:lnTo>
                  <a:pt x="0" y="1498644"/>
                </a:lnTo>
                <a:close/>
              </a:path>
            </a:pathLst>
          </a:custGeom>
          <a:solidFill>
            <a:srgbClr val="014924"/>
          </a:solidFill>
        </p:spPr>
      </p:sp>
      <p:sp>
        <p:nvSpPr>
          <p:cNvPr id="20" name="文本框 19"/>
          <p:cNvSpPr txBox="1"/>
          <p:nvPr/>
        </p:nvSpPr>
        <p:spPr>
          <a:xfrm>
            <a:off x="457200" y="1409700"/>
            <a:ext cx="4620895" cy="514350"/>
          </a:xfrm>
          <a:prstGeom prst="rect">
            <a:avLst/>
          </a:prstGeom>
          <a:noFill/>
        </p:spPr>
        <p:txBody>
          <a:bodyPr wrap="square" rtlCol="0" anchor="t">
            <a:spAutoFit/>
          </a:bodyPr>
          <a:p>
            <a:pPr algn="ctr">
              <a:lnSpc>
                <a:spcPts val="3300"/>
              </a:lnSpc>
            </a:pPr>
            <a:r>
              <a:rPr lang="zh-CN" altLang="en-US" sz="44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三层架构设计</a:t>
            </a:r>
            <a:endParaRPr lang="zh-CN" altLang="en-US" sz="44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pic>
        <p:nvPicPr>
          <p:cNvPr id="17" name="图片 16" descr="1755250239350"/>
          <p:cNvPicPr>
            <a:picLocks noChangeAspect="1"/>
          </p:cNvPicPr>
          <p:nvPr/>
        </p:nvPicPr>
        <p:blipFill>
          <a:blip r:embed="rId5"/>
          <a:srcRect t="57868" b="2752"/>
          <a:stretch>
            <a:fillRect/>
          </a:stretch>
        </p:blipFill>
        <p:spPr>
          <a:xfrm>
            <a:off x="381000" y="2247900"/>
            <a:ext cx="11029315" cy="7649210"/>
          </a:xfrm>
          <a:prstGeom prst="rect">
            <a:avLst/>
          </a:prstGeom>
        </p:spPr>
      </p:pic>
      <p:pic>
        <p:nvPicPr>
          <p:cNvPr id="15" name="图片 14" descr="1755250239350"/>
          <p:cNvPicPr>
            <a:picLocks noChangeAspect="1"/>
          </p:cNvPicPr>
          <p:nvPr/>
        </p:nvPicPr>
        <p:blipFill>
          <a:blip r:embed="rId5"/>
          <a:srcRect b="42098"/>
          <a:stretch>
            <a:fillRect/>
          </a:stretch>
        </p:blipFill>
        <p:spPr>
          <a:xfrm>
            <a:off x="304800" y="2171700"/>
            <a:ext cx="11034395" cy="79997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9481764" y="4029974"/>
            <a:ext cx="8806236" cy="2313674"/>
            <a:chOff x="0" y="0"/>
            <a:chExt cx="11741648" cy="3084898"/>
          </a:xfrm>
        </p:grpSpPr>
        <p:sp>
          <p:nvSpPr>
            <p:cNvPr id="4" name="Freeform 4"/>
            <p:cNvSpPr/>
            <p:nvPr/>
          </p:nvSpPr>
          <p:spPr>
            <a:xfrm>
              <a:off x="0" y="0"/>
              <a:ext cx="11741658" cy="3084957"/>
            </a:xfrm>
            <a:custGeom>
              <a:avLst/>
              <a:gdLst/>
              <a:ahLst/>
              <a:cxnLst/>
              <a:rect l="l" t="t" r="r" b="b"/>
              <a:pathLst>
                <a:path w="11741658" h="3084957">
                  <a:moveTo>
                    <a:pt x="0" y="0"/>
                  </a:moveTo>
                  <a:lnTo>
                    <a:pt x="11741658" y="0"/>
                  </a:lnTo>
                  <a:lnTo>
                    <a:pt x="11741658" y="3084957"/>
                  </a:lnTo>
                  <a:lnTo>
                    <a:pt x="0" y="3084957"/>
                  </a:lnTo>
                  <a:lnTo>
                    <a:pt x="0" y="0"/>
                  </a:lnTo>
                  <a:close/>
                </a:path>
              </a:pathLst>
            </a:custGeom>
            <a:blipFill>
              <a:blip r:embed="rId2"/>
              <a:stretch>
                <a:fillRect t="-74003" r="-17268" b="-160884"/>
              </a:stretch>
            </a:blipFill>
          </p:spPr>
        </p:sp>
      </p:grpSp>
      <p:grpSp>
        <p:nvGrpSpPr>
          <p:cNvPr id="5" name="Group 5"/>
          <p:cNvGrpSpPr/>
          <p:nvPr/>
        </p:nvGrpSpPr>
        <p:grpSpPr>
          <a:xfrm rot="0">
            <a:off x="4286250" y="4029075"/>
            <a:ext cx="14001750" cy="2314573"/>
            <a:chOff x="0" y="0"/>
            <a:chExt cx="18669000" cy="3086098"/>
          </a:xfrm>
        </p:grpSpPr>
        <p:sp>
          <p:nvSpPr>
            <p:cNvPr id="6" name="Freeform 6"/>
            <p:cNvSpPr/>
            <p:nvPr/>
          </p:nvSpPr>
          <p:spPr>
            <a:xfrm>
              <a:off x="0" y="0"/>
              <a:ext cx="18669000" cy="3086100"/>
            </a:xfrm>
            <a:custGeom>
              <a:avLst/>
              <a:gdLst/>
              <a:ahLst/>
              <a:cxnLst/>
              <a:rect l="l" t="t" r="r" b="b"/>
              <a:pathLst>
                <a:path w="18669000" h="3086100">
                  <a:moveTo>
                    <a:pt x="0" y="0"/>
                  </a:moveTo>
                  <a:lnTo>
                    <a:pt x="18669000" y="0"/>
                  </a:lnTo>
                  <a:lnTo>
                    <a:pt x="18669000" y="3086100"/>
                  </a:lnTo>
                  <a:lnTo>
                    <a:pt x="0" y="3086100"/>
                  </a:lnTo>
                  <a:close/>
                </a:path>
              </a:pathLst>
            </a:custGeom>
            <a:gradFill rotWithShape="1">
              <a:gsLst>
                <a:gs pos="0">
                  <a:srgbClr val="014924">
                    <a:alpha val="100000"/>
                  </a:srgbClr>
                </a:gs>
                <a:gs pos="35000">
                  <a:srgbClr val="014924">
                    <a:alpha val="100000"/>
                  </a:srgbClr>
                </a:gs>
                <a:gs pos="59000">
                  <a:srgbClr val="014924">
                    <a:alpha val="95000"/>
                  </a:srgbClr>
                </a:gs>
                <a:gs pos="77000">
                  <a:srgbClr val="014924">
                    <a:alpha val="70000"/>
                  </a:srgbClr>
                </a:gs>
                <a:gs pos="100000">
                  <a:srgbClr val="014924">
                    <a:alpha val="60000"/>
                  </a:srgbClr>
                </a:gs>
              </a:gsLst>
              <a:lin ang="0"/>
            </a:gradFill>
          </p:spPr>
        </p:sp>
      </p:grpSp>
      <p:grpSp>
        <p:nvGrpSpPr>
          <p:cNvPr id="7" name="Group 7"/>
          <p:cNvGrpSpPr/>
          <p:nvPr/>
        </p:nvGrpSpPr>
        <p:grpSpPr>
          <a:xfrm rot="0">
            <a:off x="1685925" y="4029075"/>
            <a:ext cx="2314575" cy="2314575"/>
            <a:chOff x="0" y="0"/>
            <a:chExt cx="3086100" cy="3086100"/>
          </a:xfrm>
        </p:grpSpPr>
        <p:sp>
          <p:nvSpPr>
            <p:cNvPr id="8" name="Freeform 8"/>
            <p:cNvSpPr/>
            <p:nvPr/>
          </p:nvSpPr>
          <p:spPr>
            <a:xfrm>
              <a:off x="0" y="0"/>
              <a:ext cx="3086100" cy="3086100"/>
            </a:xfrm>
            <a:custGeom>
              <a:avLst/>
              <a:gdLst/>
              <a:ahLst/>
              <a:cxnLst/>
              <a:rect l="l" t="t" r="r" b="b"/>
              <a:pathLst>
                <a:path w="3086100" h="3086100">
                  <a:moveTo>
                    <a:pt x="0" y="0"/>
                  </a:moveTo>
                  <a:lnTo>
                    <a:pt x="3086100" y="0"/>
                  </a:lnTo>
                  <a:lnTo>
                    <a:pt x="3086100" y="3086100"/>
                  </a:lnTo>
                  <a:lnTo>
                    <a:pt x="0" y="3086100"/>
                  </a:lnTo>
                  <a:close/>
                </a:path>
              </a:pathLst>
            </a:custGeom>
            <a:solidFill>
              <a:srgbClr val="549E39"/>
            </a:solidFill>
          </p:spPr>
        </p:sp>
      </p:grpSp>
      <p:sp>
        <p:nvSpPr>
          <p:cNvPr id="9" name="TextBox 9"/>
          <p:cNvSpPr txBox="1"/>
          <p:nvPr/>
        </p:nvSpPr>
        <p:spPr>
          <a:xfrm>
            <a:off x="2202368" y="4401086"/>
            <a:ext cx="1281690" cy="1504950"/>
          </a:xfrm>
          <a:prstGeom prst="rect">
            <a:avLst/>
          </a:prstGeom>
        </p:spPr>
        <p:txBody>
          <a:bodyPr lIns="0" tIns="0" rIns="0" bIns="0" rtlCol="0" anchor="t">
            <a:spAutoFit/>
          </a:bodyPr>
          <a:lstStyle/>
          <a:p>
            <a:pPr algn="ctr">
              <a:lnSpc>
                <a:spcPts val="11880"/>
              </a:lnSpc>
            </a:pPr>
            <a:r>
              <a:rPr lang="en-US" sz="99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4</a:t>
            </a:r>
            <a:endParaRPr lang="en-US" sz="99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0" name="TextBox 10"/>
          <p:cNvSpPr txBox="1"/>
          <p:nvPr/>
        </p:nvSpPr>
        <p:spPr>
          <a:xfrm>
            <a:off x="4516938" y="4519632"/>
            <a:ext cx="4710762" cy="1095375"/>
          </a:xfrm>
          <a:prstGeom prst="rect">
            <a:avLst/>
          </a:prstGeom>
        </p:spPr>
        <p:txBody>
          <a:bodyPr lIns="0" tIns="0" rIns="0" bIns="0" rtlCol="0" anchor="t">
            <a:spAutoFit/>
          </a:bodyPr>
          <a:lstStyle/>
          <a:p>
            <a:pPr algn="l">
              <a:lnSpc>
                <a:spcPts val="8640"/>
              </a:lnSpc>
            </a:pPr>
            <a:r>
              <a:rPr lang="en-US" sz="72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设计与实现</a:t>
            </a:r>
            <a:endParaRPr lang="en-US" sz="72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1" name="Group 11"/>
          <p:cNvGrpSpPr>
            <a:grpSpLocks noChangeAspect="1"/>
          </p:cNvGrpSpPr>
          <p:nvPr/>
        </p:nvGrpSpPr>
        <p:grpSpPr>
          <a:xfrm rot="0">
            <a:off x="14723000" y="203883"/>
            <a:ext cx="3565001" cy="1101770"/>
            <a:chOff x="0" y="0"/>
            <a:chExt cx="4753334" cy="1469026"/>
          </a:xfrm>
        </p:grpSpPr>
        <p:sp>
          <p:nvSpPr>
            <p:cNvPr id="12" name="Freeform 12"/>
            <p:cNvSpPr/>
            <p:nvPr/>
          </p:nvSpPr>
          <p:spPr>
            <a:xfrm>
              <a:off x="0" y="0"/>
              <a:ext cx="4753356" cy="1469009"/>
            </a:xfrm>
            <a:custGeom>
              <a:avLst/>
              <a:gdLst/>
              <a:ahLst/>
              <a:cxnLst/>
              <a:rect l="l" t="t" r="r" b="b"/>
              <a:pathLst>
                <a:path w="4753356" h="1469009">
                  <a:moveTo>
                    <a:pt x="0" y="0"/>
                  </a:moveTo>
                  <a:lnTo>
                    <a:pt x="4753356" y="0"/>
                  </a:lnTo>
                  <a:lnTo>
                    <a:pt x="4753356" y="1469009"/>
                  </a:lnTo>
                  <a:lnTo>
                    <a:pt x="0" y="1469009"/>
                  </a:lnTo>
                  <a:lnTo>
                    <a:pt x="0" y="0"/>
                  </a:lnTo>
                  <a:close/>
                </a:path>
              </a:pathLst>
            </a:custGeom>
            <a:blipFill>
              <a:blip r:embed="rId3"/>
              <a:stretch>
                <a:fillRect t="-34825" b="-13078"/>
              </a:stretch>
            </a:blipFill>
          </p:spPr>
        </p:sp>
      </p:grpSp>
      <p:sp>
        <p:nvSpPr>
          <p:cNvPr id="13" name="TextBox 13"/>
          <p:cNvSpPr txBox="1"/>
          <p:nvPr/>
        </p:nvSpPr>
        <p:spPr>
          <a:xfrm>
            <a:off x="2565027" y="5724730"/>
            <a:ext cx="8962686" cy="409575"/>
          </a:xfrm>
          <a:prstGeom prst="rect">
            <a:avLst/>
          </a:prstGeom>
        </p:spPr>
        <p:txBody>
          <a:bodyPr lIns="0" tIns="0" rIns="0" bIns="0" rtlCol="0" anchor="t">
            <a:spAutoFit/>
          </a:bodyPr>
          <a:lstStyle/>
          <a:p>
            <a:pPr algn="ctr">
              <a:lnSpc>
                <a:spcPts val="3240"/>
              </a:lnSpc>
            </a:pPr>
            <a:r>
              <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DESIGN &amp; IMPLEMENTATION</a:t>
            </a:r>
            <a:endPar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4" name="Group 14"/>
          <p:cNvGrpSpPr>
            <a:grpSpLocks noChangeAspect="1"/>
          </p:cNvGrpSpPr>
          <p:nvPr/>
        </p:nvGrpSpPr>
        <p:grpSpPr>
          <a:xfrm rot="0">
            <a:off x="10967054" y="372126"/>
            <a:ext cx="3466641" cy="765282"/>
            <a:chOff x="0" y="0"/>
            <a:chExt cx="4622188" cy="1020376"/>
          </a:xfrm>
        </p:grpSpPr>
        <p:sp>
          <p:nvSpPr>
            <p:cNvPr id="15" name="Freeform 15"/>
            <p:cNvSpPr/>
            <p:nvPr/>
          </p:nvSpPr>
          <p:spPr>
            <a:xfrm>
              <a:off x="0" y="0"/>
              <a:ext cx="4622165" cy="1020318"/>
            </a:xfrm>
            <a:custGeom>
              <a:avLst/>
              <a:gdLst/>
              <a:ahLst/>
              <a:cxnLst/>
              <a:rect l="l" t="t" r="r" b="b"/>
              <a:pathLst>
                <a:path w="4622165" h="1020318">
                  <a:moveTo>
                    <a:pt x="0" y="0"/>
                  </a:moveTo>
                  <a:lnTo>
                    <a:pt x="4622165" y="0"/>
                  </a:lnTo>
                  <a:lnTo>
                    <a:pt x="4622165" y="1020318"/>
                  </a:lnTo>
                  <a:lnTo>
                    <a:pt x="0" y="1020318"/>
                  </a:lnTo>
                  <a:lnTo>
                    <a:pt x="0" y="0"/>
                  </a:lnTo>
                  <a:close/>
                </a:path>
              </a:pathLst>
            </a:custGeom>
            <a:blipFill>
              <a:blip r:embed="rId4"/>
              <a:stretch>
                <a:fillRect b="-5"/>
              </a:stretch>
            </a:blipFill>
          </p:spPr>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381000" y="340624"/>
            <a:ext cx="1347105" cy="659502"/>
            <a:chOff x="0" y="0"/>
            <a:chExt cx="1796140" cy="879336"/>
          </a:xfrm>
        </p:grpSpPr>
        <p:sp>
          <p:nvSpPr>
            <p:cNvPr id="3" name="Freeform 3"/>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4" name="Freeform 4"/>
          <p:cNvSpPr/>
          <p:nvPr/>
        </p:nvSpPr>
        <p:spPr>
          <a:xfrm>
            <a:off x="5181600" y="326708"/>
            <a:ext cx="11867198" cy="659130"/>
          </a:xfrm>
          <a:custGeom>
            <a:avLst/>
            <a:gdLst/>
            <a:ahLst/>
            <a:cxnLst/>
            <a:rect l="l" t="t" r="r" b="b"/>
            <a:pathLst>
              <a:path w="11867198" h="659130">
                <a:moveTo>
                  <a:pt x="0" y="0"/>
                </a:moveTo>
                <a:lnTo>
                  <a:pt x="11867198" y="0"/>
                </a:lnTo>
                <a:lnTo>
                  <a:pt x="11867198" y="659130"/>
                </a:lnTo>
                <a:lnTo>
                  <a:pt x="0" y="65913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5" name="Group 5"/>
          <p:cNvGrpSpPr>
            <a:grpSpLocks noChangeAspect="1"/>
          </p:cNvGrpSpPr>
          <p:nvPr/>
        </p:nvGrpSpPr>
        <p:grpSpPr>
          <a:xfrm rot="0">
            <a:off x="14127856" y="264381"/>
            <a:ext cx="1896959" cy="667167"/>
            <a:chOff x="0" y="0"/>
            <a:chExt cx="2529278" cy="889556"/>
          </a:xfrm>
        </p:grpSpPr>
        <p:sp>
          <p:nvSpPr>
            <p:cNvPr id="6" name="Freeform 6"/>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3"/>
              <a:stretch>
                <a:fillRect t="-29960" r="2" b="-53"/>
              </a:stretch>
            </a:blipFill>
          </p:spPr>
        </p:sp>
      </p:grpSp>
      <p:grpSp>
        <p:nvGrpSpPr>
          <p:cNvPr id="9" name="Group 9"/>
          <p:cNvGrpSpPr/>
          <p:nvPr/>
        </p:nvGrpSpPr>
        <p:grpSpPr>
          <a:xfrm rot="0">
            <a:off x="0" y="1343660"/>
            <a:ext cx="3502660" cy="1122045"/>
            <a:chOff x="0" y="0"/>
            <a:chExt cx="3724910" cy="1496263"/>
          </a:xfrm>
        </p:grpSpPr>
        <p:sp>
          <p:nvSpPr>
            <p:cNvPr id="10" name="Freeform 10"/>
            <p:cNvSpPr/>
            <p:nvPr/>
          </p:nvSpPr>
          <p:spPr>
            <a:xfrm>
              <a:off x="0" y="0"/>
              <a:ext cx="3724910" cy="1496263"/>
            </a:xfrm>
            <a:custGeom>
              <a:avLst/>
              <a:gdLst/>
              <a:ahLst/>
              <a:cxnLst/>
              <a:rect l="l" t="t" r="r" b="b"/>
              <a:pathLst>
                <a:path w="3724910" h="1496263">
                  <a:moveTo>
                    <a:pt x="0" y="0"/>
                  </a:moveTo>
                  <a:lnTo>
                    <a:pt x="3724910" y="0"/>
                  </a:lnTo>
                  <a:lnTo>
                    <a:pt x="3724910" y="1496263"/>
                  </a:lnTo>
                  <a:lnTo>
                    <a:pt x="0" y="1496263"/>
                  </a:lnTo>
                  <a:close/>
                </a:path>
              </a:pathLst>
            </a:custGeom>
            <a:solidFill>
              <a:srgbClr val="014924"/>
            </a:solidFill>
          </p:spPr>
        </p:sp>
        <p:sp>
          <p:nvSpPr>
            <p:cNvPr id="11" name="TextBox 11"/>
            <p:cNvSpPr txBox="1"/>
            <p:nvPr/>
          </p:nvSpPr>
          <p:spPr>
            <a:xfrm>
              <a:off x="0" y="0"/>
              <a:ext cx="3724910" cy="1496263"/>
            </a:xfrm>
            <a:prstGeom prst="rect">
              <a:avLst/>
            </a:prstGeom>
          </p:spPr>
          <p:txBody>
            <a:bodyPr lIns="50800" tIns="50800" rIns="50800" bIns="50800" rtlCol="0" anchor="ctr"/>
            <a:lstStyle/>
            <a:p>
              <a:pPr algn="ctr">
                <a:lnSpc>
                  <a:spcPts val="3240"/>
                </a:lnSpc>
              </a:pPr>
              <a:r>
                <a:rPr lang="en-US" sz="3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调度</a:t>
              </a:r>
              <a:r>
                <a:rPr lang="zh-CN" altLang="en-US" sz="3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策略概述</a:t>
              </a:r>
              <a:endParaRPr lang="zh-CN" altLang="en-US" sz="3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sp>
        <p:nvSpPr>
          <p:cNvPr id="12" name="TextBox 12"/>
          <p:cNvSpPr txBox="1"/>
          <p:nvPr/>
        </p:nvSpPr>
        <p:spPr>
          <a:xfrm>
            <a:off x="189999" y="348244"/>
            <a:ext cx="518661" cy="63817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4</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3" name="TextBox 13"/>
          <p:cNvSpPr txBox="1"/>
          <p:nvPr/>
        </p:nvSpPr>
        <p:spPr>
          <a:xfrm>
            <a:off x="1461683" y="217965"/>
            <a:ext cx="3171881" cy="723900"/>
          </a:xfrm>
          <a:prstGeom prst="rect">
            <a:avLst/>
          </a:prstGeom>
        </p:spPr>
        <p:txBody>
          <a:bodyPr lIns="0" tIns="0" rIns="0" bIns="0" rtlCol="0" anchor="t">
            <a:spAutoFit/>
          </a:bodyPr>
          <a:lstStyle/>
          <a:p>
            <a:pPr algn="l">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设计与实现</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4" name="TextBox 14"/>
          <p:cNvSpPr txBox="1"/>
          <p:nvPr/>
        </p:nvSpPr>
        <p:spPr>
          <a:xfrm>
            <a:off x="3139064" y="341472"/>
            <a:ext cx="9521658" cy="409575"/>
          </a:xfrm>
          <a:prstGeom prst="rect">
            <a:avLst/>
          </a:prstGeom>
        </p:spPr>
        <p:txBody>
          <a:bodyPr lIns="0" tIns="0" rIns="0" bIns="0" rtlCol="0" anchor="t">
            <a:spAutoFit/>
          </a:bodyPr>
          <a:lstStyle/>
          <a:p>
            <a:pPr algn="ctr">
              <a:lnSpc>
                <a:spcPts val="3240"/>
              </a:lnSpc>
            </a:pPr>
            <a:r>
              <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DESIGN &amp; IMPLEMENTATION</a:t>
            </a:r>
            <a:endPar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6" name="TextBox 16"/>
          <p:cNvSpPr txBox="1"/>
          <p:nvPr/>
        </p:nvSpPr>
        <p:spPr>
          <a:xfrm>
            <a:off x="914400" y="2552700"/>
            <a:ext cx="15766415" cy="3793490"/>
          </a:xfrm>
          <a:prstGeom prst="rect">
            <a:avLst/>
          </a:prstGeom>
        </p:spPr>
        <p:txBody>
          <a:bodyPr wrap="square" lIns="0" tIns="0" rIns="0" bIns="0" rtlCol="0" anchor="t">
            <a:noAutofit/>
          </a:bodyPr>
          <a:lstStyle/>
          <a:p>
            <a:pPr marL="291465" lvl="1" indent="0" algn="l">
              <a:lnSpc>
                <a:spcPct val="156000"/>
              </a:lnSpc>
              <a:buNone/>
            </a:pPr>
            <a:r>
              <a:rPr lang="zh-CN" alt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针对</a:t>
            </a:r>
            <a:r>
              <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Bold" panose="020B0800000000000000" charset="-122"/>
              </a:rPr>
              <a:t>现有调度器(CFS)的不足，我们的改进Yat-CAshed策略：</a:t>
            </a:r>
            <a:endParaRPr lang="en-US" sz="28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582930" lvl="1" indent="-291465" algn="l">
              <a:lnSpc>
                <a:spcPct val="156000"/>
              </a:lnSpc>
              <a:buAutoNum type="arabicPeriod"/>
            </a:pPr>
            <a:r>
              <a:rPr lang="en-US" sz="2800" b="1">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维护历史信息</a:t>
            </a:r>
            <a:r>
              <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：记录每个任务在各CPU上的最近运行时间（recency）</a:t>
            </a:r>
            <a:endPar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marL="582930" lvl="1" indent="-291465" algn="l">
              <a:lnSpc>
                <a:spcPct val="156000"/>
              </a:lnSpc>
              <a:buAutoNum type="arabicPeriod"/>
            </a:pPr>
            <a:r>
              <a:rPr lang="en-US" sz="2800" b="1">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缓存感知调度</a:t>
            </a:r>
            <a:r>
              <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：根据recency优先选择缓存热度高的CPU，提升缓存命中率</a:t>
            </a:r>
            <a:endPar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marL="582930" lvl="1" indent="-291465" algn="l">
              <a:lnSpc>
                <a:spcPct val="156000"/>
              </a:lnSpc>
              <a:buAutoNum type="arabicPeriod"/>
            </a:pPr>
            <a:r>
              <a:rPr lang="en-US" sz="2800" b="1">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分层决策与分层队列</a:t>
            </a:r>
            <a:r>
              <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：结合任务优先级和WCET进行分层排序，兼顾关键任务优先与系统响应</a:t>
            </a:r>
            <a:endPar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marL="582930" lvl="1" indent="-291465" algn="l">
              <a:lnSpc>
                <a:spcPct val="156000"/>
              </a:lnSpc>
              <a:buAutoNum type="arabicPeriod"/>
            </a:pPr>
            <a:r>
              <a:rPr lang="en-US" sz="2800" b="1">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智能平衡</a:t>
            </a:r>
            <a:r>
              <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：在缓存利用率和负载均衡之间动态权衡，减少不必要的迁移</a:t>
            </a:r>
            <a:endPar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algn="ctr">
              <a:lnSpc>
                <a:spcPct val="156000"/>
              </a:lnSpc>
              <a:spcBef>
                <a:spcPct val="0"/>
              </a:spcBef>
            </a:pPr>
            <a:endPar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7" name="TextBox 17"/>
          <p:cNvSpPr txBox="1"/>
          <p:nvPr/>
        </p:nvSpPr>
        <p:spPr>
          <a:xfrm>
            <a:off x="1371600" y="6286500"/>
            <a:ext cx="7736840" cy="3267075"/>
          </a:xfrm>
          <a:prstGeom prst="rect">
            <a:avLst/>
          </a:prstGeom>
        </p:spPr>
        <p:txBody>
          <a:bodyPr lIns="0" tIns="0" rIns="0" bIns="0" rtlCol="0" anchor="t">
            <a:noAutofit/>
          </a:bodyPr>
          <a:lstStyle/>
          <a:p>
            <a:pPr algn="l">
              <a:lnSpc>
                <a:spcPct val="80000"/>
              </a:lnSpc>
              <a:spcBef>
                <a:spcPct val="0"/>
              </a:spcBef>
              <a:spcAft>
                <a:spcPct val="0"/>
              </a:spcAft>
            </a:pPr>
            <a:r>
              <a:rPr lang="en-US" sz="28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|─调度策略常量定义</a:t>
            </a:r>
            <a:endParaRPr lang="en-US" sz="28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ct val="80000"/>
              </a:lnSpc>
              <a:spcBef>
                <a:spcPct val="0"/>
              </a:spcBef>
              <a:spcAft>
                <a:spcPct val="0"/>
              </a:spcAft>
            </a:pPr>
            <a:r>
              <a:rPr lang="en-US" sz="28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 SCHED_NORMAL (0)</a:t>
            </a:r>
            <a:endParaRPr lang="en-US" sz="28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ct val="80000"/>
              </a:lnSpc>
              <a:spcBef>
                <a:spcPct val="0"/>
              </a:spcBef>
              <a:spcAft>
                <a:spcPct val="0"/>
              </a:spcAft>
            </a:pPr>
            <a:r>
              <a:rPr lang="en-US" sz="28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 SCHED_FIFO (1)</a:t>
            </a:r>
            <a:endParaRPr lang="en-US" sz="28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ct val="80000"/>
              </a:lnSpc>
              <a:spcBef>
                <a:spcPct val="0"/>
              </a:spcBef>
              <a:spcAft>
                <a:spcPct val="0"/>
              </a:spcAft>
            </a:pPr>
            <a:r>
              <a:rPr lang="en-US" sz="28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 SCHED_RR (2)</a:t>
            </a:r>
            <a:endParaRPr lang="en-US" sz="28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ct val="80000"/>
              </a:lnSpc>
              <a:spcBef>
                <a:spcPct val="0"/>
              </a:spcBef>
              <a:spcAft>
                <a:spcPct val="0"/>
              </a:spcAft>
            </a:pPr>
            <a:r>
              <a:rPr lang="en-US" sz="28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 SCHED_BATCH (3)</a:t>
            </a:r>
            <a:endParaRPr lang="en-US" sz="28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ct val="80000"/>
              </a:lnSpc>
              <a:spcBef>
                <a:spcPct val="0"/>
              </a:spcBef>
              <a:spcAft>
                <a:spcPct val="0"/>
              </a:spcAft>
            </a:pPr>
            <a:r>
              <a:rPr lang="en-US" sz="28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 SCHED_IDLE (5)</a:t>
            </a:r>
            <a:endParaRPr lang="en-US" sz="28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ct val="80000"/>
              </a:lnSpc>
              <a:spcBef>
                <a:spcPct val="0"/>
              </a:spcBef>
              <a:spcAft>
                <a:spcPct val="0"/>
              </a:spcAft>
            </a:pPr>
            <a:r>
              <a:rPr lang="en-US" sz="28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 SCHED_DEADLINE (6)</a:t>
            </a:r>
            <a:endParaRPr lang="en-US" sz="28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l">
              <a:lnSpc>
                <a:spcPct val="80000"/>
              </a:lnSpc>
              <a:spcBef>
                <a:spcPct val="0"/>
              </a:spcBef>
              <a:spcAft>
                <a:spcPct val="0"/>
              </a:spcAft>
            </a:pPr>
            <a:r>
              <a:rPr lang="en-US" sz="28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 SCHED_YAT_CASCHED (8)</a:t>
            </a:r>
            <a:r>
              <a:rPr lang="zh-CN" altLang="en-US" sz="28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a:t>
            </a:r>
            <a:r>
              <a:rPr lang="en-US" sz="28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new</a:t>
            </a:r>
            <a:r>
              <a:rPr lang="zh-CN" altLang="en-US" sz="28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a:t>
            </a:r>
            <a:endParaRPr lang="zh-CN" altLang="en-US" sz="28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9" name="Freeform 19"/>
          <p:cNvSpPr/>
          <p:nvPr/>
        </p:nvSpPr>
        <p:spPr>
          <a:xfrm>
            <a:off x="9829800" y="5779135"/>
            <a:ext cx="5888355" cy="3519170"/>
          </a:xfrm>
          <a:custGeom>
            <a:avLst/>
            <a:gdLst/>
            <a:ahLst/>
            <a:cxnLst/>
            <a:rect l="l" t="t" r="r" b="b"/>
            <a:pathLst>
              <a:path w="5811786" h="3614863">
                <a:moveTo>
                  <a:pt x="0" y="0"/>
                </a:moveTo>
                <a:lnTo>
                  <a:pt x="5811786" y="0"/>
                </a:lnTo>
                <a:lnTo>
                  <a:pt x="5811786" y="3614863"/>
                </a:lnTo>
                <a:lnTo>
                  <a:pt x="0" y="3614863"/>
                </a:lnTo>
                <a:lnTo>
                  <a:pt x="0" y="0"/>
                </a:lnTo>
                <a:close/>
              </a:path>
            </a:pathLst>
          </a:custGeom>
          <a:blipFill>
            <a:blip r:embed="rId4"/>
            <a:stretch>
              <a:fillRect l="-55456" t="-135312" r="-46343" b="-223265"/>
            </a:stretch>
          </a:blipFill>
        </p:spPr>
        <p:txBody>
          <a:bodyPr/>
          <a:p>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89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Freeform 5"/>
          <p:cNvSpPr/>
          <p:nvPr/>
        </p:nvSpPr>
        <p:spPr>
          <a:xfrm>
            <a:off x="5181600" y="326708"/>
            <a:ext cx="11867198" cy="659130"/>
          </a:xfrm>
          <a:custGeom>
            <a:avLst/>
            <a:gdLst/>
            <a:ahLst/>
            <a:cxnLst/>
            <a:rect l="l" t="t" r="r" b="b"/>
            <a:pathLst>
              <a:path w="11867198" h="659130">
                <a:moveTo>
                  <a:pt x="0" y="0"/>
                </a:moveTo>
                <a:lnTo>
                  <a:pt x="11867198" y="0"/>
                </a:lnTo>
                <a:lnTo>
                  <a:pt x="11867198" y="659130"/>
                </a:lnTo>
                <a:lnTo>
                  <a:pt x="0" y="6591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a:grpSpLocks noChangeAspect="1"/>
          </p:cNvGrpSpPr>
          <p:nvPr/>
        </p:nvGrpSpPr>
        <p:grpSpPr>
          <a:xfrm rot="0">
            <a:off x="14127856" y="264381"/>
            <a:ext cx="1896959" cy="667167"/>
            <a:chOff x="0" y="0"/>
            <a:chExt cx="2529278" cy="889556"/>
          </a:xfrm>
        </p:grpSpPr>
        <p:sp>
          <p:nvSpPr>
            <p:cNvPr id="7" name="Freeform 7"/>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4"/>
              <a:stretch>
                <a:fillRect t="-29960" r="2" b="-53"/>
              </a:stretch>
            </a:blipFill>
          </p:spPr>
        </p:sp>
      </p:grpSp>
      <p:sp>
        <p:nvSpPr>
          <p:cNvPr id="8" name="Freeform 8"/>
          <p:cNvSpPr/>
          <p:nvPr/>
        </p:nvSpPr>
        <p:spPr>
          <a:xfrm>
            <a:off x="7543800" y="1409700"/>
            <a:ext cx="10735310" cy="7358380"/>
          </a:xfrm>
          <a:custGeom>
            <a:avLst/>
            <a:gdLst/>
            <a:ahLst/>
            <a:cxnLst/>
            <a:rect l="l" t="t" r="r" b="b"/>
            <a:pathLst>
              <a:path w="8663441" h="4739129">
                <a:moveTo>
                  <a:pt x="0" y="0"/>
                </a:moveTo>
                <a:lnTo>
                  <a:pt x="8663441" y="0"/>
                </a:lnTo>
                <a:lnTo>
                  <a:pt x="8663441" y="4739129"/>
                </a:lnTo>
                <a:lnTo>
                  <a:pt x="0" y="4739129"/>
                </a:lnTo>
                <a:lnTo>
                  <a:pt x="0" y="0"/>
                </a:lnTo>
                <a:close/>
              </a:path>
            </a:pathLst>
          </a:custGeom>
          <a:blipFill>
            <a:blip r:embed="rId5"/>
            <a:stretch>
              <a:fillRect l="-16690" t="-6841" r="-18389" b="-11996"/>
            </a:stretch>
          </a:blipFill>
        </p:spPr>
      </p:sp>
      <p:sp>
        <p:nvSpPr>
          <p:cNvPr id="10" name="TextBox 10"/>
          <p:cNvSpPr txBox="1"/>
          <p:nvPr/>
        </p:nvSpPr>
        <p:spPr>
          <a:xfrm>
            <a:off x="189999" y="348244"/>
            <a:ext cx="518661" cy="63817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4</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1" name="TextBox 11"/>
          <p:cNvSpPr txBox="1"/>
          <p:nvPr/>
        </p:nvSpPr>
        <p:spPr>
          <a:xfrm>
            <a:off x="1461683" y="217965"/>
            <a:ext cx="3171881" cy="723900"/>
          </a:xfrm>
          <a:prstGeom prst="rect">
            <a:avLst/>
          </a:prstGeom>
        </p:spPr>
        <p:txBody>
          <a:bodyPr lIns="0" tIns="0" rIns="0" bIns="0" rtlCol="0" anchor="t">
            <a:spAutoFit/>
          </a:bodyPr>
          <a:lstStyle/>
          <a:p>
            <a:pPr algn="l">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设计与实现</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2" name="TextBox 12"/>
          <p:cNvSpPr txBox="1"/>
          <p:nvPr/>
        </p:nvSpPr>
        <p:spPr>
          <a:xfrm>
            <a:off x="3139064" y="341472"/>
            <a:ext cx="9521658" cy="409575"/>
          </a:xfrm>
          <a:prstGeom prst="rect">
            <a:avLst/>
          </a:prstGeom>
        </p:spPr>
        <p:txBody>
          <a:bodyPr lIns="0" tIns="0" rIns="0" bIns="0" rtlCol="0" anchor="t">
            <a:spAutoFit/>
          </a:bodyPr>
          <a:lstStyle/>
          <a:p>
            <a:pPr algn="ctr">
              <a:lnSpc>
                <a:spcPts val="3240"/>
              </a:lnSpc>
            </a:pPr>
            <a:r>
              <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DESIGN &amp; IMPLEMENTATION</a:t>
            </a:r>
            <a:endPar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4" name="TextBox 14"/>
          <p:cNvSpPr txBox="1"/>
          <p:nvPr/>
        </p:nvSpPr>
        <p:spPr>
          <a:xfrm>
            <a:off x="304800" y="2705100"/>
            <a:ext cx="6790055" cy="6218555"/>
          </a:xfrm>
          <a:prstGeom prst="rect">
            <a:avLst/>
          </a:prstGeom>
        </p:spPr>
        <p:txBody>
          <a:bodyPr wrap="square" lIns="0" tIns="0" rIns="0" bIns="0" rtlCol="0" anchor="t">
            <a:noAutofit/>
          </a:bodyPr>
          <a:lstStyle/>
          <a:p>
            <a:pPr marL="0" lvl="1" indent="-342900" algn="l">
              <a:lnSpc>
                <a:spcPct val="150000"/>
              </a:lnSpc>
              <a:buFont typeface="Arial" panose="020B0604020202020204" pitchFamily="34" charset="0"/>
              <a:buChar char="•"/>
            </a:pPr>
            <a:r>
              <a:rPr lang="en-US" sz="3200" b="1" i="1">
                <a:solidFill>
                  <a:srgbClr val="000000"/>
                </a:solidFill>
                <a:latin typeface="华文中宋" panose="02010600040101010101" charset="-122"/>
                <a:ea typeface="华文中宋" panose="02010600040101010101" charset="-122"/>
                <a:cs typeface="思源黑体 Bold" panose="020B0800000000000000" charset="-122"/>
                <a:sym typeface="思源黑体 Bold" panose="020B0800000000000000" charset="-122"/>
              </a:rPr>
              <a:t>任务接收</a:t>
            </a:r>
            <a:r>
              <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a:t>
            </a:r>
            <a:r>
              <a:rPr lang="en-US" sz="3200">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调度器接收来自就绪队列的多个任务节点</a:t>
            </a:r>
            <a:r>
              <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a:t>
            </a:r>
            <a:endPar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0" lvl="1" indent="-342900" algn="l">
              <a:lnSpc>
                <a:spcPct val="150000"/>
              </a:lnSpc>
              <a:buFont typeface="Arial" panose="020B0604020202020204" pitchFamily="34" charset="0"/>
              <a:buChar char="•"/>
            </a:pPr>
            <a:r>
              <a:rPr lang="en-US" sz="3200" b="1" i="1">
                <a:solidFill>
                  <a:srgbClr val="000000"/>
                </a:solidFill>
                <a:latin typeface="华文中宋" panose="02010600040101010101" charset="-122"/>
                <a:ea typeface="华文中宋" panose="02010600040101010101" charset="-122"/>
                <a:cs typeface="思源黑体 Bold" panose="020B0800000000000000" charset="-122"/>
                <a:sym typeface="思源黑体 Bold" panose="020B0800000000000000" charset="-122"/>
              </a:rPr>
              <a:t>调度决策</a:t>
            </a:r>
            <a:r>
              <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a:t>
            </a:r>
            <a:r>
              <a:rPr lang="en-US" sz="3200">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硬件感知调度器综合考虑加速表信息、核心负载状态和缓存亲和性，做出最优分配决策。</a:t>
            </a:r>
            <a:endParaRPr lang="en-US" sz="3200">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0" lvl="1" indent="-342900" algn="l">
              <a:lnSpc>
                <a:spcPct val="150000"/>
              </a:lnSpc>
              <a:buFont typeface="Arial" panose="020B0604020202020204" pitchFamily="34" charset="0"/>
              <a:buChar char="•"/>
            </a:pPr>
            <a:r>
              <a:rPr lang="en-US" sz="3200" b="1" i="1">
                <a:solidFill>
                  <a:srgbClr val="000000"/>
                </a:solidFill>
                <a:latin typeface="华文中宋" panose="02010600040101010101" charset="-122"/>
                <a:ea typeface="华文中宋" panose="02010600040101010101" charset="-122"/>
                <a:cs typeface="思源黑体 Bold" panose="020B0800000000000000" charset="-122"/>
                <a:sym typeface="思源黑体 Bold" panose="020B0800000000000000" charset="-122"/>
              </a:rPr>
              <a:t>执行监控</a:t>
            </a:r>
            <a:r>
              <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a:t>
            </a:r>
            <a:r>
              <a:rPr lang="en-US" sz="3200">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任务在指定核心上执行，系统收集执行性能数据。</a:t>
            </a:r>
            <a:endParaRPr lang="en-US" sz="3200">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0" lvl="1" indent="-342900" algn="l">
              <a:lnSpc>
                <a:spcPct val="150000"/>
              </a:lnSpc>
              <a:buFont typeface="Arial" panose="020B0604020202020204" pitchFamily="34" charset="0"/>
              <a:buChar char="•"/>
            </a:pPr>
            <a:r>
              <a:rPr lang="en-US" sz="3200" b="1" i="1">
                <a:solidFill>
                  <a:srgbClr val="000000"/>
                </a:solidFill>
                <a:latin typeface="华文中宋" panose="02010600040101010101" charset="-122"/>
                <a:ea typeface="华文中宋" panose="02010600040101010101" charset="-122"/>
                <a:cs typeface="思源黑体 Bold" panose="020B0800000000000000" charset="-122"/>
                <a:sym typeface="思源黑体 Bold" panose="020B0800000000000000" charset="-122"/>
              </a:rPr>
              <a:t>历史查询</a:t>
            </a:r>
            <a:r>
              <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a:t>
            </a:r>
            <a:r>
              <a:rPr lang="en-US" sz="3200">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查询历史调度日志，获取相关任务的历史执行数据。</a:t>
            </a:r>
            <a:endParaRPr lang="en-US" sz="3200">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342900" indent="-342900" algn="just">
              <a:lnSpc>
                <a:spcPct val="150000"/>
              </a:lnSpc>
              <a:buFont typeface="Arial" panose="020B0604020202020204" pitchFamily="34" charset="0"/>
              <a:buChar char="•"/>
            </a:pPr>
            <a:endPar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342900" indent="-342900" algn="just">
              <a:lnSpc>
                <a:spcPct val="150000"/>
              </a:lnSpc>
              <a:buFont typeface="Arial" panose="020B0604020202020204" pitchFamily="34" charset="0"/>
              <a:buChar char="•"/>
            </a:pPr>
            <a:endPar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342900" indent="-342900" algn="just">
              <a:lnSpc>
                <a:spcPct val="150000"/>
              </a:lnSpc>
              <a:buFont typeface="Arial" panose="020B0604020202020204" pitchFamily="34" charset="0"/>
              <a:buChar char="•"/>
            </a:pPr>
            <a:endPar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342900" indent="-342900" algn="l">
              <a:lnSpc>
                <a:spcPct val="150000"/>
              </a:lnSpc>
              <a:buFont typeface="Arial" panose="020B0604020202020204" pitchFamily="34" charset="0"/>
              <a:buChar char="•"/>
            </a:pPr>
            <a:endPar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nvGrpSpPr>
          <p:cNvPr id="15" name="Group 9"/>
          <p:cNvGrpSpPr/>
          <p:nvPr/>
        </p:nvGrpSpPr>
        <p:grpSpPr>
          <a:xfrm rot="0">
            <a:off x="-28575" y="1343350"/>
            <a:ext cx="3663315" cy="1122045"/>
            <a:chOff x="-982980" y="0"/>
            <a:chExt cx="4884419" cy="1496060"/>
          </a:xfrm>
        </p:grpSpPr>
        <p:sp>
          <p:nvSpPr>
            <p:cNvPr id="16" name="Freeform 10"/>
            <p:cNvSpPr/>
            <p:nvPr/>
          </p:nvSpPr>
          <p:spPr>
            <a:xfrm>
              <a:off x="-982980" y="0"/>
              <a:ext cx="4708312" cy="1496060"/>
            </a:xfrm>
            <a:custGeom>
              <a:avLst/>
              <a:gdLst/>
              <a:ahLst/>
              <a:cxnLst/>
              <a:rect l="l" t="t" r="r" b="b"/>
              <a:pathLst>
                <a:path w="3724910" h="1496263">
                  <a:moveTo>
                    <a:pt x="0" y="0"/>
                  </a:moveTo>
                  <a:lnTo>
                    <a:pt x="3724910" y="0"/>
                  </a:lnTo>
                  <a:lnTo>
                    <a:pt x="3724910" y="1496263"/>
                  </a:lnTo>
                  <a:lnTo>
                    <a:pt x="0" y="1496263"/>
                  </a:lnTo>
                  <a:close/>
                </a:path>
              </a:pathLst>
            </a:custGeom>
            <a:solidFill>
              <a:srgbClr val="014924"/>
            </a:solidFill>
          </p:spPr>
        </p:sp>
        <p:sp>
          <p:nvSpPr>
            <p:cNvPr id="17" name="TextBox 11"/>
            <p:cNvSpPr txBox="1"/>
            <p:nvPr/>
          </p:nvSpPr>
          <p:spPr>
            <a:xfrm>
              <a:off x="-640080" y="29633"/>
              <a:ext cx="4541519" cy="1466427"/>
            </a:xfrm>
            <a:prstGeom prst="rect">
              <a:avLst/>
            </a:prstGeom>
          </p:spPr>
          <p:txBody>
            <a:bodyPr lIns="50800" tIns="50800" rIns="50800" bIns="50800" rtlCol="0" anchor="ctr"/>
            <a:p>
              <a:pPr algn="ctr">
                <a:lnSpc>
                  <a:spcPts val="3240"/>
                </a:lnSpc>
              </a:pPr>
              <a:r>
                <a:rPr lang="zh-CN" altLang="en-US" sz="3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全局调度框架</a:t>
              </a:r>
              <a:endParaRPr lang="zh-CN" altLang="en-US" sz="3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sp>
        <p:nvSpPr>
          <p:cNvPr id="18" name="文本框 17"/>
          <p:cNvSpPr txBox="1"/>
          <p:nvPr/>
        </p:nvSpPr>
        <p:spPr>
          <a:xfrm>
            <a:off x="9296400" y="8877300"/>
            <a:ext cx="7492365" cy="506730"/>
          </a:xfrm>
          <a:prstGeom prst="rect">
            <a:avLst/>
          </a:prstGeom>
          <a:noFill/>
        </p:spPr>
        <p:txBody>
          <a:bodyPr wrap="square" rtlCol="0">
            <a:spAutoFit/>
          </a:bodyPr>
          <a:p>
            <a:pPr algn="ctr">
              <a:lnSpc>
                <a:spcPts val="3240"/>
              </a:lnSpc>
            </a:pPr>
            <a:r>
              <a:rPr lang="zh-CN" altLang="en-US" sz="2400" b="1">
                <a:solidFill>
                  <a:schemeClr val="tx1"/>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全局调度框架示意图</a:t>
            </a:r>
            <a:endParaRPr lang="zh-CN" altLang="en-US" sz="2400" b="1">
              <a:solidFill>
                <a:schemeClr val="tx1"/>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Freeform 5"/>
          <p:cNvSpPr/>
          <p:nvPr/>
        </p:nvSpPr>
        <p:spPr>
          <a:xfrm>
            <a:off x="5181600" y="326708"/>
            <a:ext cx="11867198" cy="659130"/>
          </a:xfrm>
          <a:custGeom>
            <a:avLst/>
            <a:gdLst/>
            <a:ahLst/>
            <a:cxnLst/>
            <a:rect l="l" t="t" r="r" b="b"/>
            <a:pathLst>
              <a:path w="11867198" h="659130">
                <a:moveTo>
                  <a:pt x="0" y="0"/>
                </a:moveTo>
                <a:lnTo>
                  <a:pt x="11867198" y="0"/>
                </a:lnTo>
                <a:lnTo>
                  <a:pt x="11867198" y="659130"/>
                </a:lnTo>
                <a:lnTo>
                  <a:pt x="0" y="6591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a:grpSpLocks noChangeAspect="1"/>
          </p:cNvGrpSpPr>
          <p:nvPr/>
        </p:nvGrpSpPr>
        <p:grpSpPr>
          <a:xfrm rot="0">
            <a:off x="14127856" y="264381"/>
            <a:ext cx="1896959" cy="667167"/>
            <a:chOff x="0" y="0"/>
            <a:chExt cx="2529278" cy="889556"/>
          </a:xfrm>
        </p:grpSpPr>
        <p:sp>
          <p:nvSpPr>
            <p:cNvPr id="7" name="Freeform 7"/>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4"/>
              <a:stretch>
                <a:fillRect t="-29960" r="2" b="-53"/>
              </a:stretch>
            </a:blipFill>
          </p:spPr>
        </p:sp>
      </p:grpSp>
      <p:sp>
        <p:nvSpPr>
          <p:cNvPr id="11" name="Freeform 11"/>
          <p:cNvSpPr/>
          <p:nvPr/>
        </p:nvSpPr>
        <p:spPr>
          <a:xfrm>
            <a:off x="321945" y="2324100"/>
            <a:ext cx="8861425" cy="3736340"/>
          </a:xfrm>
          <a:custGeom>
            <a:avLst/>
            <a:gdLst/>
            <a:ahLst/>
            <a:cxnLst/>
            <a:rect l="l" t="t" r="r" b="b"/>
            <a:pathLst>
              <a:path w="9468426" h="3736035">
                <a:moveTo>
                  <a:pt x="0" y="0"/>
                </a:moveTo>
                <a:lnTo>
                  <a:pt x="9468426" y="0"/>
                </a:lnTo>
                <a:lnTo>
                  <a:pt x="9468426" y="3736034"/>
                </a:lnTo>
                <a:lnTo>
                  <a:pt x="0" y="3736034"/>
                </a:lnTo>
                <a:lnTo>
                  <a:pt x="0" y="0"/>
                </a:lnTo>
                <a:close/>
              </a:path>
            </a:pathLst>
          </a:custGeom>
          <a:blipFill>
            <a:blip r:embed="rId5"/>
            <a:stretch>
              <a:fillRect l="-7046" r="-11179"/>
            </a:stretch>
          </a:blipFill>
        </p:spPr>
        <p:txBody>
          <a:bodyPr/>
          <a:p>
            <a:endParaRPr lang="zh-CN" altLang="en-US"/>
          </a:p>
        </p:txBody>
      </p:sp>
      <p:sp>
        <p:nvSpPr>
          <p:cNvPr id="12" name="Freeform 12"/>
          <p:cNvSpPr/>
          <p:nvPr/>
        </p:nvSpPr>
        <p:spPr>
          <a:xfrm>
            <a:off x="9372600" y="2095500"/>
            <a:ext cx="8144510" cy="3530600"/>
          </a:xfrm>
          <a:custGeom>
            <a:avLst/>
            <a:gdLst/>
            <a:ahLst/>
            <a:cxnLst/>
            <a:rect l="l" t="t" r="r" b="b"/>
            <a:pathLst>
              <a:path w="8410400" h="3753595">
                <a:moveTo>
                  <a:pt x="0" y="0"/>
                </a:moveTo>
                <a:lnTo>
                  <a:pt x="8410400" y="0"/>
                </a:lnTo>
                <a:lnTo>
                  <a:pt x="8410400" y="3753595"/>
                </a:lnTo>
                <a:lnTo>
                  <a:pt x="0" y="3753595"/>
                </a:lnTo>
                <a:lnTo>
                  <a:pt x="0" y="0"/>
                </a:lnTo>
                <a:close/>
              </a:path>
            </a:pathLst>
          </a:custGeom>
          <a:blipFill>
            <a:blip r:embed="rId6"/>
            <a:stretch>
              <a:fillRect/>
            </a:stretch>
          </a:blipFill>
        </p:spPr>
        <p:txBody>
          <a:bodyPr/>
          <a:p>
            <a:endParaRPr lang="zh-CN" altLang="en-US"/>
          </a:p>
        </p:txBody>
      </p:sp>
      <p:sp>
        <p:nvSpPr>
          <p:cNvPr id="13" name="TextBox 13"/>
          <p:cNvSpPr txBox="1"/>
          <p:nvPr/>
        </p:nvSpPr>
        <p:spPr>
          <a:xfrm>
            <a:off x="189999" y="348244"/>
            <a:ext cx="518661" cy="63817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4</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4" name="TextBox 14"/>
          <p:cNvSpPr txBox="1"/>
          <p:nvPr/>
        </p:nvSpPr>
        <p:spPr>
          <a:xfrm>
            <a:off x="1461683" y="217965"/>
            <a:ext cx="3171881" cy="723900"/>
          </a:xfrm>
          <a:prstGeom prst="rect">
            <a:avLst/>
          </a:prstGeom>
        </p:spPr>
        <p:txBody>
          <a:bodyPr lIns="0" tIns="0" rIns="0" bIns="0" rtlCol="0" anchor="t">
            <a:spAutoFit/>
          </a:bodyPr>
          <a:lstStyle/>
          <a:p>
            <a:pPr algn="l">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设计与实现</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5" name="TextBox 15"/>
          <p:cNvSpPr txBox="1"/>
          <p:nvPr/>
        </p:nvSpPr>
        <p:spPr>
          <a:xfrm>
            <a:off x="3139064" y="341472"/>
            <a:ext cx="9521658" cy="409575"/>
          </a:xfrm>
          <a:prstGeom prst="rect">
            <a:avLst/>
          </a:prstGeom>
        </p:spPr>
        <p:txBody>
          <a:bodyPr lIns="0" tIns="0" rIns="0" bIns="0" rtlCol="0" anchor="t">
            <a:spAutoFit/>
          </a:bodyPr>
          <a:lstStyle/>
          <a:p>
            <a:pPr algn="ctr">
              <a:lnSpc>
                <a:spcPts val="3240"/>
              </a:lnSpc>
            </a:pPr>
            <a:r>
              <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DESIGN &amp; IMPLEMENTATION</a:t>
            </a:r>
            <a:endPar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6" name="TextBox 16"/>
          <p:cNvSpPr txBox="1"/>
          <p:nvPr/>
        </p:nvSpPr>
        <p:spPr>
          <a:xfrm>
            <a:off x="1143272" y="6439153"/>
            <a:ext cx="16292504" cy="3420110"/>
          </a:xfrm>
          <a:prstGeom prst="rect">
            <a:avLst/>
          </a:prstGeom>
        </p:spPr>
        <p:txBody>
          <a:bodyPr lIns="0" tIns="0" rIns="0" bIns="0" rtlCol="0" anchor="t">
            <a:spAutoFit/>
          </a:bodyPr>
          <a:lstStyle/>
          <a:p>
            <a:pPr algn="l">
              <a:lnSpc>
                <a:spcPct val="125000"/>
              </a:lnSpc>
            </a:pPr>
            <a:r>
              <a:rPr lang="en-US" sz="288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CRP（Cache Recency Profile），</a:t>
            </a:r>
            <a:r>
              <a:rPr lang="en-US" sz="2880" b="1" i="1">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缓存重用距离模型</a:t>
            </a:r>
            <a:r>
              <a:rPr lang="en-US" sz="288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，是一种</a:t>
            </a:r>
            <a:r>
              <a:rPr lang="en-US" sz="2880" b="1">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轻量化</a:t>
            </a:r>
            <a:r>
              <a:rPr lang="en-US" sz="288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任务缓存局部性的经验模型。</a:t>
            </a:r>
            <a:endParaRPr lang="en-US" sz="288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algn="l">
              <a:lnSpc>
                <a:spcPct val="125000"/>
              </a:lnSpc>
              <a:spcBef>
                <a:spcPct val="0"/>
              </a:spcBef>
            </a:pPr>
            <a:r>
              <a:rPr lang="en-US" sz="288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核心思想：通过度量任务自上次在某CPU或集群上运行以来，期间其他任务对该缓存层的占用，量化当前任务在该CPU上命中缓存的概率。缓存重用距离越短，任务重用缓存数据</a:t>
            </a:r>
            <a:r>
              <a:rPr lang="en-US" sz="288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的</a:t>
            </a:r>
            <a:r>
              <a:rPr lang="en-US" sz="288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可能性越高</a:t>
            </a:r>
            <a:r>
              <a:rPr lang="en-US" sz="288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，执行</a:t>
            </a:r>
            <a:r>
              <a:rPr lang="en-US" sz="288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效率越好；距离越长，</a:t>
            </a:r>
            <a:r>
              <a:rPr lang="en-US" sz="288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缓存</a:t>
            </a:r>
            <a:r>
              <a:rPr lang="en-US" sz="288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失</a:t>
            </a:r>
            <a:r>
              <a:rPr lang="en-US" sz="288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效</a:t>
            </a:r>
            <a:r>
              <a:rPr lang="en-US" sz="288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概率越高，执行时间趋近于最坏情况。</a:t>
            </a:r>
            <a:endParaRPr lang="en-US" sz="288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algn="ctr">
              <a:lnSpc>
                <a:spcPct val="125000"/>
              </a:lnSpc>
              <a:spcBef>
                <a:spcPct val="0"/>
              </a:spcBef>
            </a:pPr>
            <a:r>
              <a:rPr lang="en-US" sz="3380" b="1">
                <a:solidFill>
                  <a:srgbClr val="FF0000"/>
                </a:solidFill>
                <a:latin typeface="思源黑体" panose="020B0500000000000000" charset="-122"/>
                <a:ea typeface="思源黑体" panose="020B0500000000000000" charset="-122"/>
                <a:cs typeface="思源黑体" panose="020B0500000000000000" charset="-122"/>
                <a:sym typeface="思源黑体" panose="020B0500000000000000" charset="-122"/>
              </a:rPr>
              <a:t>recency distance = 两次目标任务之间，所有干扰任务的NOUC之和</a:t>
            </a:r>
            <a:endParaRPr lang="en-US" sz="3380" b="1">
              <a:solidFill>
                <a:srgbClr val="FF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algn="l">
              <a:lnSpc>
                <a:spcPct val="125000"/>
              </a:lnSpc>
              <a:spcBef>
                <a:spcPct val="0"/>
              </a:spcBef>
            </a:pPr>
            <a:r>
              <a:rPr lang="en-US" sz="288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CRP为调度器提供了缓存感知的决策依据，帮助任务优先分配到“缓存更热”的CPU，提升系统性能。</a:t>
            </a:r>
            <a:endParaRPr lang="en-US" sz="288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7" name="TextBox 17"/>
          <p:cNvSpPr txBox="1"/>
          <p:nvPr/>
        </p:nvSpPr>
        <p:spPr>
          <a:xfrm>
            <a:off x="10591601" y="5753353"/>
            <a:ext cx="6245107" cy="409575"/>
          </a:xfrm>
          <a:prstGeom prst="rect">
            <a:avLst/>
          </a:prstGeom>
        </p:spPr>
        <p:txBody>
          <a:bodyPr lIns="0" tIns="0" rIns="0" bIns="0" rtlCol="0" anchor="t">
            <a:spAutoFit/>
          </a:bodyPr>
          <a:lstStyle/>
          <a:p>
            <a:pPr algn="ctr">
              <a:lnSpc>
                <a:spcPts val="3240"/>
              </a:lnSpc>
              <a:spcBef>
                <a:spcPct val="0"/>
              </a:spcBef>
            </a:pPr>
            <a:r>
              <a:rPr lang="en-US" sz="27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 </a:t>
            </a:r>
            <a:r>
              <a:rPr lang="en-US" sz="2700">
                <a:solidFill>
                  <a:srgbClr val="000000"/>
                </a:solidFill>
                <a:highlight>
                  <a:srgbClr val="FFFF00"/>
                </a:highlight>
                <a:latin typeface="思源黑体" panose="020B0500000000000000" charset="-122"/>
                <a:ea typeface="思源黑体" panose="020B0500000000000000" charset="-122"/>
                <a:cs typeface="思源黑体" panose="020B0500000000000000" charset="-122"/>
                <a:sym typeface="思源黑体" panose="020B0500000000000000" charset="-122"/>
              </a:rPr>
              <a:t>number of unique cache lines (NOUC)</a:t>
            </a:r>
            <a:r>
              <a:rPr lang="en-US" sz="27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 </a:t>
            </a:r>
            <a:endParaRPr lang="en-US" sz="27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8" name="Group 8"/>
          <p:cNvGrpSpPr/>
          <p:nvPr/>
        </p:nvGrpSpPr>
        <p:grpSpPr>
          <a:xfrm rot="0">
            <a:off x="0" y="1136479"/>
            <a:ext cx="6569386" cy="1145131"/>
            <a:chOff x="0" y="0"/>
            <a:chExt cx="8597417" cy="1498644"/>
          </a:xfrm>
        </p:grpSpPr>
        <p:sp>
          <p:nvSpPr>
            <p:cNvPr id="19" name="Freeform 9"/>
            <p:cNvSpPr/>
            <p:nvPr/>
          </p:nvSpPr>
          <p:spPr>
            <a:xfrm>
              <a:off x="0" y="0"/>
              <a:ext cx="8597416" cy="1498644"/>
            </a:xfrm>
            <a:custGeom>
              <a:avLst/>
              <a:gdLst/>
              <a:ahLst/>
              <a:cxnLst/>
              <a:rect l="l" t="t" r="r" b="b"/>
              <a:pathLst>
                <a:path w="8597416" h="1498644">
                  <a:moveTo>
                    <a:pt x="0" y="0"/>
                  </a:moveTo>
                  <a:lnTo>
                    <a:pt x="8597416" y="0"/>
                  </a:lnTo>
                  <a:lnTo>
                    <a:pt x="8597416" y="1498644"/>
                  </a:lnTo>
                  <a:lnTo>
                    <a:pt x="0" y="1498644"/>
                  </a:lnTo>
                  <a:close/>
                </a:path>
              </a:pathLst>
            </a:custGeom>
            <a:solidFill>
              <a:srgbClr val="014924"/>
            </a:solidFill>
          </p:spPr>
        </p:sp>
        <p:sp>
          <p:nvSpPr>
            <p:cNvPr id="20" name="TextBox 10"/>
            <p:cNvSpPr txBox="1"/>
            <p:nvPr/>
          </p:nvSpPr>
          <p:spPr>
            <a:xfrm>
              <a:off x="0" y="-9525"/>
              <a:ext cx="8597417" cy="1508169"/>
            </a:xfrm>
            <a:prstGeom prst="rect">
              <a:avLst/>
            </a:prstGeom>
          </p:spPr>
          <p:txBody>
            <a:bodyPr lIns="51756" tIns="51756" rIns="51756" bIns="51756" rtlCol="0" anchor="ctr"/>
            <a:p>
              <a:pPr algn="ctr">
                <a:lnSpc>
                  <a:spcPts val="3300"/>
                </a:lnSpc>
              </a:pPr>
              <a:r>
                <a:rPr lang="en-US" sz="275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CRP（Cache Recency Profile）简介</a:t>
              </a:r>
              <a:endParaRPr lang="en-US" sz="275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Freeform 5"/>
          <p:cNvSpPr/>
          <p:nvPr/>
        </p:nvSpPr>
        <p:spPr>
          <a:xfrm>
            <a:off x="5181600" y="326708"/>
            <a:ext cx="11867198" cy="659130"/>
          </a:xfrm>
          <a:custGeom>
            <a:avLst/>
            <a:gdLst/>
            <a:ahLst/>
            <a:cxnLst/>
            <a:rect l="l" t="t" r="r" b="b"/>
            <a:pathLst>
              <a:path w="11867198" h="659130">
                <a:moveTo>
                  <a:pt x="0" y="0"/>
                </a:moveTo>
                <a:lnTo>
                  <a:pt x="11867198" y="0"/>
                </a:lnTo>
                <a:lnTo>
                  <a:pt x="11867198" y="659130"/>
                </a:lnTo>
                <a:lnTo>
                  <a:pt x="0" y="65913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6" name="Group 6"/>
          <p:cNvGrpSpPr>
            <a:grpSpLocks noChangeAspect="1"/>
          </p:cNvGrpSpPr>
          <p:nvPr/>
        </p:nvGrpSpPr>
        <p:grpSpPr>
          <a:xfrm rot="0">
            <a:off x="14127856" y="264381"/>
            <a:ext cx="1896959" cy="667167"/>
            <a:chOff x="0" y="0"/>
            <a:chExt cx="2529278" cy="889556"/>
          </a:xfrm>
        </p:grpSpPr>
        <p:sp>
          <p:nvSpPr>
            <p:cNvPr id="7" name="Freeform 7"/>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3"/>
              <a:stretch>
                <a:fillRect t="-29960" r="2" b="-53"/>
              </a:stretch>
            </a:blipFill>
          </p:spPr>
        </p:sp>
      </p:grpSp>
      <p:sp>
        <p:nvSpPr>
          <p:cNvPr id="8" name="Freeform 8"/>
          <p:cNvSpPr/>
          <p:nvPr/>
        </p:nvSpPr>
        <p:spPr>
          <a:xfrm>
            <a:off x="8991600" y="3848100"/>
            <a:ext cx="8418830" cy="5496560"/>
          </a:xfrm>
          <a:custGeom>
            <a:avLst/>
            <a:gdLst/>
            <a:ahLst/>
            <a:cxnLst/>
            <a:rect l="l" t="t" r="r" b="b"/>
            <a:pathLst>
              <a:path w="8419004" h="4687176">
                <a:moveTo>
                  <a:pt x="0" y="0"/>
                </a:moveTo>
                <a:lnTo>
                  <a:pt x="8419004" y="0"/>
                </a:lnTo>
                <a:lnTo>
                  <a:pt x="8419004" y="4687175"/>
                </a:lnTo>
                <a:lnTo>
                  <a:pt x="0" y="4687175"/>
                </a:lnTo>
                <a:lnTo>
                  <a:pt x="0" y="0"/>
                </a:lnTo>
                <a:close/>
              </a:path>
            </a:pathLst>
          </a:custGeom>
          <a:blipFill>
            <a:blip r:embed="rId4"/>
            <a:stretch>
              <a:fillRect/>
            </a:stretch>
          </a:blipFill>
        </p:spPr>
        <p:txBody>
          <a:bodyPr/>
          <a:p>
            <a:endParaRPr lang="zh-CN" altLang="en-US"/>
          </a:p>
        </p:txBody>
      </p:sp>
      <p:sp>
        <p:nvSpPr>
          <p:cNvPr id="9" name="Freeform 9"/>
          <p:cNvSpPr/>
          <p:nvPr/>
        </p:nvSpPr>
        <p:spPr>
          <a:xfrm>
            <a:off x="3124200" y="1104900"/>
            <a:ext cx="13402310" cy="2628900"/>
          </a:xfrm>
          <a:custGeom>
            <a:avLst/>
            <a:gdLst/>
            <a:ahLst/>
            <a:cxnLst/>
            <a:rect l="l" t="t" r="r" b="b"/>
            <a:pathLst>
              <a:path w="14492667" h="2789838">
                <a:moveTo>
                  <a:pt x="0" y="0"/>
                </a:moveTo>
                <a:lnTo>
                  <a:pt x="14492666" y="0"/>
                </a:lnTo>
                <a:lnTo>
                  <a:pt x="14492666" y="2789838"/>
                </a:lnTo>
                <a:lnTo>
                  <a:pt x="0" y="2789838"/>
                </a:lnTo>
                <a:lnTo>
                  <a:pt x="0" y="0"/>
                </a:lnTo>
                <a:close/>
              </a:path>
            </a:pathLst>
          </a:custGeom>
          <a:blipFill>
            <a:blip r:embed="rId5"/>
            <a:stretch>
              <a:fillRect/>
            </a:stretch>
          </a:blipFill>
        </p:spPr>
        <p:txBody>
          <a:bodyPr/>
          <a:p>
            <a:endParaRPr lang="zh-CN" altLang="en-US"/>
          </a:p>
        </p:txBody>
      </p:sp>
      <p:sp>
        <p:nvSpPr>
          <p:cNvPr id="10" name="TextBox 10"/>
          <p:cNvSpPr txBox="1"/>
          <p:nvPr/>
        </p:nvSpPr>
        <p:spPr>
          <a:xfrm>
            <a:off x="189999" y="348244"/>
            <a:ext cx="518661" cy="63817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4</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1" name="TextBox 11"/>
          <p:cNvSpPr txBox="1"/>
          <p:nvPr/>
        </p:nvSpPr>
        <p:spPr>
          <a:xfrm>
            <a:off x="1461683" y="217965"/>
            <a:ext cx="3171881" cy="723900"/>
          </a:xfrm>
          <a:prstGeom prst="rect">
            <a:avLst/>
          </a:prstGeom>
        </p:spPr>
        <p:txBody>
          <a:bodyPr lIns="0" tIns="0" rIns="0" bIns="0" rtlCol="0" anchor="t">
            <a:spAutoFit/>
          </a:bodyPr>
          <a:lstStyle/>
          <a:p>
            <a:pPr algn="l">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设计与实现</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2" name="TextBox 12"/>
          <p:cNvSpPr txBox="1"/>
          <p:nvPr/>
        </p:nvSpPr>
        <p:spPr>
          <a:xfrm>
            <a:off x="3139064" y="341472"/>
            <a:ext cx="9521658" cy="409575"/>
          </a:xfrm>
          <a:prstGeom prst="rect">
            <a:avLst/>
          </a:prstGeom>
        </p:spPr>
        <p:txBody>
          <a:bodyPr lIns="0" tIns="0" rIns="0" bIns="0" rtlCol="0" anchor="t">
            <a:spAutoFit/>
          </a:bodyPr>
          <a:lstStyle/>
          <a:p>
            <a:pPr algn="ctr">
              <a:lnSpc>
                <a:spcPts val="3240"/>
              </a:lnSpc>
            </a:pPr>
            <a:r>
              <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DESIGN &amp; IMPLEMENTATION</a:t>
            </a:r>
            <a:endPar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3" name="TextBox 13"/>
          <p:cNvSpPr txBox="1"/>
          <p:nvPr/>
        </p:nvSpPr>
        <p:spPr>
          <a:xfrm>
            <a:off x="762000" y="3802380"/>
            <a:ext cx="7997825" cy="6401435"/>
          </a:xfrm>
          <a:prstGeom prst="rect">
            <a:avLst/>
          </a:prstGeom>
        </p:spPr>
        <p:txBody>
          <a:bodyPr wrap="square" lIns="0" tIns="0" rIns="0" bIns="0" rtlCol="0" anchor="t">
            <a:spAutoFit/>
          </a:bodyPr>
          <a:lstStyle/>
          <a:p>
            <a:pPr algn="l">
              <a:lnSpc>
                <a:spcPct val="100000"/>
              </a:lnSpc>
            </a:pPr>
            <a:r>
              <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CRP模型如何获得？</a:t>
            </a:r>
            <a:endPar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marL="563880" lvl="1" indent="-281940" algn="l">
              <a:lnSpc>
                <a:spcPct val="100000"/>
              </a:lnSpc>
              <a:buFont typeface="Arial" panose="020B0604020202020204"/>
              <a:buChar char="•"/>
            </a:pPr>
            <a:r>
              <a:rPr lang="en-US" sz="3200" b="1">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实验平台</a:t>
            </a:r>
            <a:r>
              <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：树莓派等真实多核硬件</a:t>
            </a:r>
            <a:endPar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marL="563880" lvl="1" indent="-281940" algn="l">
              <a:lnSpc>
                <a:spcPct val="100000"/>
              </a:lnSpc>
              <a:buFont typeface="Arial" panose="020B0604020202020204"/>
              <a:buChar char="•"/>
            </a:pPr>
            <a:r>
              <a:rPr lang="en-US" sz="3200" b="1">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实验方法</a:t>
            </a:r>
            <a:r>
              <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a:t>
            </a:r>
            <a:endPar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marL="1127760" lvl="2" indent="-375920" algn="l">
              <a:lnSpc>
                <a:spcPct val="100000"/>
              </a:lnSpc>
              <a:spcBef>
                <a:spcPct val="0"/>
              </a:spcBef>
              <a:buFont typeface="Arial" panose="020B0604020202020204"/>
              <a:buChar char="⚬"/>
            </a:pPr>
            <a:r>
              <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多次运行同一任务，每次运行之间插入不同量的干扰任务，控制recency distance（缓存</a:t>
            </a:r>
            <a:r>
              <a:rPr lang="zh-CN" alt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重用</a:t>
            </a:r>
            <a:r>
              <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距离）。</a:t>
            </a:r>
            <a:endPar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marL="1127760" lvl="2" indent="-375920" algn="l">
              <a:lnSpc>
                <a:spcPct val="100000"/>
              </a:lnSpc>
              <a:spcBef>
                <a:spcPct val="0"/>
              </a:spcBef>
              <a:buFont typeface="Arial" panose="020B0604020202020204"/>
              <a:buChar char="⚬"/>
            </a:pPr>
            <a:r>
              <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记录每次运行的实际执行时间，并与最坏执行时间（WCET）做比值。</a:t>
            </a:r>
            <a:endPar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marL="1127760" lvl="2" indent="-375920" algn="l">
              <a:lnSpc>
                <a:spcPct val="100000"/>
              </a:lnSpc>
              <a:spcBef>
                <a:spcPct val="0"/>
              </a:spcBef>
              <a:buFont typeface="Arial" panose="020B0604020202020204"/>
              <a:buChar char="⚬"/>
            </a:pPr>
            <a:r>
              <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横轴为recency distance，纵轴为speedup over WCET（加速比）。</a:t>
            </a:r>
            <a:endPar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marL="563880" lvl="1" indent="-281940" algn="l">
              <a:lnSpc>
                <a:spcPct val="100000"/>
              </a:lnSpc>
              <a:spcBef>
                <a:spcPct val="0"/>
              </a:spcBef>
              <a:buFont typeface="Arial" panose="020B0604020202020204"/>
              <a:buChar char="•"/>
            </a:pPr>
            <a:r>
              <a:rPr lang="en-US" sz="3200" b="1">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数据处理</a:t>
            </a:r>
            <a:r>
              <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：采用分段线性回归拟合实验数据，得到CRP主趋势曲线。</a:t>
            </a:r>
            <a:endPar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algn="l">
              <a:lnSpc>
                <a:spcPct val="100000"/>
              </a:lnSpc>
              <a:spcBef>
                <a:spcPct val="0"/>
              </a:spcBef>
            </a:pPr>
            <a:endParaRPr lang="en-US" sz="32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4" name="Group 8"/>
          <p:cNvGrpSpPr/>
          <p:nvPr/>
        </p:nvGrpSpPr>
        <p:grpSpPr>
          <a:xfrm rot="0">
            <a:off x="-304800" y="1136479"/>
            <a:ext cx="3096895" cy="1152525"/>
            <a:chOff x="-398895" y="0"/>
            <a:chExt cx="4052935" cy="1508321"/>
          </a:xfrm>
        </p:grpSpPr>
        <p:sp>
          <p:nvSpPr>
            <p:cNvPr id="15" name="Freeform 9"/>
            <p:cNvSpPr/>
            <p:nvPr/>
          </p:nvSpPr>
          <p:spPr>
            <a:xfrm>
              <a:off x="0" y="0"/>
              <a:ext cx="3272598" cy="1498348"/>
            </a:xfrm>
            <a:custGeom>
              <a:avLst/>
              <a:gdLst/>
              <a:ahLst/>
              <a:cxnLst/>
              <a:rect l="l" t="t" r="r" b="b"/>
              <a:pathLst>
                <a:path w="8597416" h="1498644">
                  <a:moveTo>
                    <a:pt x="0" y="0"/>
                  </a:moveTo>
                  <a:lnTo>
                    <a:pt x="8597416" y="0"/>
                  </a:lnTo>
                  <a:lnTo>
                    <a:pt x="8597416" y="1498644"/>
                  </a:lnTo>
                  <a:lnTo>
                    <a:pt x="0" y="1498644"/>
                  </a:lnTo>
                  <a:close/>
                </a:path>
              </a:pathLst>
            </a:custGeom>
            <a:solidFill>
              <a:srgbClr val="014924"/>
            </a:solidFill>
          </p:spPr>
        </p:sp>
        <p:sp>
          <p:nvSpPr>
            <p:cNvPr id="16" name="TextBox 10"/>
            <p:cNvSpPr txBox="1"/>
            <p:nvPr/>
          </p:nvSpPr>
          <p:spPr>
            <a:xfrm>
              <a:off x="-398895" y="0"/>
              <a:ext cx="4052935" cy="1508321"/>
            </a:xfrm>
            <a:prstGeom prst="rect">
              <a:avLst/>
            </a:prstGeom>
          </p:spPr>
          <p:txBody>
            <a:bodyPr lIns="51756" tIns="51756" rIns="51756" bIns="51756" rtlCol="0" anchor="ctr"/>
            <a:p>
              <a:pPr algn="ctr">
                <a:lnSpc>
                  <a:spcPts val="3300"/>
                </a:lnSpc>
              </a:pPr>
              <a:r>
                <a:rPr lang="en-US" sz="275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CRP简介</a:t>
              </a:r>
              <a:endParaRPr lang="en-US" sz="275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sp>
        <p:nvSpPr>
          <p:cNvPr id="17" name="文本框 16"/>
          <p:cNvSpPr txBox="1"/>
          <p:nvPr/>
        </p:nvSpPr>
        <p:spPr>
          <a:xfrm>
            <a:off x="12573000" y="3342005"/>
            <a:ext cx="2293620" cy="460375"/>
          </a:xfrm>
          <a:prstGeom prst="rect">
            <a:avLst/>
          </a:prstGeom>
          <a:noFill/>
        </p:spPr>
        <p:txBody>
          <a:bodyPr wrap="square" rtlCol="0">
            <a:spAutoFit/>
          </a:bodyPr>
          <a:p>
            <a:r>
              <a:rPr lang="en-US" altLang="zh-CN" sz="2400" b="1"/>
              <a:t>CRP</a:t>
            </a:r>
            <a:r>
              <a:rPr lang="zh-CN" altLang="en-US" sz="2400" b="1"/>
              <a:t>建模拟合图</a:t>
            </a:r>
            <a:endParaRPr lang="zh-CN" altLang="en-US" sz="2400"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3765"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Freeform 5"/>
          <p:cNvSpPr/>
          <p:nvPr/>
        </p:nvSpPr>
        <p:spPr>
          <a:xfrm>
            <a:off x="5181600" y="326708"/>
            <a:ext cx="11867198" cy="659130"/>
          </a:xfrm>
          <a:custGeom>
            <a:avLst/>
            <a:gdLst/>
            <a:ahLst/>
            <a:cxnLst/>
            <a:rect l="l" t="t" r="r" b="b"/>
            <a:pathLst>
              <a:path w="11867198" h="659130">
                <a:moveTo>
                  <a:pt x="0" y="0"/>
                </a:moveTo>
                <a:lnTo>
                  <a:pt x="11867198" y="0"/>
                </a:lnTo>
                <a:lnTo>
                  <a:pt x="11867198" y="659130"/>
                </a:lnTo>
                <a:lnTo>
                  <a:pt x="0" y="6591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a:grpSpLocks noChangeAspect="1"/>
          </p:cNvGrpSpPr>
          <p:nvPr/>
        </p:nvGrpSpPr>
        <p:grpSpPr>
          <a:xfrm rot="0">
            <a:off x="14127856" y="264381"/>
            <a:ext cx="1896959" cy="667167"/>
            <a:chOff x="0" y="0"/>
            <a:chExt cx="2529278" cy="889556"/>
          </a:xfrm>
        </p:grpSpPr>
        <p:sp>
          <p:nvSpPr>
            <p:cNvPr id="7" name="Freeform 7"/>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4"/>
              <a:stretch>
                <a:fillRect t="-29960" r="2" b="-53"/>
              </a:stretch>
            </a:blipFill>
          </p:spPr>
        </p:sp>
      </p:grpSp>
      <p:grpSp>
        <p:nvGrpSpPr>
          <p:cNvPr id="8" name="Group 8"/>
          <p:cNvGrpSpPr/>
          <p:nvPr/>
        </p:nvGrpSpPr>
        <p:grpSpPr>
          <a:xfrm rot="0">
            <a:off x="-64135" y="1061085"/>
            <a:ext cx="5692775" cy="1165860"/>
            <a:chOff x="-1682327" y="0"/>
            <a:chExt cx="8008427" cy="1554480"/>
          </a:xfrm>
        </p:grpSpPr>
        <p:sp>
          <p:nvSpPr>
            <p:cNvPr id="9" name="Freeform 9"/>
            <p:cNvSpPr/>
            <p:nvPr/>
          </p:nvSpPr>
          <p:spPr>
            <a:xfrm>
              <a:off x="-1682327" y="0"/>
              <a:ext cx="7687732" cy="1496060"/>
            </a:xfrm>
            <a:custGeom>
              <a:avLst/>
              <a:gdLst/>
              <a:ahLst/>
              <a:cxnLst/>
              <a:rect l="l" t="t" r="r" b="b"/>
              <a:pathLst>
                <a:path w="3724910" h="1496263">
                  <a:moveTo>
                    <a:pt x="0" y="0"/>
                  </a:moveTo>
                  <a:lnTo>
                    <a:pt x="3724910" y="0"/>
                  </a:lnTo>
                  <a:lnTo>
                    <a:pt x="3724910" y="1496263"/>
                  </a:lnTo>
                  <a:lnTo>
                    <a:pt x="0" y="1496263"/>
                  </a:lnTo>
                  <a:close/>
                </a:path>
              </a:pathLst>
            </a:custGeom>
            <a:solidFill>
              <a:srgbClr val="014924"/>
            </a:solidFill>
          </p:spPr>
        </p:sp>
        <p:sp>
          <p:nvSpPr>
            <p:cNvPr id="10" name="TextBox 10"/>
            <p:cNvSpPr txBox="1"/>
            <p:nvPr/>
          </p:nvSpPr>
          <p:spPr>
            <a:xfrm>
              <a:off x="-1495627" y="58420"/>
              <a:ext cx="7821727" cy="1496060"/>
            </a:xfrm>
            <a:prstGeom prst="rect">
              <a:avLst/>
            </a:prstGeom>
          </p:spPr>
          <p:txBody>
            <a:bodyPr lIns="50800" tIns="50800" rIns="50800" bIns="50800" rtlCol="0" anchor="ctr"/>
            <a:lstStyle/>
            <a:p>
              <a:pPr algn="l">
                <a:lnSpc>
                  <a:spcPts val="3240"/>
                </a:lnSpc>
              </a:pPr>
              <a:r>
                <a:rPr lang="en-US" sz="3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调度模拟器</a:t>
              </a:r>
              <a:r>
                <a:rPr lang="zh-CN" altLang="en-US" sz="3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验证缓存的影响</a:t>
              </a:r>
              <a:endParaRPr lang="zh-CN" altLang="en-US" sz="3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sp>
        <p:nvSpPr>
          <p:cNvPr id="11" name="Freeform 11"/>
          <p:cNvSpPr/>
          <p:nvPr/>
        </p:nvSpPr>
        <p:spPr>
          <a:xfrm>
            <a:off x="10134600" y="1061085"/>
            <a:ext cx="6979285" cy="8674100"/>
          </a:xfrm>
          <a:custGeom>
            <a:avLst/>
            <a:gdLst/>
            <a:ahLst/>
            <a:cxnLst/>
            <a:rect l="l" t="t" r="r" b="b"/>
            <a:pathLst>
              <a:path w="5612062" h="7571079">
                <a:moveTo>
                  <a:pt x="0" y="0"/>
                </a:moveTo>
                <a:lnTo>
                  <a:pt x="5612063" y="0"/>
                </a:lnTo>
                <a:lnTo>
                  <a:pt x="5612063" y="7571079"/>
                </a:lnTo>
                <a:lnTo>
                  <a:pt x="0" y="7571079"/>
                </a:lnTo>
                <a:lnTo>
                  <a:pt x="0" y="0"/>
                </a:lnTo>
                <a:close/>
              </a:path>
            </a:pathLst>
          </a:custGeom>
          <a:blipFill>
            <a:blip r:embed="rId5"/>
            <a:stretch>
              <a:fillRect/>
            </a:stretch>
          </a:blipFill>
        </p:spPr>
      </p:sp>
      <p:sp>
        <p:nvSpPr>
          <p:cNvPr id="12" name="TextBox 12"/>
          <p:cNvSpPr txBox="1"/>
          <p:nvPr/>
        </p:nvSpPr>
        <p:spPr>
          <a:xfrm>
            <a:off x="189999" y="348244"/>
            <a:ext cx="518661" cy="63817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4</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3" name="TextBox 13"/>
          <p:cNvSpPr txBox="1"/>
          <p:nvPr/>
        </p:nvSpPr>
        <p:spPr>
          <a:xfrm>
            <a:off x="1461683" y="217965"/>
            <a:ext cx="3171881" cy="723900"/>
          </a:xfrm>
          <a:prstGeom prst="rect">
            <a:avLst/>
          </a:prstGeom>
        </p:spPr>
        <p:txBody>
          <a:bodyPr lIns="0" tIns="0" rIns="0" bIns="0" rtlCol="0" anchor="t">
            <a:spAutoFit/>
          </a:bodyPr>
          <a:lstStyle/>
          <a:p>
            <a:pPr algn="l">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设计与实现</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4" name="TextBox 14"/>
          <p:cNvSpPr txBox="1"/>
          <p:nvPr/>
        </p:nvSpPr>
        <p:spPr>
          <a:xfrm>
            <a:off x="3139064" y="341472"/>
            <a:ext cx="9521658" cy="409575"/>
          </a:xfrm>
          <a:prstGeom prst="rect">
            <a:avLst/>
          </a:prstGeom>
        </p:spPr>
        <p:txBody>
          <a:bodyPr lIns="0" tIns="0" rIns="0" bIns="0" rtlCol="0" anchor="t">
            <a:spAutoFit/>
          </a:bodyPr>
          <a:lstStyle/>
          <a:p>
            <a:pPr algn="ctr">
              <a:lnSpc>
                <a:spcPts val="3240"/>
              </a:lnSpc>
            </a:pPr>
            <a:r>
              <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DESIGN &amp; IMPLEMENTATION</a:t>
            </a:r>
            <a:endPar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6" name="Freeform 11"/>
          <p:cNvSpPr/>
          <p:nvPr/>
        </p:nvSpPr>
        <p:spPr>
          <a:xfrm>
            <a:off x="708660" y="4686300"/>
            <a:ext cx="8771890" cy="4737100"/>
          </a:xfrm>
          <a:custGeom>
            <a:avLst/>
            <a:gdLst/>
            <a:ahLst/>
            <a:cxnLst/>
            <a:rect l="l" t="t" r="r" b="b"/>
            <a:pathLst>
              <a:path w="8370936" h="4725173">
                <a:moveTo>
                  <a:pt x="0" y="0"/>
                </a:moveTo>
                <a:lnTo>
                  <a:pt x="8370935" y="0"/>
                </a:lnTo>
                <a:lnTo>
                  <a:pt x="8370935" y="4725173"/>
                </a:lnTo>
                <a:lnTo>
                  <a:pt x="0" y="4725173"/>
                </a:lnTo>
                <a:lnTo>
                  <a:pt x="0" y="0"/>
                </a:lnTo>
                <a:close/>
              </a:path>
            </a:pathLst>
          </a:custGeom>
          <a:blipFill>
            <a:blip r:embed="rId6"/>
            <a:stretch>
              <a:fillRect/>
            </a:stretch>
          </a:blipFill>
        </p:spPr>
        <p:txBody>
          <a:bodyPr/>
          <a:p>
            <a:endParaRPr lang="zh-CN" altLang="en-US"/>
          </a:p>
        </p:txBody>
      </p:sp>
      <p:sp>
        <p:nvSpPr>
          <p:cNvPr id="17" name="文本框 16"/>
          <p:cNvSpPr txBox="1"/>
          <p:nvPr/>
        </p:nvSpPr>
        <p:spPr>
          <a:xfrm>
            <a:off x="457200" y="2244090"/>
            <a:ext cx="9278620" cy="2256155"/>
          </a:xfrm>
          <a:prstGeom prst="rect">
            <a:avLst/>
          </a:prstGeom>
          <a:noFill/>
        </p:spPr>
        <p:txBody>
          <a:bodyPr wrap="square" rtlCol="0">
            <a:spAutoFit/>
          </a:bodyPr>
          <a:p>
            <a:pPr marL="457200" indent="-457200">
              <a:lnSpc>
                <a:spcPct val="110000"/>
              </a:lnSpc>
              <a:buFont typeface="Arial" panose="020B0604020202020204" pitchFamily="34" charset="0"/>
              <a:buChar char="•"/>
            </a:pPr>
            <a:r>
              <a:rPr lang="zh-CN" altLang="en-US" sz="3200" b="1"/>
              <a:t>比较缓存敏感的</a:t>
            </a:r>
            <a:r>
              <a:rPr lang="en-US" altLang="zh-CN" sz="3200" b="1"/>
              <a:t>Yat-CAshed</a:t>
            </a:r>
            <a:r>
              <a:rPr lang="zh-CN" altLang="en-US" sz="3200" b="1"/>
              <a:t>简易调度策略和缓存不敏感的</a:t>
            </a:r>
            <a:r>
              <a:rPr lang="en-US" altLang="zh-CN" sz="3200" b="1"/>
              <a:t>WFD</a:t>
            </a:r>
            <a:r>
              <a:rPr lang="zh-CN" altLang="en-US" sz="3200" b="1"/>
              <a:t>调度策略</a:t>
            </a:r>
            <a:endParaRPr lang="zh-CN" altLang="en-US" sz="3200" b="1"/>
          </a:p>
          <a:p>
            <a:pPr marL="457200" indent="-457200">
              <a:lnSpc>
                <a:spcPct val="110000"/>
              </a:lnSpc>
              <a:buFont typeface="Arial" panose="020B0604020202020204" pitchFamily="34" charset="0"/>
              <a:buChar char="•"/>
            </a:pPr>
            <a:r>
              <a:rPr lang="zh-CN" altLang="en-US" sz="3200" b="1"/>
              <a:t>反映缓存感知调度在实际多核系统中的性能表现，验证了缓存在调度和任务执行过程中的重要性。</a:t>
            </a:r>
            <a:endParaRPr lang="zh-CN" altLang="en-US" sz="3200"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Freeform 5"/>
          <p:cNvSpPr/>
          <p:nvPr/>
        </p:nvSpPr>
        <p:spPr>
          <a:xfrm>
            <a:off x="5181600" y="326708"/>
            <a:ext cx="11867198" cy="659130"/>
          </a:xfrm>
          <a:custGeom>
            <a:avLst/>
            <a:gdLst/>
            <a:ahLst/>
            <a:cxnLst/>
            <a:rect l="l" t="t" r="r" b="b"/>
            <a:pathLst>
              <a:path w="11867198" h="659130">
                <a:moveTo>
                  <a:pt x="0" y="0"/>
                </a:moveTo>
                <a:lnTo>
                  <a:pt x="11867198" y="0"/>
                </a:lnTo>
                <a:lnTo>
                  <a:pt x="11867198" y="659130"/>
                </a:lnTo>
                <a:lnTo>
                  <a:pt x="0" y="65913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6" name="Group 6"/>
          <p:cNvGrpSpPr>
            <a:grpSpLocks noChangeAspect="1"/>
          </p:cNvGrpSpPr>
          <p:nvPr/>
        </p:nvGrpSpPr>
        <p:grpSpPr>
          <a:xfrm rot="0">
            <a:off x="14127856" y="264381"/>
            <a:ext cx="1896959" cy="667167"/>
            <a:chOff x="0" y="0"/>
            <a:chExt cx="2529278" cy="889556"/>
          </a:xfrm>
        </p:grpSpPr>
        <p:sp>
          <p:nvSpPr>
            <p:cNvPr id="7" name="Freeform 7"/>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3"/>
              <a:stretch>
                <a:fillRect t="-29960" r="2" b="-53"/>
              </a:stretch>
            </a:blipFill>
          </p:spPr>
        </p:sp>
      </p:grpSp>
      <p:sp>
        <p:nvSpPr>
          <p:cNvPr id="8" name="Freeform 8"/>
          <p:cNvSpPr/>
          <p:nvPr/>
        </p:nvSpPr>
        <p:spPr>
          <a:xfrm>
            <a:off x="3200400" y="1790700"/>
            <a:ext cx="14297660" cy="2141220"/>
          </a:xfrm>
          <a:custGeom>
            <a:avLst/>
            <a:gdLst/>
            <a:ahLst/>
            <a:cxnLst/>
            <a:rect l="l" t="t" r="r" b="b"/>
            <a:pathLst>
              <a:path w="12370301" h="1613232">
                <a:moveTo>
                  <a:pt x="0" y="0"/>
                </a:moveTo>
                <a:lnTo>
                  <a:pt x="12370300" y="0"/>
                </a:lnTo>
                <a:lnTo>
                  <a:pt x="12370300" y="1613232"/>
                </a:lnTo>
                <a:lnTo>
                  <a:pt x="0" y="1613232"/>
                </a:lnTo>
                <a:lnTo>
                  <a:pt x="0" y="0"/>
                </a:lnTo>
                <a:close/>
              </a:path>
            </a:pathLst>
          </a:custGeom>
          <a:blipFill>
            <a:blip r:embed="rId4"/>
            <a:stretch>
              <a:fillRect l="-744" t="-3110" b="-3110"/>
            </a:stretch>
          </a:blipFill>
        </p:spPr>
        <p:txBody>
          <a:bodyPr/>
          <a:p>
            <a:endParaRPr lang="zh-CN" altLang="en-US"/>
          </a:p>
        </p:txBody>
      </p:sp>
      <p:sp>
        <p:nvSpPr>
          <p:cNvPr id="9" name="TextBox 9"/>
          <p:cNvSpPr txBox="1"/>
          <p:nvPr/>
        </p:nvSpPr>
        <p:spPr>
          <a:xfrm>
            <a:off x="189999" y="348244"/>
            <a:ext cx="518661" cy="63817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4</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0" name="TextBox 10"/>
          <p:cNvSpPr txBox="1"/>
          <p:nvPr/>
        </p:nvSpPr>
        <p:spPr>
          <a:xfrm>
            <a:off x="1461683" y="217965"/>
            <a:ext cx="3171881" cy="723900"/>
          </a:xfrm>
          <a:prstGeom prst="rect">
            <a:avLst/>
          </a:prstGeom>
        </p:spPr>
        <p:txBody>
          <a:bodyPr lIns="0" tIns="0" rIns="0" bIns="0" rtlCol="0" anchor="t">
            <a:spAutoFit/>
          </a:bodyPr>
          <a:lstStyle/>
          <a:p>
            <a:pPr algn="l">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设计与实现</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1" name="TextBox 11"/>
          <p:cNvSpPr txBox="1"/>
          <p:nvPr/>
        </p:nvSpPr>
        <p:spPr>
          <a:xfrm>
            <a:off x="3139064" y="341472"/>
            <a:ext cx="9521658" cy="409575"/>
          </a:xfrm>
          <a:prstGeom prst="rect">
            <a:avLst/>
          </a:prstGeom>
        </p:spPr>
        <p:txBody>
          <a:bodyPr lIns="0" tIns="0" rIns="0" bIns="0" rtlCol="0" anchor="t">
            <a:spAutoFit/>
          </a:bodyPr>
          <a:lstStyle/>
          <a:p>
            <a:pPr algn="ctr">
              <a:lnSpc>
                <a:spcPts val="3240"/>
              </a:lnSpc>
            </a:pPr>
            <a:r>
              <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DESIGN &amp; IMPLEMENTATION</a:t>
            </a:r>
            <a:endPar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3" name="TextBox 13"/>
          <p:cNvSpPr txBox="1"/>
          <p:nvPr/>
        </p:nvSpPr>
        <p:spPr>
          <a:xfrm>
            <a:off x="1461770" y="4533900"/>
            <a:ext cx="14914245" cy="4304665"/>
          </a:xfrm>
          <a:prstGeom prst="rect">
            <a:avLst/>
          </a:prstGeom>
        </p:spPr>
        <p:txBody>
          <a:bodyPr wrap="square" lIns="0" tIns="0" rIns="0" bIns="0" rtlCol="0" anchor="t">
            <a:spAutoFit/>
          </a:bodyPr>
          <a:lstStyle/>
          <a:p>
            <a:pPr marL="457200" indent="-457200" algn="l">
              <a:lnSpc>
                <a:spcPct val="150000"/>
              </a:lnSpc>
              <a:buFont typeface="Arial" panose="020B0604020202020204" pitchFamily="34" charset="0"/>
              <a:buChar char="•"/>
            </a:pPr>
            <a:r>
              <a:rPr lang="en-US" sz="3105">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在每个yat_casched_rq结构体中增加一个u64 load成员，专门用于记录该CPU当前Yat_Casched任务的WCET总和。</a:t>
            </a:r>
            <a:endParaRPr lang="en-US" sz="3105">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marL="457200" indent="-457200" algn="l">
              <a:lnSpc>
                <a:spcPct val="150000"/>
              </a:lnSpc>
              <a:spcBef>
                <a:spcPct val="0"/>
              </a:spcBef>
              <a:buFont typeface="Arial" panose="020B0604020202020204" pitchFamily="34" charset="0"/>
              <a:buChar char="•"/>
            </a:pPr>
            <a:r>
              <a:rPr lang="en-US" sz="3105">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每次有任务入队（enqueue）或出队（dequeue）时，直接增减该任务的wcet到load变量，这样查询负载时只需O(1)读取</a:t>
            </a:r>
            <a:endParaRPr lang="en-US" sz="3105" b="1">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marL="457200" indent="-457200" algn="l">
              <a:lnSpc>
                <a:spcPct val="150000"/>
              </a:lnSpc>
              <a:spcBef>
                <a:spcPct val="0"/>
              </a:spcBef>
              <a:buFont typeface="Arial" panose="020B0604020202020204" pitchFamily="34" charset="0"/>
              <a:buChar char="•"/>
            </a:pPr>
            <a:r>
              <a:rPr lang="en-US" sz="3105"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用途：</a:t>
            </a:r>
            <a:r>
              <a:rPr lang="en-US" sz="3105">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这个负载值用于调度决策，比如在无空闲CPU或者上次运行cpu不存在，则选择此时负载最小的那个来分配新任务，从而实现负载均衡。</a:t>
            </a:r>
            <a:endParaRPr lang="en-US" sz="3105">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4" name="Group 8"/>
          <p:cNvGrpSpPr/>
          <p:nvPr/>
        </p:nvGrpSpPr>
        <p:grpSpPr>
          <a:xfrm rot="0">
            <a:off x="0" y="1104900"/>
            <a:ext cx="2915285" cy="1176655"/>
            <a:chOff x="0" y="-41560"/>
            <a:chExt cx="8597416" cy="1540204"/>
          </a:xfrm>
        </p:grpSpPr>
        <p:sp>
          <p:nvSpPr>
            <p:cNvPr id="15" name="Freeform 9"/>
            <p:cNvSpPr/>
            <p:nvPr/>
          </p:nvSpPr>
          <p:spPr>
            <a:xfrm>
              <a:off x="0" y="0"/>
              <a:ext cx="8597416" cy="1498644"/>
            </a:xfrm>
            <a:custGeom>
              <a:avLst/>
              <a:gdLst/>
              <a:ahLst/>
              <a:cxnLst/>
              <a:rect l="l" t="t" r="r" b="b"/>
              <a:pathLst>
                <a:path w="8597416" h="1498644">
                  <a:moveTo>
                    <a:pt x="0" y="0"/>
                  </a:moveTo>
                  <a:lnTo>
                    <a:pt x="8597416" y="0"/>
                  </a:lnTo>
                  <a:lnTo>
                    <a:pt x="8597416" y="1498644"/>
                  </a:lnTo>
                  <a:lnTo>
                    <a:pt x="0" y="1498644"/>
                  </a:lnTo>
                  <a:close/>
                </a:path>
              </a:pathLst>
            </a:custGeom>
            <a:solidFill>
              <a:srgbClr val="014924"/>
            </a:solidFill>
          </p:spPr>
        </p:sp>
        <p:sp>
          <p:nvSpPr>
            <p:cNvPr id="16" name="TextBox 10"/>
            <p:cNvSpPr txBox="1"/>
            <p:nvPr/>
          </p:nvSpPr>
          <p:spPr>
            <a:xfrm>
              <a:off x="674160" y="-41560"/>
              <a:ext cx="6555311" cy="1507787"/>
            </a:xfrm>
            <a:prstGeom prst="rect">
              <a:avLst/>
            </a:prstGeom>
          </p:spPr>
          <p:txBody>
            <a:bodyPr lIns="51756" tIns="51756" rIns="51756" bIns="51756" rtlCol="0" anchor="ctr"/>
            <a:lstStyle/>
            <a:p>
              <a:pPr algn="ctr">
                <a:lnSpc>
                  <a:spcPts val="3300"/>
                </a:lnSpc>
              </a:pPr>
              <a:r>
                <a:rPr lang="zh-CN" altLang="en-US" sz="3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负载计算</a:t>
              </a:r>
              <a:endParaRPr lang="zh-CN" altLang="en-US" sz="3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Freeform 5"/>
          <p:cNvSpPr/>
          <p:nvPr/>
        </p:nvSpPr>
        <p:spPr>
          <a:xfrm>
            <a:off x="5181600" y="326708"/>
            <a:ext cx="11867198" cy="659130"/>
          </a:xfrm>
          <a:custGeom>
            <a:avLst/>
            <a:gdLst/>
            <a:ahLst/>
            <a:cxnLst/>
            <a:rect l="l" t="t" r="r" b="b"/>
            <a:pathLst>
              <a:path w="11867198" h="659130">
                <a:moveTo>
                  <a:pt x="0" y="0"/>
                </a:moveTo>
                <a:lnTo>
                  <a:pt x="11867198" y="0"/>
                </a:lnTo>
                <a:lnTo>
                  <a:pt x="11867198" y="659130"/>
                </a:lnTo>
                <a:lnTo>
                  <a:pt x="0" y="6591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a:grpSpLocks noChangeAspect="1"/>
          </p:cNvGrpSpPr>
          <p:nvPr/>
        </p:nvGrpSpPr>
        <p:grpSpPr>
          <a:xfrm rot="0">
            <a:off x="14127856" y="264381"/>
            <a:ext cx="1896959" cy="667167"/>
            <a:chOff x="0" y="0"/>
            <a:chExt cx="2529278" cy="889556"/>
          </a:xfrm>
        </p:grpSpPr>
        <p:sp>
          <p:nvSpPr>
            <p:cNvPr id="7" name="Freeform 7"/>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4"/>
              <a:stretch>
                <a:fillRect t="-29960" r="2" b="-53"/>
              </a:stretch>
            </a:blipFill>
          </p:spPr>
        </p:sp>
      </p:grpSp>
      <p:grpSp>
        <p:nvGrpSpPr>
          <p:cNvPr id="8" name="Group 8"/>
          <p:cNvGrpSpPr/>
          <p:nvPr/>
        </p:nvGrpSpPr>
        <p:grpSpPr>
          <a:xfrm rot="0">
            <a:off x="0" y="1168676"/>
            <a:ext cx="6569386" cy="1145131"/>
            <a:chOff x="0" y="0"/>
            <a:chExt cx="8597417" cy="1498644"/>
          </a:xfrm>
        </p:grpSpPr>
        <p:sp>
          <p:nvSpPr>
            <p:cNvPr id="9" name="Freeform 9"/>
            <p:cNvSpPr/>
            <p:nvPr/>
          </p:nvSpPr>
          <p:spPr>
            <a:xfrm>
              <a:off x="0" y="0"/>
              <a:ext cx="8597416" cy="1498644"/>
            </a:xfrm>
            <a:custGeom>
              <a:avLst/>
              <a:gdLst/>
              <a:ahLst/>
              <a:cxnLst/>
              <a:rect l="l" t="t" r="r" b="b"/>
              <a:pathLst>
                <a:path w="8597416" h="1498644">
                  <a:moveTo>
                    <a:pt x="0" y="0"/>
                  </a:moveTo>
                  <a:lnTo>
                    <a:pt x="8597416" y="0"/>
                  </a:lnTo>
                  <a:lnTo>
                    <a:pt x="8597416" y="1498644"/>
                  </a:lnTo>
                  <a:lnTo>
                    <a:pt x="0" y="1498644"/>
                  </a:lnTo>
                  <a:close/>
                </a:path>
              </a:pathLst>
            </a:custGeom>
            <a:solidFill>
              <a:srgbClr val="014924"/>
            </a:solidFill>
          </p:spPr>
        </p:sp>
        <p:sp>
          <p:nvSpPr>
            <p:cNvPr id="10" name="TextBox 10"/>
            <p:cNvSpPr txBox="1"/>
            <p:nvPr/>
          </p:nvSpPr>
          <p:spPr>
            <a:xfrm>
              <a:off x="0" y="-9525"/>
              <a:ext cx="8597417" cy="1508169"/>
            </a:xfrm>
            <a:prstGeom prst="rect">
              <a:avLst/>
            </a:prstGeom>
          </p:spPr>
          <p:txBody>
            <a:bodyPr lIns="51756" tIns="51756" rIns="51756" bIns="51756" rtlCol="0" anchor="ctr"/>
            <a:lstStyle/>
            <a:p>
              <a:pPr algn="ctr">
                <a:lnSpc>
                  <a:spcPts val="3300"/>
                </a:lnSpc>
              </a:pPr>
              <a:r>
                <a:rPr lang="zh-CN" altLang="en-US" sz="36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关键任务优先执行机制</a:t>
              </a:r>
              <a:endParaRPr lang="zh-CN" altLang="en-US" sz="36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sp>
        <p:nvSpPr>
          <p:cNvPr id="11" name="Freeform 11"/>
          <p:cNvSpPr/>
          <p:nvPr/>
        </p:nvSpPr>
        <p:spPr>
          <a:xfrm>
            <a:off x="10225405" y="1028700"/>
            <a:ext cx="7440295" cy="5041900"/>
          </a:xfrm>
          <a:custGeom>
            <a:avLst/>
            <a:gdLst/>
            <a:ahLst/>
            <a:cxnLst/>
            <a:rect l="l" t="t" r="r" b="b"/>
            <a:pathLst>
              <a:path w="7817814" h="5211876">
                <a:moveTo>
                  <a:pt x="0" y="0"/>
                </a:moveTo>
                <a:lnTo>
                  <a:pt x="7817814" y="0"/>
                </a:lnTo>
                <a:lnTo>
                  <a:pt x="7817814" y="5211876"/>
                </a:lnTo>
                <a:lnTo>
                  <a:pt x="0" y="5211876"/>
                </a:lnTo>
                <a:lnTo>
                  <a:pt x="0" y="0"/>
                </a:lnTo>
                <a:close/>
              </a:path>
            </a:pathLst>
          </a:custGeom>
          <a:blipFill>
            <a:blip r:embed="rId5"/>
            <a:stretch>
              <a:fillRect/>
            </a:stretch>
          </a:blipFill>
        </p:spPr>
      </p:sp>
      <p:sp>
        <p:nvSpPr>
          <p:cNvPr id="12" name="TextBox 12"/>
          <p:cNvSpPr txBox="1"/>
          <p:nvPr/>
        </p:nvSpPr>
        <p:spPr>
          <a:xfrm>
            <a:off x="189999" y="348244"/>
            <a:ext cx="518661" cy="63817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4</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3" name="TextBox 13"/>
          <p:cNvSpPr txBox="1"/>
          <p:nvPr/>
        </p:nvSpPr>
        <p:spPr>
          <a:xfrm>
            <a:off x="1461683" y="217965"/>
            <a:ext cx="3171881" cy="723900"/>
          </a:xfrm>
          <a:prstGeom prst="rect">
            <a:avLst/>
          </a:prstGeom>
        </p:spPr>
        <p:txBody>
          <a:bodyPr lIns="0" tIns="0" rIns="0" bIns="0" rtlCol="0" anchor="t">
            <a:spAutoFit/>
          </a:bodyPr>
          <a:lstStyle/>
          <a:p>
            <a:pPr algn="l">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设计与实现</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4" name="TextBox 14"/>
          <p:cNvSpPr txBox="1"/>
          <p:nvPr/>
        </p:nvSpPr>
        <p:spPr>
          <a:xfrm>
            <a:off x="3139064" y="341472"/>
            <a:ext cx="9521658" cy="409575"/>
          </a:xfrm>
          <a:prstGeom prst="rect">
            <a:avLst/>
          </a:prstGeom>
        </p:spPr>
        <p:txBody>
          <a:bodyPr lIns="0" tIns="0" rIns="0" bIns="0" rtlCol="0" anchor="t">
            <a:spAutoFit/>
          </a:bodyPr>
          <a:lstStyle/>
          <a:p>
            <a:pPr algn="ctr">
              <a:lnSpc>
                <a:spcPts val="3240"/>
              </a:lnSpc>
            </a:pPr>
            <a:r>
              <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DESIGN &amp; IMPLEMENTATION</a:t>
            </a:r>
            <a:endPar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5" name="TextBox 15"/>
          <p:cNvSpPr txBox="1"/>
          <p:nvPr/>
        </p:nvSpPr>
        <p:spPr>
          <a:xfrm>
            <a:off x="914400" y="6057900"/>
            <a:ext cx="15622905" cy="1338580"/>
          </a:xfrm>
          <a:prstGeom prst="rect">
            <a:avLst/>
          </a:prstGeom>
        </p:spPr>
        <p:txBody>
          <a:bodyPr wrap="square" lIns="0" tIns="0" rIns="0" bIns="0" rtlCol="0" anchor="t">
            <a:noAutofit/>
          </a:bodyPr>
          <a:lstStyle/>
          <a:p>
            <a:pPr marL="457200" indent="-457200" algn="just">
              <a:lnSpc>
                <a:spcPct val="150000"/>
              </a:lnSpc>
              <a:spcBef>
                <a:spcPct val="0"/>
              </a:spcBef>
              <a:buFont typeface="Arial" panose="020B0604020202020204" pitchFamily="34" charset="0"/>
              <a:buChar char="•"/>
            </a:pPr>
            <a:r>
              <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普通任务（prio 100~139）：key = prio + sigmoid(wcet)（prio越小越优先）</a:t>
            </a:r>
            <a:endPar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457200" indent="-457200" algn="just">
              <a:lnSpc>
                <a:spcPct val="150000"/>
              </a:lnSpc>
              <a:spcBef>
                <a:spcPct val="0"/>
              </a:spcBef>
              <a:buFont typeface="Arial" panose="020B0604020202020204" pitchFamily="34" charset="0"/>
              <a:buChar char="•"/>
            </a:pPr>
            <a:r>
              <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实时任务（prio 0~99）：key = prio </a:t>
            </a:r>
            <a:endPar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6" name="TextBox 16"/>
          <p:cNvSpPr txBox="1"/>
          <p:nvPr/>
        </p:nvSpPr>
        <p:spPr>
          <a:xfrm>
            <a:off x="685686" y="2933988"/>
            <a:ext cx="8788514" cy="2757170"/>
          </a:xfrm>
          <a:prstGeom prst="rect">
            <a:avLst/>
          </a:prstGeom>
        </p:spPr>
        <p:txBody>
          <a:bodyPr lIns="0" tIns="0" rIns="0" bIns="0" rtlCol="0" anchor="t">
            <a:spAutoFit/>
          </a:bodyPr>
          <a:lstStyle/>
          <a:p>
            <a:pPr marL="457200" indent="-457200" algn="l">
              <a:lnSpc>
                <a:spcPct val="140000"/>
              </a:lnSpc>
              <a:spcBef>
                <a:spcPct val="0"/>
              </a:spcBef>
              <a:buFont typeface="Arial" panose="020B0604020202020204" pitchFamily="34" charset="0"/>
              <a:buChar char="•"/>
            </a:pPr>
            <a:r>
              <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通过人为定义优先级区间和key计算方式，可以保证关键任务优先。key越小，任务在红黑树越靠前，当调用pick_next_task时优先被调度。这种方法简单高效，易于扩展和维护。</a:t>
            </a:r>
            <a:endPar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7" name="TextBox 17"/>
          <p:cNvSpPr txBox="1"/>
          <p:nvPr/>
        </p:nvSpPr>
        <p:spPr>
          <a:xfrm>
            <a:off x="708660" y="7962900"/>
            <a:ext cx="15224760" cy="984885"/>
          </a:xfrm>
          <a:prstGeom prst="rect">
            <a:avLst/>
          </a:prstGeom>
        </p:spPr>
        <p:txBody>
          <a:bodyPr wrap="square" lIns="0" tIns="0" rIns="0" bIns="0" rtlCol="0" anchor="t">
            <a:spAutoFit/>
          </a:bodyPr>
          <a:lstStyle/>
          <a:p>
            <a:pPr algn="ctr">
              <a:lnSpc>
                <a:spcPts val="3840"/>
              </a:lnSpc>
              <a:spcBef>
                <a:spcPct val="0"/>
              </a:spcBef>
            </a:pPr>
            <a:r>
              <a:rPr lang="en-US" sz="3600" u="sng">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这样也就</a:t>
            </a:r>
            <a:r>
              <a:rPr lang="en-US" sz="3600" u="sng">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hlinkClick r:id="rId6" action="ppaction://hlinksldjump"/>
              </a:rPr>
              <a:t>支持了对指定数量关键进程的优先调度,只需要系统调用设置好任务的优先级和wcet，这些线程就可以抢占其他非关键进程</a:t>
            </a:r>
            <a:r>
              <a:rPr lang="en-US" sz="3600" u="sng">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（优先级较低）。</a:t>
            </a:r>
            <a:endParaRPr lang="en-US" sz="3600" u="sng">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Freeform 5"/>
          <p:cNvSpPr/>
          <p:nvPr/>
        </p:nvSpPr>
        <p:spPr>
          <a:xfrm>
            <a:off x="5181600" y="326708"/>
            <a:ext cx="11867198" cy="659130"/>
          </a:xfrm>
          <a:custGeom>
            <a:avLst/>
            <a:gdLst/>
            <a:ahLst/>
            <a:cxnLst/>
            <a:rect l="l" t="t" r="r" b="b"/>
            <a:pathLst>
              <a:path w="11867198" h="659130">
                <a:moveTo>
                  <a:pt x="0" y="0"/>
                </a:moveTo>
                <a:lnTo>
                  <a:pt x="11867198" y="0"/>
                </a:lnTo>
                <a:lnTo>
                  <a:pt x="11867198" y="659130"/>
                </a:lnTo>
                <a:lnTo>
                  <a:pt x="0" y="6591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a:grpSpLocks noChangeAspect="1"/>
          </p:cNvGrpSpPr>
          <p:nvPr/>
        </p:nvGrpSpPr>
        <p:grpSpPr>
          <a:xfrm rot="0">
            <a:off x="14127856" y="264381"/>
            <a:ext cx="1896959" cy="667167"/>
            <a:chOff x="0" y="0"/>
            <a:chExt cx="2529278" cy="889556"/>
          </a:xfrm>
        </p:grpSpPr>
        <p:sp>
          <p:nvSpPr>
            <p:cNvPr id="7" name="Freeform 7"/>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4"/>
              <a:stretch>
                <a:fillRect t="-29960" r="2" b="-53"/>
              </a:stretch>
            </a:blipFill>
          </p:spPr>
        </p:sp>
      </p:grpSp>
      <p:sp>
        <p:nvSpPr>
          <p:cNvPr id="9" name="TextBox 9"/>
          <p:cNvSpPr txBox="1"/>
          <p:nvPr/>
        </p:nvSpPr>
        <p:spPr>
          <a:xfrm>
            <a:off x="189999" y="348244"/>
            <a:ext cx="518661" cy="63817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4</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0" name="TextBox 10"/>
          <p:cNvSpPr txBox="1"/>
          <p:nvPr/>
        </p:nvSpPr>
        <p:spPr>
          <a:xfrm>
            <a:off x="1461683" y="217965"/>
            <a:ext cx="3171881" cy="723900"/>
          </a:xfrm>
          <a:prstGeom prst="rect">
            <a:avLst/>
          </a:prstGeom>
        </p:spPr>
        <p:txBody>
          <a:bodyPr lIns="0" tIns="0" rIns="0" bIns="0" rtlCol="0" anchor="t">
            <a:spAutoFit/>
          </a:bodyPr>
          <a:lstStyle/>
          <a:p>
            <a:pPr algn="l">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设计与实现</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1" name="TextBox 11"/>
          <p:cNvSpPr txBox="1"/>
          <p:nvPr/>
        </p:nvSpPr>
        <p:spPr>
          <a:xfrm>
            <a:off x="3139064" y="341472"/>
            <a:ext cx="9521658" cy="409575"/>
          </a:xfrm>
          <a:prstGeom prst="rect">
            <a:avLst/>
          </a:prstGeom>
        </p:spPr>
        <p:txBody>
          <a:bodyPr lIns="0" tIns="0" rIns="0" bIns="0" rtlCol="0" anchor="t">
            <a:spAutoFit/>
          </a:bodyPr>
          <a:lstStyle/>
          <a:p>
            <a:pPr algn="ctr">
              <a:lnSpc>
                <a:spcPts val="3240"/>
              </a:lnSpc>
            </a:pPr>
            <a:r>
              <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DESIGN &amp; IMPLEMENTATION</a:t>
            </a:r>
            <a:endPar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2" name="Group 12"/>
          <p:cNvGrpSpPr/>
          <p:nvPr/>
        </p:nvGrpSpPr>
        <p:grpSpPr>
          <a:xfrm rot="0">
            <a:off x="990554" y="1056347"/>
            <a:ext cx="4133431" cy="1231149"/>
            <a:chOff x="-1384497" y="74409"/>
            <a:chExt cx="5409460" cy="1611217"/>
          </a:xfrm>
        </p:grpSpPr>
        <p:sp>
          <p:nvSpPr>
            <p:cNvPr id="13" name="Freeform 13"/>
            <p:cNvSpPr/>
            <p:nvPr/>
          </p:nvSpPr>
          <p:spPr>
            <a:xfrm>
              <a:off x="-1284773" y="186982"/>
              <a:ext cx="5309736" cy="1498644"/>
            </a:xfrm>
            <a:custGeom>
              <a:avLst/>
              <a:gdLst/>
              <a:ahLst/>
              <a:cxnLst/>
              <a:rect l="l" t="t" r="r" b="b"/>
              <a:pathLst>
                <a:path w="5309736" h="1498644">
                  <a:moveTo>
                    <a:pt x="0" y="0"/>
                  </a:moveTo>
                  <a:lnTo>
                    <a:pt x="5309736" y="0"/>
                  </a:lnTo>
                  <a:lnTo>
                    <a:pt x="5309736" y="1498644"/>
                  </a:lnTo>
                  <a:lnTo>
                    <a:pt x="0" y="1498644"/>
                  </a:lnTo>
                  <a:close/>
                </a:path>
              </a:pathLst>
            </a:custGeom>
            <a:solidFill>
              <a:srgbClr val="014924"/>
            </a:solidFill>
          </p:spPr>
        </p:sp>
        <p:sp>
          <p:nvSpPr>
            <p:cNvPr id="14" name="TextBox 14"/>
            <p:cNvSpPr txBox="1"/>
            <p:nvPr/>
          </p:nvSpPr>
          <p:spPr>
            <a:xfrm>
              <a:off x="-1384497" y="74409"/>
              <a:ext cx="5309736" cy="1508169"/>
            </a:xfrm>
            <a:prstGeom prst="rect">
              <a:avLst/>
            </a:prstGeom>
          </p:spPr>
          <p:txBody>
            <a:bodyPr lIns="51756" tIns="51756" rIns="51756" bIns="51756" rtlCol="0" anchor="ctr"/>
            <a:lstStyle/>
            <a:p>
              <a:pPr algn="ctr">
                <a:lnSpc>
                  <a:spcPts val="3300"/>
                </a:lnSpc>
              </a:pPr>
              <a:r>
                <a:rPr lang="en-US" sz="275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调度策略流程</a:t>
              </a:r>
              <a:endParaRPr lang="en-US" sz="275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sp>
        <p:nvSpPr>
          <p:cNvPr id="15" name="TextBox 15"/>
          <p:cNvSpPr txBox="1"/>
          <p:nvPr/>
        </p:nvSpPr>
        <p:spPr>
          <a:xfrm>
            <a:off x="179070" y="2324100"/>
            <a:ext cx="15130145" cy="7363460"/>
          </a:xfrm>
          <a:prstGeom prst="rect">
            <a:avLst/>
          </a:prstGeom>
        </p:spPr>
        <p:txBody>
          <a:bodyPr wrap="square" lIns="0" tIns="0" rIns="0" bIns="0" rtlCol="0" anchor="t">
            <a:spAutoFit/>
          </a:bodyPr>
          <a:lstStyle/>
          <a:p>
            <a:pPr marL="812165" lvl="1" indent="-405765" algn="l">
              <a:lnSpc>
                <a:spcPct val="190000"/>
              </a:lnSpc>
              <a:buFont typeface="Arial" panose="020B0604020202020204"/>
              <a:buChar char="•"/>
            </a:pPr>
            <a:r>
              <a:rPr lang="en-US" sz="2800" b="1" u="sng">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策略1</a:t>
            </a:r>
            <a:r>
              <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 首次运行任务从未执行过 </a:t>
            </a:r>
            <a:endPar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marL="406400" lvl="1" indent="0" algn="l">
              <a:lnSpc>
                <a:spcPct val="190000"/>
              </a:lnSpc>
              <a:buFont typeface="Arial" panose="020B0604020202020204"/>
              <a:buNone/>
            </a:pPr>
            <a:r>
              <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  → 全局负载最低 CPU。</a:t>
            </a:r>
            <a:endPar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marL="812165" lvl="1" indent="-405765" algn="l">
              <a:lnSpc>
                <a:spcPct val="190000"/>
              </a:lnSpc>
              <a:buFont typeface="Arial" panose="020B0604020202020204"/>
              <a:buChar char="•"/>
            </a:pPr>
            <a:r>
              <a:rPr lang="en-US" sz="2800" b="1" u="sng">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策略2</a:t>
            </a:r>
            <a:r>
              <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 热缓存复用上次跑的 CPU</a:t>
            </a:r>
            <a:endPar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marL="406400" lvl="1" indent="0" algn="l">
              <a:lnSpc>
                <a:spcPct val="190000"/>
              </a:lnSpc>
              <a:buFont typeface="Arial" panose="020B0604020202020204"/>
              <a:buNone/>
            </a:pPr>
            <a:r>
              <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  正好空闲 → 继续</a:t>
            </a:r>
            <a:r>
              <a:rPr lang="zh-CN" alt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使</a:t>
            </a:r>
            <a:r>
              <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用，零迁移开销。</a:t>
            </a:r>
            <a:endPar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marL="812165" lvl="1" indent="-405765" algn="l">
              <a:lnSpc>
                <a:spcPct val="190000"/>
              </a:lnSpc>
              <a:buFont typeface="Arial" panose="020B0604020202020204"/>
              <a:buChar char="•"/>
            </a:pPr>
            <a:r>
              <a:rPr lang="en-US" sz="2800" b="1" u="sng">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策略3</a:t>
            </a:r>
            <a:r>
              <a:rPr lang="en-US" sz="2800" b="1">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 </a:t>
            </a:r>
            <a:r>
              <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唯一空闲只剩 1 个空闲核</a:t>
            </a:r>
            <a:endPar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marL="406400" lvl="1" indent="0" algn="l">
              <a:lnSpc>
                <a:spcPct val="190000"/>
              </a:lnSpc>
              <a:buFont typeface="Arial" panose="020B0604020202020204"/>
              <a:buNone/>
            </a:pPr>
            <a:r>
              <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   → 没的选，立刻上。</a:t>
            </a:r>
            <a:endPar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marL="812165" lvl="1" indent="-405765" algn="l">
              <a:lnSpc>
                <a:spcPct val="190000"/>
              </a:lnSpc>
              <a:buFont typeface="Arial" panose="020B0604020202020204"/>
              <a:buChar char="•"/>
            </a:pPr>
            <a:r>
              <a:rPr lang="en-US" sz="2800" b="1" u="sng">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策略4</a:t>
            </a:r>
            <a:r>
              <a:rPr lang="en-US" sz="2800" u="sng">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 </a:t>
            </a:r>
            <a:r>
              <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全忙负载均衡无空闲核 </a:t>
            </a:r>
            <a:endPar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marL="406400" lvl="1" indent="0" algn="l">
              <a:lnSpc>
                <a:spcPct val="190000"/>
              </a:lnSpc>
              <a:buFont typeface="Arial" panose="020B0604020202020204"/>
              <a:buNone/>
            </a:pPr>
            <a:r>
              <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  → 在“忙碌核”中选负载最低者。</a:t>
            </a:r>
            <a:endPar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marL="812165" lvl="1" indent="-405765" algn="l">
              <a:lnSpc>
                <a:spcPct val="190000"/>
              </a:lnSpc>
              <a:buFont typeface="Arial" panose="020B0604020202020204"/>
              <a:buChar char="•"/>
            </a:pPr>
            <a:r>
              <a:rPr lang="en-US" sz="2800" b="1" u="sng">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策略5</a:t>
            </a:r>
            <a:r>
              <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 多空闲择优≥2 个空闲核 → 计算缓存重用距离，挑最大加速比核，提升命中</a:t>
            </a:r>
            <a:endParaRPr lang="en-US" sz="280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pic>
        <p:nvPicPr>
          <p:cNvPr id="17" name="图片 16" descr="1755249621480"/>
          <p:cNvPicPr>
            <a:picLocks noChangeAspect="1"/>
          </p:cNvPicPr>
          <p:nvPr/>
        </p:nvPicPr>
        <p:blipFill>
          <a:blip r:embed="rId5"/>
          <a:stretch>
            <a:fillRect/>
          </a:stretch>
        </p:blipFill>
        <p:spPr>
          <a:xfrm>
            <a:off x="6781800" y="1181100"/>
            <a:ext cx="10708640" cy="794639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34062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Freeform 5"/>
          <p:cNvSpPr/>
          <p:nvPr/>
        </p:nvSpPr>
        <p:spPr>
          <a:xfrm>
            <a:off x="5181600" y="326708"/>
            <a:ext cx="11867198" cy="659130"/>
          </a:xfrm>
          <a:custGeom>
            <a:avLst/>
            <a:gdLst/>
            <a:ahLst/>
            <a:cxnLst/>
            <a:rect l="l" t="t" r="r" b="b"/>
            <a:pathLst>
              <a:path w="11867198" h="659130">
                <a:moveTo>
                  <a:pt x="0" y="0"/>
                </a:moveTo>
                <a:lnTo>
                  <a:pt x="11867198" y="0"/>
                </a:lnTo>
                <a:lnTo>
                  <a:pt x="11867198" y="659130"/>
                </a:lnTo>
                <a:lnTo>
                  <a:pt x="0" y="6591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a:grpSpLocks noChangeAspect="1"/>
          </p:cNvGrpSpPr>
          <p:nvPr/>
        </p:nvGrpSpPr>
        <p:grpSpPr>
          <a:xfrm rot="0">
            <a:off x="14127856" y="264381"/>
            <a:ext cx="1896959" cy="667167"/>
            <a:chOff x="0" y="0"/>
            <a:chExt cx="2529278" cy="889556"/>
          </a:xfrm>
        </p:grpSpPr>
        <p:sp>
          <p:nvSpPr>
            <p:cNvPr id="7" name="Freeform 7"/>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4"/>
              <a:stretch>
                <a:fillRect t="-29960" r="2" b="-53"/>
              </a:stretch>
            </a:blipFill>
          </p:spPr>
        </p:sp>
      </p:grpSp>
      <p:sp>
        <p:nvSpPr>
          <p:cNvPr id="10" name="TextBox 10"/>
          <p:cNvSpPr txBox="1"/>
          <p:nvPr/>
        </p:nvSpPr>
        <p:spPr>
          <a:xfrm>
            <a:off x="189999" y="348244"/>
            <a:ext cx="518661" cy="63817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4</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1" name="TextBox 11"/>
          <p:cNvSpPr txBox="1"/>
          <p:nvPr/>
        </p:nvSpPr>
        <p:spPr>
          <a:xfrm>
            <a:off x="1461683" y="217965"/>
            <a:ext cx="3171881" cy="723900"/>
          </a:xfrm>
          <a:prstGeom prst="rect">
            <a:avLst/>
          </a:prstGeom>
        </p:spPr>
        <p:txBody>
          <a:bodyPr lIns="0" tIns="0" rIns="0" bIns="0" rtlCol="0" anchor="t">
            <a:spAutoFit/>
          </a:bodyPr>
          <a:lstStyle/>
          <a:p>
            <a:pPr algn="l">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设计与实现</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2" name="TextBox 12"/>
          <p:cNvSpPr txBox="1"/>
          <p:nvPr/>
        </p:nvSpPr>
        <p:spPr>
          <a:xfrm>
            <a:off x="3139064" y="341472"/>
            <a:ext cx="9521658" cy="409575"/>
          </a:xfrm>
          <a:prstGeom prst="rect">
            <a:avLst/>
          </a:prstGeom>
        </p:spPr>
        <p:txBody>
          <a:bodyPr lIns="0" tIns="0" rIns="0" bIns="0" rtlCol="0" anchor="t">
            <a:spAutoFit/>
          </a:bodyPr>
          <a:lstStyle/>
          <a:p>
            <a:pPr algn="ctr">
              <a:lnSpc>
                <a:spcPts val="3240"/>
              </a:lnSpc>
            </a:pPr>
            <a:r>
              <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DESIGN &amp; IMPLEMENTATION</a:t>
            </a:r>
            <a:endPar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pic>
        <p:nvPicPr>
          <p:cNvPr id="13" name="图片 12" descr="1755333752046"/>
          <p:cNvPicPr>
            <a:picLocks noChangeAspect="1"/>
          </p:cNvPicPr>
          <p:nvPr/>
        </p:nvPicPr>
        <p:blipFill>
          <a:blip r:embed="rId5"/>
          <a:stretch>
            <a:fillRect/>
          </a:stretch>
        </p:blipFill>
        <p:spPr>
          <a:xfrm>
            <a:off x="650240" y="2148205"/>
            <a:ext cx="8265160" cy="6614160"/>
          </a:xfrm>
          <a:prstGeom prst="rect">
            <a:avLst/>
          </a:prstGeom>
        </p:spPr>
      </p:pic>
      <p:pic>
        <p:nvPicPr>
          <p:cNvPr id="14" name="图片 13" descr="1755333767103"/>
          <p:cNvPicPr>
            <a:picLocks noChangeAspect="1"/>
          </p:cNvPicPr>
          <p:nvPr/>
        </p:nvPicPr>
        <p:blipFill>
          <a:blip r:embed="rId6"/>
          <a:stretch>
            <a:fillRect/>
          </a:stretch>
        </p:blipFill>
        <p:spPr>
          <a:xfrm>
            <a:off x="8915400" y="1277620"/>
            <a:ext cx="7966075" cy="7650480"/>
          </a:xfrm>
          <a:prstGeom prst="rect">
            <a:avLst/>
          </a:prstGeom>
        </p:spPr>
      </p:pic>
      <p:grpSp>
        <p:nvGrpSpPr>
          <p:cNvPr id="15" name="Group 8"/>
          <p:cNvGrpSpPr/>
          <p:nvPr/>
        </p:nvGrpSpPr>
        <p:grpSpPr>
          <a:xfrm rot="0">
            <a:off x="1197918" y="1060971"/>
            <a:ext cx="2802255" cy="1122197"/>
            <a:chOff x="0" y="0"/>
            <a:chExt cx="3736339" cy="1496263"/>
          </a:xfrm>
        </p:grpSpPr>
        <p:sp>
          <p:nvSpPr>
            <p:cNvPr id="16" name="Freeform 9"/>
            <p:cNvSpPr/>
            <p:nvPr/>
          </p:nvSpPr>
          <p:spPr>
            <a:xfrm>
              <a:off x="0" y="0"/>
              <a:ext cx="3724910" cy="1496263"/>
            </a:xfrm>
            <a:custGeom>
              <a:avLst/>
              <a:gdLst/>
              <a:ahLst/>
              <a:cxnLst/>
              <a:rect l="l" t="t" r="r" b="b"/>
              <a:pathLst>
                <a:path w="3724910" h="1496263">
                  <a:moveTo>
                    <a:pt x="0" y="0"/>
                  </a:moveTo>
                  <a:lnTo>
                    <a:pt x="3724910" y="0"/>
                  </a:lnTo>
                  <a:lnTo>
                    <a:pt x="3724910" y="1496263"/>
                  </a:lnTo>
                  <a:lnTo>
                    <a:pt x="0" y="1496263"/>
                  </a:lnTo>
                  <a:close/>
                </a:path>
              </a:pathLst>
            </a:custGeom>
            <a:solidFill>
              <a:srgbClr val="014924"/>
            </a:solidFill>
          </p:spPr>
        </p:sp>
        <p:sp>
          <p:nvSpPr>
            <p:cNvPr id="17" name="TextBox 10"/>
            <p:cNvSpPr txBox="1"/>
            <p:nvPr/>
          </p:nvSpPr>
          <p:spPr>
            <a:xfrm>
              <a:off x="0" y="0"/>
              <a:ext cx="3736339" cy="1449494"/>
            </a:xfrm>
            <a:prstGeom prst="rect">
              <a:avLst/>
            </a:prstGeom>
          </p:spPr>
          <p:txBody>
            <a:bodyPr lIns="50800" tIns="50800" rIns="50800" bIns="50800" rtlCol="0" anchor="ctr"/>
            <a:p>
              <a:pPr algn="ctr">
                <a:lnSpc>
                  <a:spcPts val="3240"/>
                </a:lnSpc>
              </a:pPr>
              <a:r>
                <a:rPr lang="zh-CN" altLang="en-US" sz="27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调度算法伪代码</a:t>
              </a:r>
              <a:endParaRPr lang="zh-CN" altLang="en-US" sz="27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9481764" y="4029974"/>
            <a:ext cx="8806236" cy="2313674"/>
            <a:chOff x="0" y="0"/>
            <a:chExt cx="11741648" cy="3084898"/>
          </a:xfrm>
        </p:grpSpPr>
        <p:sp>
          <p:nvSpPr>
            <p:cNvPr id="4" name="Freeform 4"/>
            <p:cNvSpPr/>
            <p:nvPr/>
          </p:nvSpPr>
          <p:spPr>
            <a:xfrm>
              <a:off x="0" y="0"/>
              <a:ext cx="11741658" cy="3084957"/>
            </a:xfrm>
            <a:custGeom>
              <a:avLst/>
              <a:gdLst/>
              <a:ahLst/>
              <a:cxnLst/>
              <a:rect l="l" t="t" r="r" b="b"/>
              <a:pathLst>
                <a:path w="11741658" h="3084957">
                  <a:moveTo>
                    <a:pt x="0" y="0"/>
                  </a:moveTo>
                  <a:lnTo>
                    <a:pt x="11741658" y="0"/>
                  </a:lnTo>
                  <a:lnTo>
                    <a:pt x="11741658" y="3084957"/>
                  </a:lnTo>
                  <a:lnTo>
                    <a:pt x="0" y="3084957"/>
                  </a:lnTo>
                  <a:lnTo>
                    <a:pt x="0" y="0"/>
                  </a:lnTo>
                  <a:close/>
                </a:path>
              </a:pathLst>
            </a:custGeom>
            <a:blipFill>
              <a:blip r:embed="rId2"/>
              <a:stretch>
                <a:fillRect t="-74003" r="-17268" b="-160884"/>
              </a:stretch>
            </a:blipFill>
          </p:spPr>
        </p:sp>
      </p:grpSp>
      <p:grpSp>
        <p:nvGrpSpPr>
          <p:cNvPr id="5" name="Group 5"/>
          <p:cNvGrpSpPr/>
          <p:nvPr/>
        </p:nvGrpSpPr>
        <p:grpSpPr>
          <a:xfrm rot="0">
            <a:off x="4286250" y="4029074"/>
            <a:ext cx="14001750" cy="2314574"/>
            <a:chOff x="0" y="0"/>
            <a:chExt cx="18669000" cy="3086098"/>
          </a:xfrm>
        </p:grpSpPr>
        <p:sp>
          <p:nvSpPr>
            <p:cNvPr id="6" name="Freeform 6"/>
            <p:cNvSpPr/>
            <p:nvPr/>
          </p:nvSpPr>
          <p:spPr>
            <a:xfrm>
              <a:off x="0" y="0"/>
              <a:ext cx="18669000" cy="3086100"/>
            </a:xfrm>
            <a:custGeom>
              <a:avLst/>
              <a:gdLst/>
              <a:ahLst/>
              <a:cxnLst/>
              <a:rect l="l" t="t" r="r" b="b"/>
              <a:pathLst>
                <a:path w="18669000" h="3086100">
                  <a:moveTo>
                    <a:pt x="0" y="0"/>
                  </a:moveTo>
                  <a:lnTo>
                    <a:pt x="18669000" y="0"/>
                  </a:lnTo>
                  <a:lnTo>
                    <a:pt x="18669000" y="3086100"/>
                  </a:lnTo>
                  <a:lnTo>
                    <a:pt x="0" y="3086100"/>
                  </a:lnTo>
                  <a:close/>
                </a:path>
              </a:pathLst>
            </a:custGeom>
            <a:gradFill rotWithShape="1">
              <a:gsLst>
                <a:gs pos="0">
                  <a:srgbClr val="014924">
                    <a:alpha val="100000"/>
                  </a:srgbClr>
                </a:gs>
                <a:gs pos="35000">
                  <a:srgbClr val="014924">
                    <a:alpha val="100000"/>
                  </a:srgbClr>
                </a:gs>
                <a:gs pos="59000">
                  <a:srgbClr val="014924">
                    <a:alpha val="95000"/>
                  </a:srgbClr>
                </a:gs>
                <a:gs pos="77000">
                  <a:srgbClr val="014924">
                    <a:alpha val="70000"/>
                  </a:srgbClr>
                </a:gs>
                <a:gs pos="100000">
                  <a:srgbClr val="014924">
                    <a:alpha val="60000"/>
                  </a:srgbClr>
                </a:gs>
              </a:gsLst>
              <a:lin ang="0"/>
            </a:gradFill>
          </p:spPr>
        </p:sp>
      </p:grpSp>
      <p:grpSp>
        <p:nvGrpSpPr>
          <p:cNvPr id="7" name="Group 7"/>
          <p:cNvGrpSpPr/>
          <p:nvPr/>
        </p:nvGrpSpPr>
        <p:grpSpPr>
          <a:xfrm rot="0">
            <a:off x="1685925" y="4029075"/>
            <a:ext cx="2314575" cy="2314575"/>
            <a:chOff x="0" y="0"/>
            <a:chExt cx="3086100" cy="3086100"/>
          </a:xfrm>
        </p:grpSpPr>
        <p:sp>
          <p:nvSpPr>
            <p:cNvPr id="8" name="Freeform 8"/>
            <p:cNvSpPr/>
            <p:nvPr/>
          </p:nvSpPr>
          <p:spPr>
            <a:xfrm>
              <a:off x="0" y="0"/>
              <a:ext cx="3086100" cy="3086100"/>
            </a:xfrm>
            <a:custGeom>
              <a:avLst/>
              <a:gdLst/>
              <a:ahLst/>
              <a:cxnLst/>
              <a:rect l="l" t="t" r="r" b="b"/>
              <a:pathLst>
                <a:path w="3086100" h="3086100">
                  <a:moveTo>
                    <a:pt x="0" y="0"/>
                  </a:moveTo>
                  <a:lnTo>
                    <a:pt x="3086100" y="0"/>
                  </a:lnTo>
                  <a:lnTo>
                    <a:pt x="3086100" y="3086100"/>
                  </a:lnTo>
                  <a:lnTo>
                    <a:pt x="0" y="3086100"/>
                  </a:lnTo>
                  <a:close/>
                </a:path>
              </a:pathLst>
            </a:custGeom>
            <a:solidFill>
              <a:srgbClr val="549E39"/>
            </a:solidFill>
          </p:spPr>
        </p:sp>
      </p:grpSp>
      <p:sp>
        <p:nvSpPr>
          <p:cNvPr id="9" name="TextBox 9"/>
          <p:cNvSpPr txBox="1"/>
          <p:nvPr/>
        </p:nvSpPr>
        <p:spPr>
          <a:xfrm>
            <a:off x="2202368" y="4401086"/>
            <a:ext cx="1281690" cy="1504950"/>
          </a:xfrm>
          <a:prstGeom prst="rect">
            <a:avLst/>
          </a:prstGeom>
        </p:spPr>
        <p:txBody>
          <a:bodyPr lIns="0" tIns="0" rIns="0" bIns="0" rtlCol="0" anchor="t">
            <a:spAutoFit/>
          </a:bodyPr>
          <a:lstStyle/>
          <a:p>
            <a:pPr algn="ctr">
              <a:lnSpc>
                <a:spcPts val="11880"/>
              </a:lnSpc>
            </a:pPr>
            <a:r>
              <a:rPr lang="en-US" sz="99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5</a:t>
            </a:r>
            <a:endParaRPr lang="en-US" sz="99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0" name="TextBox 10"/>
          <p:cNvSpPr txBox="1"/>
          <p:nvPr/>
        </p:nvSpPr>
        <p:spPr>
          <a:xfrm>
            <a:off x="4516938" y="4217275"/>
            <a:ext cx="3787433" cy="1095375"/>
          </a:xfrm>
          <a:prstGeom prst="rect">
            <a:avLst/>
          </a:prstGeom>
        </p:spPr>
        <p:txBody>
          <a:bodyPr lIns="0" tIns="0" rIns="0" bIns="0" rtlCol="0" anchor="t">
            <a:spAutoFit/>
          </a:bodyPr>
          <a:lstStyle/>
          <a:p>
            <a:pPr algn="l">
              <a:lnSpc>
                <a:spcPts val="8640"/>
              </a:lnSpc>
            </a:pPr>
            <a:r>
              <a:rPr lang="en-US" sz="72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项目测试</a:t>
            </a:r>
            <a:endParaRPr lang="en-US" sz="72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1" name="TextBox 11"/>
          <p:cNvSpPr txBox="1"/>
          <p:nvPr/>
        </p:nvSpPr>
        <p:spPr>
          <a:xfrm>
            <a:off x="4516938" y="5522672"/>
            <a:ext cx="3096571" cy="409575"/>
          </a:xfrm>
          <a:prstGeom prst="rect">
            <a:avLst/>
          </a:prstGeom>
        </p:spPr>
        <p:txBody>
          <a:bodyPr lIns="0" tIns="0" rIns="0" bIns="0" rtlCol="0" anchor="t">
            <a:spAutoFit/>
          </a:bodyPr>
          <a:lstStyle/>
          <a:p>
            <a:pPr algn="ctr">
              <a:lnSpc>
                <a:spcPts val="3240"/>
              </a:lnSpc>
            </a:pPr>
            <a:r>
              <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PROJECT TESTING</a:t>
            </a:r>
            <a:endParaRPr lang="en-US" sz="27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2" name="Group 12"/>
          <p:cNvGrpSpPr>
            <a:grpSpLocks noChangeAspect="1"/>
          </p:cNvGrpSpPr>
          <p:nvPr/>
        </p:nvGrpSpPr>
        <p:grpSpPr>
          <a:xfrm rot="0">
            <a:off x="14723000" y="203883"/>
            <a:ext cx="3565001" cy="1101770"/>
            <a:chOff x="0" y="0"/>
            <a:chExt cx="4753334" cy="1469026"/>
          </a:xfrm>
        </p:grpSpPr>
        <p:sp>
          <p:nvSpPr>
            <p:cNvPr id="13" name="Freeform 13"/>
            <p:cNvSpPr/>
            <p:nvPr/>
          </p:nvSpPr>
          <p:spPr>
            <a:xfrm>
              <a:off x="0" y="0"/>
              <a:ext cx="4753356" cy="1469009"/>
            </a:xfrm>
            <a:custGeom>
              <a:avLst/>
              <a:gdLst/>
              <a:ahLst/>
              <a:cxnLst/>
              <a:rect l="l" t="t" r="r" b="b"/>
              <a:pathLst>
                <a:path w="4753356" h="1469009">
                  <a:moveTo>
                    <a:pt x="0" y="0"/>
                  </a:moveTo>
                  <a:lnTo>
                    <a:pt x="4753356" y="0"/>
                  </a:lnTo>
                  <a:lnTo>
                    <a:pt x="4753356" y="1469009"/>
                  </a:lnTo>
                  <a:lnTo>
                    <a:pt x="0" y="1469009"/>
                  </a:lnTo>
                  <a:lnTo>
                    <a:pt x="0" y="0"/>
                  </a:lnTo>
                  <a:close/>
                </a:path>
              </a:pathLst>
            </a:custGeom>
            <a:blipFill>
              <a:blip r:embed="rId3"/>
              <a:stretch>
                <a:fillRect t="-34825" b="-13078"/>
              </a:stretch>
            </a:blipFill>
          </p:spPr>
        </p:sp>
      </p:grpSp>
      <p:grpSp>
        <p:nvGrpSpPr>
          <p:cNvPr id="14" name="Group 14"/>
          <p:cNvGrpSpPr>
            <a:grpSpLocks noChangeAspect="1"/>
          </p:cNvGrpSpPr>
          <p:nvPr/>
        </p:nvGrpSpPr>
        <p:grpSpPr>
          <a:xfrm rot="0">
            <a:off x="10684251" y="372126"/>
            <a:ext cx="3466641" cy="765282"/>
            <a:chOff x="0" y="0"/>
            <a:chExt cx="4622188" cy="1020376"/>
          </a:xfrm>
        </p:grpSpPr>
        <p:sp>
          <p:nvSpPr>
            <p:cNvPr id="15" name="Freeform 15"/>
            <p:cNvSpPr/>
            <p:nvPr/>
          </p:nvSpPr>
          <p:spPr>
            <a:xfrm>
              <a:off x="0" y="0"/>
              <a:ext cx="4622165" cy="1020318"/>
            </a:xfrm>
            <a:custGeom>
              <a:avLst/>
              <a:gdLst/>
              <a:ahLst/>
              <a:cxnLst/>
              <a:rect l="l" t="t" r="r" b="b"/>
              <a:pathLst>
                <a:path w="4622165" h="1020318">
                  <a:moveTo>
                    <a:pt x="0" y="0"/>
                  </a:moveTo>
                  <a:lnTo>
                    <a:pt x="4622165" y="0"/>
                  </a:lnTo>
                  <a:lnTo>
                    <a:pt x="4622165" y="1020318"/>
                  </a:lnTo>
                  <a:lnTo>
                    <a:pt x="0" y="1020318"/>
                  </a:lnTo>
                  <a:lnTo>
                    <a:pt x="0" y="0"/>
                  </a:lnTo>
                  <a:close/>
                </a:path>
              </a:pathLst>
            </a:custGeom>
            <a:blipFill>
              <a:blip r:embed="rId4"/>
              <a:stretch>
                <a:fillRect b="-5"/>
              </a:stretch>
            </a:blipFill>
          </p:spPr>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16100484" y="264381"/>
            <a:ext cx="1896959" cy="667167"/>
            <a:chOff x="0" y="0"/>
            <a:chExt cx="2529278" cy="889556"/>
          </a:xfrm>
        </p:grpSpPr>
        <p:sp>
          <p:nvSpPr>
            <p:cNvPr id="4" name="Freeform 4"/>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grpSp>
        <p:nvGrpSpPr>
          <p:cNvPr id="5" name="Group 5"/>
          <p:cNvGrpSpPr/>
          <p:nvPr/>
        </p:nvGrpSpPr>
        <p:grpSpPr>
          <a:xfrm rot="0">
            <a:off x="-381000" y="284064"/>
            <a:ext cx="1347105" cy="659502"/>
            <a:chOff x="0" y="0"/>
            <a:chExt cx="1796140" cy="879336"/>
          </a:xfrm>
        </p:grpSpPr>
        <p:sp>
          <p:nvSpPr>
            <p:cNvPr id="6" name="Freeform 6"/>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7" name="Freeform 7"/>
          <p:cNvSpPr/>
          <p:nvPr/>
        </p:nvSpPr>
        <p:spPr>
          <a:xfrm>
            <a:off x="3876596" y="326236"/>
            <a:ext cx="15144750" cy="659311"/>
          </a:xfrm>
          <a:custGeom>
            <a:avLst/>
            <a:gdLst/>
            <a:ahLst/>
            <a:cxnLst/>
            <a:rect l="l" t="t" r="r" b="b"/>
            <a:pathLst>
              <a:path w="15144750" h="659311">
                <a:moveTo>
                  <a:pt x="0" y="0"/>
                </a:moveTo>
                <a:lnTo>
                  <a:pt x="15144750" y="0"/>
                </a:lnTo>
                <a:lnTo>
                  <a:pt x="15144750" y="659312"/>
                </a:lnTo>
                <a:lnTo>
                  <a:pt x="0" y="659312"/>
                </a:lnTo>
                <a:lnTo>
                  <a:pt x="0" y="0"/>
                </a:lnTo>
                <a:close/>
              </a:path>
            </a:pathLst>
          </a:custGeom>
          <a:blipFill>
            <a:blip r:embed="rId3"/>
            <a:stretch>
              <a:fillRect/>
            </a:stretch>
          </a:blipFill>
        </p:spPr>
      </p:sp>
      <p:grpSp>
        <p:nvGrpSpPr>
          <p:cNvPr id="8" name="Group 8"/>
          <p:cNvGrpSpPr>
            <a:grpSpLocks noChangeAspect="1"/>
          </p:cNvGrpSpPr>
          <p:nvPr/>
        </p:nvGrpSpPr>
        <p:grpSpPr>
          <a:xfrm rot="0">
            <a:off x="16100484" y="264381"/>
            <a:ext cx="1896959" cy="667167"/>
            <a:chOff x="0" y="0"/>
            <a:chExt cx="2529278" cy="889556"/>
          </a:xfrm>
        </p:grpSpPr>
        <p:sp>
          <p:nvSpPr>
            <p:cNvPr id="9" name="Freeform 9"/>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sp>
        <p:nvSpPr>
          <p:cNvPr id="11" name="TextBox 11"/>
          <p:cNvSpPr txBox="1"/>
          <p:nvPr/>
        </p:nvSpPr>
        <p:spPr>
          <a:xfrm>
            <a:off x="189999" y="291684"/>
            <a:ext cx="518661" cy="63817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5</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2" name="TextBox 12"/>
          <p:cNvSpPr txBox="1"/>
          <p:nvPr/>
        </p:nvSpPr>
        <p:spPr>
          <a:xfrm>
            <a:off x="1143186" y="263128"/>
            <a:ext cx="2556328" cy="723900"/>
          </a:xfrm>
          <a:prstGeom prst="rect">
            <a:avLst/>
          </a:prstGeom>
        </p:spPr>
        <p:txBody>
          <a:bodyPr lIns="0" tIns="0" rIns="0" bIns="0" rtlCol="0" anchor="t">
            <a:spAutoFit/>
          </a:bodyPr>
          <a:lstStyle/>
          <a:p>
            <a:pPr algn="l">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项目测试</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3" name="TextBox 13"/>
          <p:cNvSpPr txBox="1"/>
          <p:nvPr/>
        </p:nvSpPr>
        <p:spPr>
          <a:xfrm>
            <a:off x="3987082" y="435935"/>
            <a:ext cx="2490146" cy="266700"/>
          </a:xfrm>
          <a:prstGeom prst="rect">
            <a:avLst/>
          </a:prstGeom>
        </p:spPr>
        <p:txBody>
          <a:bodyPr lIns="0" tIns="0" rIns="0" bIns="0" rtlCol="0" anchor="t">
            <a:spAutoFit/>
          </a:bodyPr>
          <a:lstStyle/>
          <a:p>
            <a:pPr algn="ctr">
              <a:lnSpc>
                <a:spcPts val="2160"/>
              </a:lnSpc>
            </a:pPr>
            <a:r>
              <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PROJECT TESTING</a:t>
            </a:r>
            <a:endPar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4" name="Group 14"/>
          <p:cNvGrpSpPr/>
          <p:nvPr/>
        </p:nvGrpSpPr>
        <p:grpSpPr>
          <a:xfrm rot="0">
            <a:off x="0" y="1097280"/>
            <a:ext cx="4578985" cy="1197610"/>
            <a:chOff x="0" y="0"/>
            <a:chExt cx="4874022" cy="1900083"/>
          </a:xfrm>
        </p:grpSpPr>
        <p:sp>
          <p:nvSpPr>
            <p:cNvPr id="15" name="Freeform 15"/>
            <p:cNvSpPr/>
            <p:nvPr/>
          </p:nvSpPr>
          <p:spPr>
            <a:xfrm>
              <a:off x="0" y="0"/>
              <a:ext cx="4874022" cy="1900083"/>
            </a:xfrm>
            <a:custGeom>
              <a:avLst/>
              <a:gdLst/>
              <a:ahLst/>
              <a:cxnLst/>
              <a:rect l="l" t="t" r="r" b="b"/>
              <a:pathLst>
                <a:path w="4874022" h="1900083">
                  <a:moveTo>
                    <a:pt x="0" y="0"/>
                  </a:moveTo>
                  <a:lnTo>
                    <a:pt x="4874022" y="0"/>
                  </a:lnTo>
                  <a:lnTo>
                    <a:pt x="4874022" y="1900083"/>
                  </a:lnTo>
                  <a:lnTo>
                    <a:pt x="0" y="1900083"/>
                  </a:lnTo>
                  <a:close/>
                </a:path>
              </a:pathLst>
            </a:custGeom>
            <a:solidFill>
              <a:srgbClr val="014924"/>
            </a:solidFill>
          </p:spPr>
        </p:sp>
        <p:sp>
          <p:nvSpPr>
            <p:cNvPr id="16" name="TextBox 16"/>
            <p:cNvSpPr txBox="1"/>
            <p:nvPr/>
          </p:nvSpPr>
          <p:spPr>
            <a:xfrm>
              <a:off x="0" y="9525"/>
              <a:ext cx="4874022" cy="1890558"/>
            </a:xfrm>
            <a:prstGeom prst="rect">
              <a:avLst/>
            </a:prstGeom>
          </p:spPr>
          <p:txBody>
            <a:bodyPr lIns="50800" tIns="50800" rIns="50800" bIns="50800" rtlCol="0" anchor="ctr"/>
            <a:lstStyle/>
            <a:p>
              <a:pPr algn="ctr">
                <a:lnSpc>
                  <a:spcPts val="4200"/>
                </a:lnSpc>
              </a:pPr>
              <a:r>
                <a:rPr lang="en-US" sz="3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项目测试结构</a:t>
              </a:r>
              <a:endParaRPr lang="en-US" sz="35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sp>
        <p:nvSpPr>
          <p:cNvPr id="17" name="TextBox 17"/>
          <p:cNvSpPr txBox="1"/>
          <p:nvPr/>
        </p:nvSpPr>
        <p:spPr>
          <a:xfrm>
            <a:off x="1143000" y="1638300"/>
            <a:ext cx="5309870" cy="3700145"/>
          </a:xfrm>
          <a:prstGeom prst="rect">
            <a:avLst/>
          </a:prstGeom>
        </p:spPr>
        <p:txBody>
          <a:bodyPr wrap="square" lIns="0" tIns="0" rIns="0" bIns="0" rtlCol="0" anchor="t">
            <a:noAutofit/>
          </a:bodyPr>
          <a:lstStyle/>
          <a:p>
            <a:pPr marL="491490" lvl="1" indent="0" algn="just">
              <a:lnSpc>
                <a:spcPts val="5460"/>
              </a:lnSpc>
              <a:buFont typeface="Arial" panose="020B0604020202020204"/>
              <a:buNone/>
            </a:pPr>
            <a:endPar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lvl="1" indent="-457200" algn="just">
              <a:lnSpc>
                <a:spcPts val="5460"/>
              </a:lnSpc>
              <a:buFont typeface="Arial" panose="020B0604020202020204" pitchFamily="34" charset="0"/>
              <a:buChar char="•"/>
            </a:pPr>
            <a:r>
              <a:rPr lang="zh-CN" alt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启动测试与功能</a:t>
            </a:r>
            <a:r>
              <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验证</a:t>
            </a:r>
            <a:endPar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lvl="1" indent="-457200" algn="just">
              <a:lnSpc>
                <a:spcPts val="5460"/>
              </a:lnSpc>
              <a:buFont typeface="Arial" panose="020B0604020202020204" pitchFamily="34" charset="0"/>
              <a:buChar char="•"/>
            </a:pPr>
            <a:r>
              <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模拟任务集测试</a:t>
            </a:r>
            <a:endPar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lvl="1" indent="-457200" algn="just">
              <a:lnSpc>
                <a:spcPts val="5460"/>
              </a:lnSpc>
              <a:buFont typeface="Arial" panose="020B0604020202020204" pitchFamily="34" charset="0"/>
              <a:buChar char="•"/>
            </a:pPr>
            <a:r>
              <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优先级调度验证</a:t>
            </a:r>
            <a:endPar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lvl="1" indent="-457200" algn="just">
              <a:lnSpc>
                <a:spcPts val="5460"/>
              </a:lnSpc>
              <a:buFont typeface="Arial" panose="020B0604020202020204" pitchFamily="34" charset="0"/>
              <a:buChar char="•"/>
            </a:pPr>
            <a:r>
              <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TacleBench</a:t>
            </a:r>
            <a:r>
              <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测试集</a:t>
            </a:r>
            <a:endPar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lvl="1" indent="-457200" algn="just">
              <a:lnSpc>
                <a:spcPts val="5460"/>
              </a:lnSpc>
              <a:buFont typeface="Arial" panose="020B0604020202020204" pitchFamily="34" charset="0"/>
              <a:buChar char="•"/>
            </a:pPr>
            <a:r>
              <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自动化工具</a:t>
            </a:r>
            <a:endParaRPr lang="en-US" sz="320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9" name="Freeform 8"/>
          <p:cNvSpPr/>
          <p:nvPr/>
        </p:nvSpPr>
        <p:spPr>
          <a:xfrm>
            <a:off x="1143000" y="5905500"/>
            <a:ext cx="6461125" cy="3807460"/>
          </a:xfrm>
          <a:custGeom>
            <a:avLst/>
            <a:gdLst/>
            <a:ahLst/>
            <a:cxnLst/>
            <a:rect l="l" t="t" r="r" b="b"/>
            <a:pathLst>
              <a:path w="5966448" h="3823269">
                <a:moveTo>
                  <a:pt x="0" y="0"/>
                </a:moveTo>
                <a:lnTo>
                  <a:pt x="5966448" y="0"/>
                </a:lnTo>
                <a:lnTo>
                  <a:pt x="5966448" y="3823270"/>
                </a:lnTo>
                <a:lnTo>
                  <a:pt x="0" y="3823270"/>
                </a:lnTo>
                <a:lnTo>
                  <a:pt x="0" y="0"/>
                </a:lnTo>
                <a:close/>
              </a:path>
            </a:pathLst>
          </a:custGeom>
          <a:blipFill>
            <a:blip r:embed="rId4"/>
            <a:stretch>
              <a:fillRect t="-2580"/>
            </a:stretch>
          </a:blipFill>
        </p:spPr>
      </p:sp>
      <p:pic>
        <p:nvPicPr>
          <p:cNvPr id="20" name="图片 19"/>
          <p:cNvPicPr>
            <a:picLocks noChangeAspect="1"/>
          </p:cNvPicPr>
          <p:nvPr/>
        </p:nvPicPr>
        <p:blipFill>
          <a:blip r:embed="rId5"/>
          <a:stretch>
            <a:fillRect/>
          </a:stretch>
        </p:blipFill>
        <p:spPr>
          <a:xfrm>
            <a:off x="9144000" y="1097280"/>
            <a:ext cx="7216775" cy="86702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0">
            <a:off x="-381000" y="284064"/>
            <a:ext cx="1347105" cy="659502"/>
            <a:chOff x="0" y="0"/>
            <a:chExt cx="1796140" cy="879336"/>
          </a:xfrm>
        </p:grpSpPr>
        <p:sp>
          <p:nvSpPr>
            <p:cNvPr id="4" name="Freeform 4"/>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5" name="Freeform 5"/>
          <p:cNvSpPr/>
          <p:nvPr/>
        </p:nvSpPr>
        <p:spPr>
          <a:xfrm>
            <a:off x="3876596" y="326236"/>
            <a:ext cx="15144750" cy="659311"/>
          </a:xfrm>
          <a:custGeom>
            <a:avLst/>
            <a:gdLst/>
            <a:ahLst/>
            <a:cxnLst/>
            <a:rect l="l" t="t" r="r" b="b"/>
            <a:pathLst>
              <a:path w="15144750" h="659311">
                <a:moveTo>
                  <a:pt x="0" y="0"/>
                </a:moveTo>
                <a:lnTo>
                  <a:pt x="15144750" y="0"/>
                </a:lnTo>
                <a:lnTo>
                  <a:pt x="15144750" y="659312"/>
                </a:lnTo>
                <a:lnTo>
                  <a:pt x="0" y="659312"/>
                </a:lnTo>
                <a:lnTo>
                  <a:pt x="0" y="0"/>
                </a:lnTo>
                <a:close/>
              </a:path>
            </a:pathLst>
          </a:custGeom>
          <a:blipFill>
            <a:blip r:embed="rId2"/>
            <a:stretch>
              <a:fillRect/>
            </a:stretch>
          </a:blipFill>
        </p:spPr>
      </p:sp>
      <p:grpSp>
        <p:nvGrpSpPr>
          <p:cNvPr id="6" name="Group 6"/>
          <p:cNvGrpSpPr>
            <a:grpSpLocks noChangeAspect="1"/>
          </p:cNvGrpSpPr>
          <p:nvPr/>
        </p:nvGrpSpPr>
        <p:grpSpPr>
          <a:xfrm rot="0">
            <a:off x="16100484" y="264381"/>
            <a:ext cx="1896959" cy="667167"/>
            <a:chOff x="0" y="0"/>
            <a:chExt cx="2529278" cy="889556"/>
          </a:xfrm>
        </p:grpSpPr>
        <p:sp>
          <p:nvSpPr>
            <p:cNvPr id="7" name="Freeform 7"/>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3"/>
              <a:stretch>
                <a:fillRect t="-29960" r="2" b="-53"/>
              </a:stretch>
            </a:blipFill>
          </p:spPr>
        </p:sp>
      </p:grpSp>
      <p:sp>
        <p:nvSpPr>
          <p:cNvPr id="10" name="TextBox 10"/>
          <p:cNvSpPr txBox="1"/>
          <p:nvPr/>
        </p:nvSpPr>
        <p:spPr>
          <a:xfrm>
            <a:off x="189999" y="291684"/>
            <a:ext cx="518661" cy="63817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5</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1" name="TextBox 11"/>
          <p:cNvSpPr txBox="1"/>
          <p:nvPr/>
        </p:nvSpPr>
        <p:spPr>
          <a:xfrm>
            <a:off x="1143186" y="263128"/>
            <a:ext cx="2556328" cy="723900"/>
          </a:xfrm>
          <a:prstGeom prst="rect">
            <a:avLst/>
          </a:prstGeom>
        </p:spPr>
        <p:txBody>
          <a:bodyPr lIns="0" tIns="0" rIns="0" bIns="0" rtlCol="0" anchor="t">
            <a:spAutoFit/>
          </a:bodyPr>
          <a:lstStyle/>
          <a:p>
            <a:pPr algn="l">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项目测试</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2" name="TextBox 12"/>
          <p:cNvSpPr txBox="1"/>
          <p:nvPr/>
        </p:nvSpPr>
        <p:spPr>
          <a:xfrm>
            <a:off x="4058309" y="435936"/>
            <a:ext cx="2778579" cy="266700"/>
          </a:xfrm>
          <a:prstGeom prst="rect">
            <a:avLst/>
          </a:prstGeom>
        </p:spPr>
        <p:txBody>
          <a:bodyPr lIns="0" tIns="0" rIns="0" bIns="0" rtlCol="0" anchor="t">
            <a:spAutoFit/>
          </a:bodyPr>
          <a:lstStyle/>
          <a:p>
            <a:pPr algn="ctr">
              <a:lnSpc>
                <a:spcPts val="2160"/>
              </a:lnSpc>
            </a:pPr>
            <a:r>
              <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PROJECT TESTING</a:t>
            </a:r>
            <a:endPar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3" name="Group 13"/>
          <p:cNvGrpSpPr/>
          <p:nvPr/>
        </p:nvGrpSpPr>
        <p:grpSpPr>
          <a:xfrm rot="0">
            <a:off x="-76344" y="1028541"/>
            <a:ext cx="4084320" cy="1251586"/>
            <a:chOff x="-1955817" y="-360732"/>
            <a:chExt cx="8437169" cy="2585457"/>
          </a:xfrm>
        </p:grpSpPr>
        <p:sp>
          <p:nvSpPr>
            <p:cNvPr id="14" name="Freeform 14"/>
            <p:cNvSpPr/>
            <p:nvPr/>
          </p:nvSpPr>
          <p:spPr>
            <a:xfrm>
              <a:off x="-1955817" y="-45911"/>
              <a:ext cx="8437169" cy="2270636"/>
            </a:xfrm>
            <a:custGeom>
              <a:avLst/>
              <a:gdLst/>
              <a:ahLst/>
              <a:cxnLst/>
              <a:rect l="l" t="t" r="r" b="b"/>
              <a:pathLst>
                <a:path w="7013902" h="2270545">
                  <a:moveTo>
                    <a:pt x="0" y="0"/>
                  </a:moveTo>
                  <a:lnTo>
                    <a:pt x="7013902" y="0"/>
                  </a:lnTo>
                  <a:lnTo>
                    <a:pt x="7013902" y="2270545"/>
                  </a:lnTo>
                  <a:lnTo>
                    <a:pt x="0" y="2270545"/>
                  </a:lnTo>
                  <a:close/>
                </a:path>
              </a:pathLst>
            </a:custGeom>
            <a:solidFill>
              <a:srgbClr val="014924"/>
            </a:solidFill>
          </p:spPr>
        </p:sp>
        <p:sp>
          <p:nvSpPr>
            <p:cNvPr id="15" name="TextBox 15"/>
            <p:cNvSpPr txBox="1"/>
            <p:nvPr/>
          </p:nvSpPr>
          <p:spPr>
            <a:xfrm>
              <a:off x="-1170080" y="-360732"/>
              <a:ext cx="7013903" cy="2270545"/>
            </a:xfrm>
            <a:prstGeom prst="rect">
              <a:avLst/>
            </a:prstGeom>
          </p:spPr>
          <p:txBody>
            <a:bodyPr lIns="32789" tIns="32789" rIns="32789" bIns="32789" rtlCol="0" anchor="ctr"/>
            <a:lstStyle/>
            <a:p>
              <a:pPr marL="0" lvl="1" indent="0" algn="just">
                <a:lnSpc>
                  <a:spcPts val="5460"/>
                </a:lnSpc>
                <a:buFont typeface="Arial" panose="020B0604020202020204"/>
                <a:buNone/>
              </a:pPr>
              <a:r>
                <a:rPr lang="zh-CN" altLang="en-US" sz="2710" b="1">
                  <a:solidFill>
                    <a:schemeClr val="bg1"/>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启动测试与功能</a:t>
              </a:r>
              <a:r>
                <a:rPr lang="en-US" sz="2710" b="1">
                  <a:solidFill>
                    <a:schemeClr val="bg1"/>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验证</a:t>
              </a:r>
              <a:endParaRPr lang="en-US" sz="2710" b="1">
                <a:solidFill>
                  <a:schemeClr val="bg1"/>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pic>
        <p:nvPicPr>
          <p:cNvPr id="20" name="图片 19"/>
          <p:cNvPicPr>
            <a:picLocks noChangeAspect="1"/>
          </p:cNvPicPr>
          <p:nvPr/>
        </p:nvPicPr>
        <p:blipFill>
          <a:blip r:embed="rId4"/>
          <a:stretch>
            <a:fillRect/>
          </a:stretch>
        </p:blipFill>
        <p:spPr>
          <a:xfrm>
            <a:off x="609600" y="3314700"/>
            <a:ext cx="8780145" cy="6593840"/>
          </a:xfrm>
          <a:prstGeom prst="rect">
            <a:avLst/>
          </a:prstGeom>
        </p:spPr>
      </p:pic>
      <p:pic>
        <p:nvPicPr>
          <p:cNvPr id="23" name="图片 22"/>
          <p:cNvPicPr>
            <a:picLocks noChangeAspect="1"/>
          </p:cNvPicPr>
          <p:nvPr/>
        </p:nvPicPr>
        <p:blipFill>
          <a:blip r:embed="rId5"/>
          <a:srcRect l="-6363" t="1733" r="42672" b="-1733"/>
          <a:stretch>
            <a:fillRect/>
          </a:stretch>
        </p:blipFill>
        <p:spPr>
          <a:xfrm>
            <a:off x="8991600" y="1257300"/>
            <a:ext cx="8281035" cy="87941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500" fill="hold"/>
                                        <p:tgtEl>
                                          <p:spTgt spid="23"/>
                                        </p:tgtEl>
                                        <p:attrNameLst>
                                          <p:attrName>ppt_x</p:attrName>
                                        </p:attrNameLst>
                                      </p:cBhvr>
                                      <p:tavLst>
                                        <p:tav tm="0">
                                          <p:val>
                                            <p:strVal val="#ppt_x"/>
                                          </p:val>
                                        </p:tav>
                                        <p:tav tm="100000">
                                          <p:val>
                                            <p:strVal val="#ppt_x"/>
                                          </p:val>
                                        </p:tav>
                                      </p:tavLst>
                                    </p:anim>
                                    <p:anim calcmode="lin" valueType="num">
                                      <p:cBhvr additive="base">
                                        <p:cTn id="1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16100484" y="264381"/>
            <a:ext cx="1896959" cy="667167"/>
            <a:chOff x="0" y="0"/>
            <a:chExt cx="2529278" cy="889556"/>
          </a:xfrm>
        </p:grpSpPr>
        <p:sp>
          <p:nvSpPr>
            <p:cNvPr id="4" name="Freeform 4"/>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grpSp>
        <p:nvGrpSpPr>
          <p:cNvPr id="5" name="Group 5"/>
          <p:cNvGrpSpPr/>
          <p:nvPr/>
        </p:nvGrpSpPr>
        <p:grpSpPr>
          <a:xfrm rot="0">
            <a:off x="-381000" y="284064"/>
            <a:ext cx="1347105" cy="659502"/>
            <a:chOff x="0" y="0"/>
            <a:chExt cx="1796140" cy="879336"/>
          </a:xfrm>
        </p:grpSpPr>
        <p:sp>
          <p:nvSpPr>
            <p:cNvPr id="6" name="Freeform 6"/>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7" name="Freeform 7"/>
          <p:cNvSpPr/>
          <p:nvPr/>
        </p:nvSpPr>
        <p:spPr>
          <a:xfrm>
            <a:off x="3876596" y="326236"/>
            <a:ext cx="15144750" cy="659311"/>
          </a:xfrm>
          <a:custGeom>
            <a:avLst/>
            <a:gdLst/>
            <a:ahLst/>
            <a:cxnLst/>
            <a:rect l="l" t="t" r="r" b="b"/>
            <a:pathLst>
              <a:path w="15144750" h="659311">
                <a:moveTo>
                  <a:pt x="0" y="0"/>
                </a:moveTo>
                <a:lnTo>
                  <a:pt x="15144750" y="0"/>
                </a:lnTo>
                <a:lnTo>
                  <a:pt x="15144750" y="659312"/>
                </a:lnTo>
                <a:lnTo>
                  <a:pt x="0" y="659312"/>
                </a:lnTo>
                <a:lnTo>
                  <a:pt x="0" y="0"/>
                </a:lnTo>
                <a:close/>
              </a:path>
            </a:pathLst>
          </a:custGeom>
          <a:blipFill>
            <a:blip r:embed="rId3"/>
            <a:stretch>
              <a:fillRect/>
            </a:stretch>
          </a:blipFill>
        </p:spPr>
      </p:sp>
      <p:grpSp>
        <p:nvGrpSpPr>
          <p:cNvPr id="8" name="Group 8"/>
          <p:cNvGrpSpPr>
            <a:grpSpLocks noChangeAspect="1"/>
          </p:cNvGrpSpPr>
          <p:nvPr/>
        </p:nvGrpSpPr>
        <p:grpSpPr>
          <a:xfrm rot="0">
            <a:off x="16100484" y="264381"/>
            <a:ext cx="1896959" cy="667167"/>
            <a:chOff x="0" y="0"/>
            <a:chExt cx="2529278" cy="889556"/>
          </a:xfrm>
        </p:grpSpPr>
        <p:sp>
          <p:nvSpPr>
            <p:cNvPr id="9" name="Freeform 9"/>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grpSp>
        <p:nvGrpSpPr>
          <p:cNvPr id="10" name="Group 10"/>
          <p:cNvGrpSpPr/>
          <p:nvPr/>
        </p:nvGrpSpPr>
        <p:grpSpPr>
          <a:xfrm rot="0">
            <a:off x="-75895" y="1145015"/>
            <a:ext cx="3034581" cy="1158392"/>
            <a:chOff x="-2089573" y="-203200"/>
            <a:chExt cx="4046108" cy="1544523"/>
          </a:xfrm>
        </p:grpSpPr>
        <p:sp>
          <p:nvSpPr>
            <p:cNvPr id="11" name="Freeform 11"/>
            <p:cNvSpPr/>
            <p:nvPr/>
          </p:nvSpPr>
          <p:spPr>
            <a:xfrm>
              <a:off x="-1987973" y="-154940"/>
              <a:ext cx="3944508" cy="1496263"/>
            </a:xfrm>
            <a:custGeom>
              <a:avLst/>
              <a:gdLst/>
              <a:ahLst/>
              <a:cxnLst/>
              <a:rect l="l" t="t" r="r" b="b"/>
              <a:pathLst>
                <a:path w="3944508" h="1496263">
                  <a:moveTo>
                    <a:pt x="0" y="0"/>
                  </a:moveTo>
                  <a:lnTo>
                    <a:pt x="3944508" y="0"/>
                  </a:lnTo>
                  <a:lnTo>
                    <a:pt x="3944508" y="1496263"/>
                  </a:lnTo>
                  <a:lnTo>
                    <a:pt x="0" y="1496263"/>
                  </a:lnTo>
                  <a:close/>
                </a:path>
              </a:pathLst>
            </a:custGeom>
            <a:solidFill>
              <a:srgbClr val="014924"/>
            </a:solidFill>
          </p:spPr>
        </p:sp>
        <p:sp>
          <p:nvSpPr>
            <p:cNvPr id="12" name="TextBox 12"/>
            <p:cNvSpPr txBox="1"/>
            <p:nvPr/>
          </p:nvSpPr>
          <p:spPr>
            <a:xfrm>
              <a:off x="-2089573" y="-203200"/>
              <a:ext cx="3944509" cy="1496263"/>
            </a:xfrm>
            <a:prstGeom prst="rect">
              <a:avLst/>
            </a:prstGeom>
          </p:spPr>
          <p:txBody>
            <a:bodyPr lIns="50800" tIns="50800" rIns="50800" bIns="50800" rtlCol="0" anchor="ctr"/>
            <a:lstStyle/>
            <a:p>
              <a:pPr algn="ctr">
                <a:lnSpc>
                  <a:spcPts val="3240"/>
                </a:lnSpc>
              </a:pPr>
              <a:r>
                <a:rPr lang="en-US" sz="27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模拟任务集测试</a:t>
              </a:r>
              <a:endParaRPr lang="en-US" sz="27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sp>
        <p:nvSpPr>
          <p:cNvPr id="13" name="Freeform 13"/>
          <p:cNvSpPr/>
          <p:nvPr/>
        </p:nvSpPr>
        <p:spPr>
          <a:xfrm>
            <a:off x="457200" y="2400300"/>
            <a:ext cx="7390130" cy="4846955"/>
          </a:xfrm>
          <a:custGeom>
            <a:avLst/>
            <a:gdLst/>
            <a:ahLst/>
            <a:cxnLst/>
            <a:rect l="l" t="t" r="r" b="b"/>
            <a:pathLst>
              <a:path w="5215662" h="3256487">
                <a:moveTo>
                  <a:pt x="0" y="0"/>
                </a:moveTo>
                <a:lnTo>
                  <a:pt x="5215662" y="0"/>
                </a:lnTo>
                <a:lnTo>
                  <a:pt x="5215662" y="3256487"/>
                </a:lnTo>
                <a:lnTo>
                  <a:pt x="0" y="3256487"/>
                </a:lnTo>
                <a:lnTo>
                  <a:pt x="0" y="0"/>
                </a:lnTo>
                <a:close/>
              </a:path>
            </a:pathLst>
          </a:custGeom>
          <a:blipFill>
            <a:blip r:embed="rId4"/>
            <a:stretch>
              <a:fillRect r="-12590"/>
            </a:stretch>
          </a:blipFill>
        </p:spPr>
      </p:sp>
      <p:sp>
        <p:nvSpPr>
          <p:cNvPr id="14" name="Freeform 14"/>
          <p:cNvSpPr/>
          <p:nvPr/>
        </p:nvSpPr>
        <p:spPr>
          <a:xfrm>
            <a:off x="9372460" y="1562381"/>
            <a:ext cx="6813239" cy="2881472"/>
          </a:xfrm>
          <a:custGeom>
            <a:avLst/>
            <a:gdLst/>
            <a:ahLst/>
            <a:cxnLst/>
            <a:rect l="l" t="t" r="r" b="b"/>
            <a:pathLst>
              <a:path w="6813239" h="2881472">
                <a:moveTo>
                  <a:pt x="0" y="0"/>
                </a:moveTo>
                <a:lnTo>
                  <a:pt x="6813239" y="0"/>
                </a:lnTo>
                <a:lnTo>
                  <a:pt x="6813239" y="2881472"/>
                </a:lnTo>
                <a:lnTo>
                  <a:pt x="0" y="2881472"/>
                </a:lnTo>
                <a:lnTo>
                  <a:pt x="0" y="0"/>
                </a:lnTo>
                <a:close/>
              </a:path>
            </a:pathLst>
          </a:custGeom>
          <a:blipFill>
            <a:blip r:embed="rId5"/>
            <a:stretch>
              <a:fillRect t="-521"/>
            </a:stretch>
          </a:blipFill>
        </p:spPr>
      </p:sp>
      <p:sp>
        <p:nvSpPr>
          <p:cNvPr id="15" name="Freeform 15"/>
          <p:cNvSpPr/>
          <p:nvPr/>
        </p:nvSpPr>
        <p:spPr>
          <a:xfrm>
            <a:off x="7772641" y="5108354"/>
            <a:ext cx="9915945" cy="4226672"/>
          </a:xfrm>
          <a:custGeom>
            <a:avLst/>
            <a:gdLst/>
            <a:ahLst/>
            <a:cxnLst/>
            <a:rect l="l" t="t" r="r" b="b"/>
            <a:pathLst>
              <a:path w="9915945" h="4226672">
                <a:moveTo>
                  <a:pt x="0" y="0"/>
                </a:moveTo>
                <a:lnTo>
                  <a:pt x="9915944" y="0"/>
                </a:lnTo>
                <a:lnTo>
                  <a:pt x="9915944" y="4226671"/>
                </a:lnTo>
                <a:lnTo>
                  <a:pt x="0" y="4226671"/>
                </a:lnTo>
                <a:lnTo>
                  <a:pt x="0" y="0"/>
                </a:lnTo>
                <a:close/>
              </a:path>
            </a:pathLst>
          </a:custGeom>
          <a:blipFill>
            <a:blip r:embed="rId6"/>
            <a:stretch>
              <a:fillRect/>
            </a:stretch>
          </a:blipFill>
        </p:spPr>
      </p:sp>
      <p:sp>
        <p:nvSpPr>
          <p:cNvPr id="16" name="TextBox 16"/>
          <p:cNvSpPr txBox="1"/>
          <p:nvPr/>
        </p:nvSpPr>
        <p:spPr>
          <a:xfrm>
            <a:off x="189999" y="291684"/>
            <a:ext cx="518661" cy="63817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5</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7" name="TextBox 17"/>
          <p:cNvSpPr txBox="1"/>
          <p:nvPr/>
        </p:nvSpPr>
        <p:spPr>
          <a:xfrm>
            <a:off x="1143186" y="263128"/>
            <a:ext cx="2556328" cy="723900"/>
          </a:xfrm>
          <a:prstGeom prst="rect">
            <a:avLst/>
          </a:prstGeom>
        </p:spPr>
        <p:txBody>
          <a:bodyPr lIns="0" tIns="0" rIns="0" bIns="0" rtlCol="0" anchor="t">
            <a:spAutoFit/>
          </a:bodyPr>
          <a:lstStyle/>
          <a:p>
            <a:pPr algn="l">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项目测试</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8" name="TextBox 18"/>
          <p:cNvSpPr txBox="1"/>
          <p:nvPr/>
        </p:nvSpPr>
        <p:spPr>
          <a:xfrm>
            <a:off x="3987082" y="435935"/>
            <a:ext cx="2490146" cy="266700"/>
          </a:xfrm>
          <a:prstGeom prst="rect">
            <a:avLst/>
          </a:prstGeom>
        </p:spPr>
        <p:txBody>
          <a:bodyPr lIns="0" tIns="0" rIns="0" bIns="0" rtlCol="0" anchor="t">
            <a:spAutoFit/>
          </a:bodyPr>
          <a:lstStyle/>
          <a:p>
            <a:pPr algn="ctr">
              <a:lnSpc>
                <a:spcPts val="2160"/>
              </a:lnSpc>
            </a:pPr>
            <a:r>
              <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PROJECT TESTING</a:t>
            </a:r>
            <a:endPar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9" name="TextBox 19"/>
          <p:cNvSpPr txBox="1"/>
          <p:nvPr/>
        </p:nvSpPr>
        <p:spPr>
          <a:xfrm>
            <a:off x="10058146" y="1121520"/>
            <a:ext cx="4594991" cy="304800"/>
          </a:xfrm>
          <a:prstGeom prst="rect">
            <a:avLst/>
          </a:prstGeom>
        </p:spPr>
        <p:txBody>
          <a:bodyPr lIns="0" tIns="0" rIns="0" bIns="0" rtlCol="0" anchor="t">
            <a:spAutoFit/>
          </a:bodyPr>
          <a:lstStyle/>
          <a:p>
            <a:pPr algn="ctr">
              <a:lnSpc>
                <a:spcPts val="2420"/>
              </a:lnSpc>
              <a:spcBef>
                <a:spcPct val="0"/>
              </a:spcBef>
            </a:pPr>
            <a:r>
              <a:rPr lang="en-US" sz="2015"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模拟任务集执行时间对比表</a:t>
            </a:r>
            <a:endParaRPr lang="en-US" sz="2015"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20" name="TextBox 20"/>
          <p:cNvSpPr txBox="1"/>
          <p:nvPr/>
        </p:nvSpPr>
        <p:spPr>
          <a:xfrm>
            <a:off x="10668000" y="4686300"/>
            <a:ext cx="4602480" cy="346075"/>
          </a:xfrm>
          <a:prstGeom prst="rect">
            <a:avLst/>
          </a:prstGeom>
        </p:spPr>
        <p:txBody>
          <a:bodyPr wrap="square" lIns="0" tIns="0" rIns="0" bIns="0" rtlCol="0" anchor="t">
            <a:spAutoFit/>
          </a:bodyPr>
          <a:lstStyle/>
          <a:p>
            <a:pPr algn="ctr">
              <a:lnSpc>
                <a:spcPts val="2700"/>
              </a:lnSpc>
              <a:spcBef>
                <a:spcPct val="0"/>
              </a:spcBef>
            </a:pPr>
            <a:r>
              <a:rPr lang="en-US" sz="225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模拟任务集执行时间分布对比图</a:t>
            </a:r>
            <a:endParaRPr lang="en-US" sz="225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21" name="TextBox 21"/>
          <p:cNvSpPr txBox="1"/>
          <p:nvPr/>
        </p:nvSpPr>
        <p:spPr>
          <a:xfrm>
            <a:off x="1295201" y="7276935"/>
            <a:ext cx="5541658" cy="1767801"/>
          </a:xfrm>
          <a:prstGeom prst="rect">
            <a:avLst/>
          </a:prstGeom>
        </p:spPr>
        <p:txBody>
          <a:bodyPr lIns="0" tIns="0" rIns="0" bIns="0" rtlCol="0" anchor="t">
            <a:spAutoFit/>
          </a:bodyPr>
          <a:lstStyle/>
          <a:p>
            <a:pPr algn="ctr">
              <a:lnSpc>
                <a:spcPts val="4730"/>
              </a:lnSpc>
            </a:pPr>
            <a:r>
              <a:rPr lang="en-US" sz="394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YAT-CASched表现</a:t>
            </a:r>
            <a:r>
              <a:rPr lang="en-US" sz="394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出</a:t>
            </a:r>
            <a:endParaRPr lang="en-US" sz="394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algn="ctr">
              <a:lnSpc>
                <a:spcPts val="4730"/>
              </a:lnSpc>
              <a:spcBef>
                <a:spcPct val="0"/>
              </a:spcBef>
            </a:pPr>
            <a:r>
              <a:rPr lang="en-US" sz="394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更加集中</a:t>
            </a:r>
            <a:r>
              <a:rPr lang="en-US" sz="394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的执行时间分布和更低的平均值</a:t>
            </a:r>
            <a:endParaRPr lang="en-US" sz="394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620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16100484" y="264381"/>
            <a:ext cx="1896959" cy="667167"/>
            <a:chOff x="0" y="0"/>
            <a:chExt cx="2529278" cy="889556"/>
          </a:xfrm>
        </p:grpSpPr>
        <p:sp>
          <p:nvSpPr>
            <p:cNvPr id="4" name="Freeform 4"/>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grpSp>
        <p:nvGrpSpPr>
          <p:cNvPr id="5" name="Group 5"/>
          <p:cNvGrpSpPr/>
          <p:nvPr/>
        </p:nvGrpSpPr>
        <p:grpSpPr>
          <a:xfrm rot="0">
            <a:off x="-381000" y="284064"/>
            <a:ext cx="1347105" cy="659502"/>
            <a:chOff x="0" y="0"/>
            <a:chExt cx="1796140" cy="879336"/>
          </a:xfrm>
        </p:grpSpPr>
        <p:sp>
          <p:nvSpPr>
            <p:cNvPr id="6" name="Freeform 6"/>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7" name="Freeform 7"/>
          <p:cNvSpPr/>
          <p:nvPr/>
        </p:nvSpPr>
        <p:spPr>
          <a:xfrm>
            <a:off x="3876596" y="326236"/>
            <a:ext cx="15144750" cy="659311"/>
          </a:xfrm>
          <a:custGeom>
            <a:avLst/>
            <a:gdLst/>
            <a:ahLst/>
            <a:cxnLst/>
            <a:rect l="l" t="t" r="r" b="b"/>
            <a:pathLst>
              <a:path w="15144750" h="659311">
                <a:moveTo>
                  <a:pt x="0" y="0"/>
                </a:moveTo>
                <a:lnTo>
                  <a:pt x="15144750" y="0"/>
                </a:lnTo>
                <a:lnTo>
                  <a:pt x="15144750" y="659312"/>
                </a:lnTo>
                <a:lnTo>
                  <a:pt x="0" y="659312"/>
                </a:lnTo>
                <a:lnTo>
                  <a:pt x="0" y="0"/>
                </a:lnTo>
                <a:close/>
              </a:path>
            </a:pathLst>
          </a:custGeom>
          <a:blipFill>
            <a:blip r:embed="rId3"/>
            <a:stretch>
              <a:fillRect/>
            </a:stretch>
          </a:blipFill>
        </p:spPr>
      </p:sp>
      <p:grpSp>
        <p:nvGrpSpPr>
          <p:cNvPr id="8" name="Group 8"/>
          <p:cNvGrpSpPr>
            <a:grpSpLocks noChangeAspect="1"/>
          </p:cNvGrpSpPr>
          <p:nvPr/>
        </p:nvGrpSpPr>
        <p:grpSpPr>
          <a:xfrm rot="0">
            <a:off x="16100484" y="264381"/>
            <a:ext cx="1896959" cy="667167"/>
            <a:chOff x="0" y="0"/>
            <a:chExt cx="2529278" cy="889556"/>
          </a:xfrm>
        </p:grpSpPr>
        <p:sp>
          <p:nvSpPr>
            <p:cNvPr id="9" name="Freeform 9"/>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grpSp>
        <p:nvGrpSpPr>
          <p:cNvPr id="10" name="Group 10"/>
          <p:cNvGrpSpPr/>
          <p:nvPr/>
        </p:nvGrpSpPr>
        <p:grpSpPr>
          <a:xfrm rot="0">
            <a:off x="-228791" y="1105107"/>
            <a:ext cx="3600450" cy="1122045"/>
            <a:chOff x="-2319020" y="-194733"/>
            <a:chExt cx="4800599" cy="1496060"/>
          </a:xfrm>
        </p:grpSpPr>
        <p:sp>
          <p:nvSpPr>
            <p:cNvPr id="11" name="Freeform 11"/>
            <p:cNvSpPr/>
            <p:nvPr/>
          </p:nvSpPr>
          <p:spPr>
            <a:xfrm>
              <a:off x="-2319020" y="-194733"/>
              <a:ext cx="4800599" cy="1496060"/>
            </a:xfrm>
            <a:custGeom>
              <a:avLst/>
              <a:gdLst/>
              <a:ahLst/>
              <a:cxnLst/>
              <a:rect l="l" t="t" r="r" b="b"/>
              <a:pathLst>
                <a:path w="3724910" h="1496263">
                  <a:moveTo>
                    <a:pt x="0" y="0"/>
                  </a:moveTo>
                  <a:lnTo>
                    <a:pt x="3724910" y="0"/>
                  </a:lnTo>
                  <a:lnTo>
                    <a:pt x="3724910" y="1496263"/>
                  </a:lnTo>
                  <a:lnTo>
                    <a:pt x="0" y="1496263"/>
                  </a:lnTo>
                  <a:close/>
                </a:path>
              </a:pathLst>
            </a:custGeom>
            <a:solidFill>
              <a:srgbClr val="014924"/>
            </a:solidFill>
          </p:spPr>
        </p:sp>
        <p:sp>
          <p:nvSpPr>
            <p:cNvPr id="12" name="TextBox 12"/>
            <p:cNvSpPr txBox="1"/>
            <p:nvPr/>
          </p:nvSpPr>
          <p:spPr>
            <a:xfrm>
              <a:off x="-2217420" y="-194733"/>
              <a:ext cx="4054686" cy="1496060"/>
            </a:xfrm>
            <a:prstGeom prst="rect">
              <a:avLst/>
            </a:prstGeom>
          </p:spPr>
          <p:txBody>
            <a:bodyPr lIns="50800" tIns="50800" rIns="50800" bIns="50800" rtlCol="0" anchor="ctr"/>
            <a:lstStyle/>
            <a:p>
              <a:pPr algn="ctr">
                <a:lnSpc>
                  <a:spcPts val="3240"/>
                </a:lnSpc>
              </a:pPr>
              <a:r>
                <a:rPr lang="en-US" sz="27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优先级调度验证</a:t>
              </a:r>
              <a:endParaRPr lang="en-US" sz="27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sp>
        <p:nvSpPr>
          <p:cNvPr id="13" name="Freeform 13"/>
          <p:cNvSpPr/>
          <p:nvPr/>
        </p:nvSpPr>
        <p:spPr>
          <a:xfrm>
            <a:off x="6174105" y="1250950"/>
            <a:ext cx="12004675" cy="8860790"/>
          </a:xfrm>
          <a:custGeom>
            <a:avLst/>
            <a:gdLst/>
            <a:ahLst/>
            <a:cxnLst/>
            <a:rect l="l" t="t" r="r" b="b"/>
            <a:pathLst>
              <a:path w="11465885" h="7213469">
                <a:moveTo>
                  <a:pt x="0" y="0"/>
                </a:moveTo>
                <a:lnTo>
                  <a:pt x="11465885" y="0"/>
                </a:lnTo>
                <a:lnTo>
                  <a:pt x="11465885" y="7213469"/>
                </a:lnTo>
                <a:lnTo>
                  <a:pt x="0" y="7213469"/>
                </a:lnTo>
                <a:lnTo>
                  <a:pt x="0" y="0"/>
                </a:lnTo>
                <a:close/>
              </a:path>
            </a:pathLst>
          </a:custGeom>
          <a:blipFill>
            <a:blip r:embed="rId4"/>
            <a:stretch>
              <a:fillRect t="-168" b="-168"/>
            </a:stretch>
          </a:blipFill>
        </p:spPr>
      </p:sp>
      <p:sp>
        <p:nvSpPr>
          <p:cNvPr id="14" name="TextBox 14"/>
          <p:cNvSpPr txBox="1"/>
          <p:nvPr/>
        </p:nvSpPr>
        <p:spPr>
          <a:xfrm>
            <a:off x="189999" y="291684"/>
            <a:ext cx="518661" cy="638175"/>
          </a:xfrm>
          <a:prstGeom prst="rect">
            <a:avLst/>
          </a:prstGeom>
        </p:spPr>
        <p:txBody>
          <a:bodyPr lIns="0" tIns="0" rIns="0" bIns="0" rtlCol="0" anchor="t">
            <a:spAutoFit/>
          </a:bodyPr>
          <a:lstStyle/>
          <a:p>
            <a:pPr algn="ctr">
              <a:lnSpc>
                <a:spcPts val="5040"/>
              </a:lnSpc>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5</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5" name="TextBox 15"/>
          <p:cNvSpPr txBox="1"/>
          <p:nvPr/>
        </p:nvSpPr>
        <p:spPr>
          <a:xfrm>
            <a:off x="1143186" y="263128"/>
            <a:ext cx="2556328" cy="723900"/>
          </a:xfrm>
          <a:prstGeom prst="rect">
            <a:avLst/>
          </a:prstGeom>
        </p:spPr>
        <p:txBody>
          <a:bodyPr lIns="0" tIns="0" rIns="0" bIns="0" rtlCol="0" anchor="t">
            <a:spAutoFit/>
          </a:bodyPr>
          <a:lstStyle/>
          <a:p>
            <a:pPr algn="l">
              <a:lnSpc>
                <a:spcPts val="5760"/>
              </a:lnSpc>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项目测试</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6" name="TextBox 16"/>
          <p:cNvSpPr txBox="1"/>
          <p:nvPr/>
        </p:nvSpPr>
        <p:spPr>
          <a:xfrm>
            <a:off x="3987082" y="435935"/>
            <a:ext cx="2490146" cy="266700"/>
          </a:xfrm>
          <a:prstGeom prst="rect">
            <a:avLst/>
          </a:prstGeom>
        </p:spPr>
        <p:txBody>
          <a:bodyPr lIns="0" tIns="0" rIns="0" bIns="0" rtlCol="0" anchor="t">
            <a:spAutoFit/>
          </a:bodyPr>
          <a:lstStyle/>
          <a:p>
            <a:pPr algn="ctr">
              <a:lnSpc>
                <a:spcPts val="2160"/>
              </a:lnSpc>
            </a:pPr>
            <a:r>
              <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PROJECT TESTING</a:t>
            </a:r>
            <a:endPar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7" name="TextBox 17"/>
          <p:cNvSpPr txBox="1"/>
          <p:nvPr/>
        </p:nvSpPr>
        <p:spPr>
          <a:xfrm>
            <a:off x="228600" y="2705100"/>
            <a:ext cx="5514340" cy="6175375"/>
          </a:xfrm>
          <a:prstGeom prst="rect">
            <a:avLst/>
          </a:prstGeom>
        </p:spPr>
        <p:txBody>
          <a:bodyPr wrap="square" lIns="0" tIns="0" rIns="0" bIns="0" rtlCol="0" anchor="t">
            <a:spAutoFit/>
          </a:bodyPr>
          <a:lstStyle/>
          <a:p>
            <a:pPr marL="457200" indent="-457200" algn="l">
              <a:lnSpc>
                <a:spcPct val="170000"/>
              </a:lnSpc>
              <a:spcBef>
                <a:spcPts val="0"/>
              </a:spcBef>
              <a:spcAft>
                <a:spcPts val="0"/>
              </a:spcAft>
              <a:buClrTx/>
              <a:buSzTx/>
              <a:buFont typeface="Arial" panose="020B0604020202020204" pitchFamily="34" charset="0"/>
              <a:buChar char="•"/>
            </a:pPr>
            <a:r>
              <a:rPr lang="en-US" sz="318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如图，通过时间戳分析展示了伪抢占行为的详细情况。</a:t>
            </a:r>
            <a:endParaRPr lang="en-US" sz="318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a:p>
            <a:pPr marL="571500" indent="-571500" algn="l">
              <a:lnSpc>
                <a:spcPct val="170000"/>
              </a:lnSpc>
              <a:spcBef>
                <a:spcPts val="0"/>
              </a:spcBef>
              <a:spcAft>
                <a:spcPts val="0"/>
              </a:spcAft>
              <a:buFont typeface="Arial" panose="020B0604020202020204" pitchFamily="34" charset="0"/>
              <a:buChar char="•"/>
            </a:pPr>
            <a:r>
              <a:rPr lang="en-US" sz="3625" b="1">
                <a:solidFill>
                  <a:srgbClr val="003E18"/>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在关键任务3被创建后，抢占了执行任务12</a:t>
            </a:r>
            <a:r>
              <a:rPr lang="zh-CN" altLang="en-US" sz="3625" b="1">
                <a:solidFill>
                  <a:srgbClr val="003E18"/>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或</a:t>
            </a:r>
            <a:r>
              <a:rPr lang="en-US" altLang="zh-CN" sz="3625" b="1">
                <a:solidFill>
                  <a:srgbClr val="003E18"/>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14</a:t>
            </a:r>
            <a:r>
              <a:rPr lang="en-US" sz="3625" b="1">
                <a:solidFill>
                  <a:srgbClr val="003E18"/>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的核心</a:t>
            </a:r>
            <a:endParaRPr>
              <a:solidFill>
                <a:srgbClr val="003E18"/>
              </a:solidFill>
            </a:endParaRPr>
          </a:p>
          <a:p>
            <a:pPr marL="457200" indent="-457200" algn="l">
              <a:lnSpc>
                <a:spcPct val="170000"/>
              </a:lnSpc>
              <a:spcBef>
                <a:spcPts val="0"/>
              </a:spcBef>
              <a:spcAft>
                <a:spcPts val="0"/>
              </a:spcAft>
              <a:buFont typeface="Arial" panose="020B0604020202020204" pitchFamily="34" charset="0"/>
              <a:buChar char="•"/>
            </a:pPr>
            <a:r>
              <a:rPr lang="en-US" sz="318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从而验证了调度器</a:t>
            </a:r>
            <a:r>
              <a:rPr lang="en-US" sz="318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的关键进程优先运行机制工作正常。</a:t>
            </a:r>
            <a:endParaRPr lang="en-US" sz="318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620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16100484" y="264381"/>
            <a:ext cx="1896959" cy="667167"/>
            <a:chOff x="0" y="0"/>
            <a:chExt cx="2529278" cy="889556"/>
          </a:xfrm>
        </p:grpSpPr>
        <p:sp>
          <p:nvSpPr>
            <p:cNvPr id="4" name="Freeform 4"/>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grpSp>
        <p:nvGrpSpPr>
          <p:cNvPr id="5" name="Group 5"/>
          <p:cNvGrpSpPr/>
          <p:nvPr/>
        </p:nvGrpSpPr>
        <p:grpSpPr>
          <a:xfrm rot="0">
            <a:off x="-381000" y="284064"/>
            <a:ext cx="1347105" cy="659502"/>
            <a:chOff x="0" y="0"/>
            <a:chExt cx="1796140" cy="879336"/>
          </a:xfrm>
        </p:grpSpPr>
        <p:sp>
          <p:nvSpPr>
            <p:cNvPr id="6" name="Freeform 6"/>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7" name="Freeform 7"/>
          <p:cNvSpPr/>
          <p:nvPr/>
        </p:nvSpPr>
        <p:spPr>
          <a:xfrm>
            <a:off x="3886121" y="304646"/>
            <a:ext cx="15144750" cy="659311"/>
          </a:xfrm>
          <a:custGeom>
            <a:avLst/>
            <a:gdLst/>
            <a:ahLst/>
            <a:cxnLst/>
            <a:rect l="l" t="t" r="r" b="b"/>
            <a:pathLst>
              <a:path w="15144750" h="659311">
                <a:moveTo>
                  <a:pt x="0" y="0"/>
                </a:moveTo>
                <a:lnTo>
                  <a:pt x="15144750" y="0"/>
                </a:lnTo>
                <a:lnTo>
                  <a:pt x="15144750" y="659312"/>
                </a:lnTo>
                <a:lnTo>
                  <a:pt x="0" y="659312"/>
                </a:lnTo>
                <a:lnTo>
                  <a:pt x="0" y="0"/>
                </a:lnTo>
                <a:close/>
              </a:path>
            </a:pathLst>
          </a:custGeom>
          <a:blipFill>
            <a:blip r:embed="rId3"/>
            <a:stretch>
              <a:fillRect/>
            </a:stretch>
          </a:blipFill>
        </p:spPr>
      </p:sp>
      <p:grpSp>
        <p:nvGrpSpPr>
          <p:cNvPr id="8" name="Group 8"/>
          <p:cNvGrpSpPr>
            <a:grpSpLocks noChangeAspect="1"/>
          </p:cNvGrpSpPr>
          <p:nvPr/>
        </p:nvGrpSpPr>
        <p:grpSpPr>
          <a:xfrm rot="0">
            <a:off x="16100484" y="264381"/>
            <a:ext cx="1896959" cy="667167"/>
            <a:chOff x="0" y="0"/>
            <a:chExt cx="2529278" cy="889556"/>
          </a:xfrm>
        </p:grpSpPr>
        <p:sp>
          <p:nvSpPr>
            <p:cNvPr id="9" name="Freeform 9"/>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grpSp>
        <p:nvGrpSpPr>
          <p:cNvPr id="10" name="Group 10"/>
          <p:cNvGrpSpPr/>
          <p:nvPr/>
        </p:nvGrpSpPr>
        <p:grpSpPr>
          <a:xfrm rot="0">
            <a:off x="-1295402" y="1158875"/>
            <a:ext cx="7759065" cy="1219834"/>
            <a:chOff x="-877705" y="0"/>
            <a:chExt cx="5356012" cy="1626446"/>
          </a:xfrm>
        </p:grpSpPr>
        <p:sp>
          <p:nvSpPr>
            <p:cNvPr id="11" name="Freeform 11"/>
            <p:cNvSpPr/>
            <p:nvPr/>
          </p:nvSpPr>
          <p:spPr>
            <a:xfrm>
              <a:off x="0" y="0"/>
              <a:ext cx="3724910" cy="1496263"/>
            </a:xfrm>
            <a:custGeom>
              <a:avLst/>
              <a:gdLst/>
              <a:ahLst/>
              <a:cxnLst/>
              <a:rect l="l" t="t" r="r" b="b"/>
              <a:pathLst>
                <a:path w="3724910" h="1496263">
                  <a:moveTo>
                    <a:pt x="0" y="0"/>
                  </a:moveTo>
                  <a:lnTo>
                    <a:pt x="3724910" y="0"/>
                  </a:lnTo>
                  <a:lnTo>
                    <a:pt x="3724910" y="1496263"/>
                  </a:lnTo>
                  <a:lnTo>
                    <a:pt x="0" y="1496263"/>
                  </a:lnTo>
                  <a:close/>
                </a:path>
              </a:pathLst>
            </a:custGeom>
            <a:solidFill>
              <a:srgbClr val="014924"/>
            </a:solidFill>
          </p:spPr>
        </p:sp>
        <p:sp>
          <p:nvSpPr>
            <p:cNvPr id="12" name="TextBox 12"/>
            <p:cNvSpPr txBox="1"/>
            <p:nvPr/>
          </p:nvSpPr>
          <p:spPr>
            <a:xfrm>
              <a:off x="-877705" y="130386"/>
              <a:ext cx="5356012" cy="1496060"/>
            </a:xfrm>
            <a:prstGeom prst="rect">
              <a:avLst/>
            </a:prstGeom>
          </p:spPr>
          <p:txBody>
            <a:bodyPr lIns="50800" tIns="50800" rIns="50800" bIns="50800" rtlCol="0" anchor="ctr"/>
            <a:lstStyle/>
            <a:p>
              <a:pPr indent="0" algn="ctr">
                <a:lnSpc>
                  <a:spcPts val="3240"/>
                </a:lnSpc>
                <a:buNone/>
              </a:pPr>
              <a:r>
                <a:rPr lang="en-US" sz="36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基准测试集</a:t>
              </a:r>
              <a:r>
                <a:rPr lang="zh-CN" altLang="en-US" sz="36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总时间对比</a:t>
              </a:r>
              <a:endParaRPr lang="zh-CN" altLang="en-US" sz="36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sp>
        <p:nvSpPr>
          <p:cNvPr id="14" name="Freeform 14"/>
          <p:cNvSpPr/>
          <p:nvPr/>
        </p:nvSpPr>
        <p:spPr>
          <a:xfrm>
            <a:off x="685800" y="2552700"/>
            <a:ext cx="9293860" cy="2452370"/>
          </a:xfrm>
          <a:custGeom>
            <a:avLst/>
            <a:gdLst/>
            <a:ahLst/>
            <a:cxnLst/>
            <a:rect l="l" t="t" r="r" b="b"/>
            <a:pathLst>
              <a:path w="9217665" h="2105353">
                <a:moveTo>
                  <a:pt x="0" y="0"/>
                </a:moveTo>
                <a:lnTo>
                  <a:pt x="9217665" y="0"/>
                </a:lnTo>
                <a:lnTo>
                  <a:pt x="9217665" y="2105352"/>
                </a:lnTo>
                <a:lnTo>
                  <a:pt x="0" y="2105352"/>
                </a:lnTo>
                <a:lnTo>
                  <a:pt x="0" y="0"/>
                </a:lnTo>
                <a:close/>
              </a:path>
            </a:pathLst>
          </a:custGeom>
          <a:blipFill>
            <a:blip r:embed="rId4"/>
            <a:stretch>
              <a:fillRect/>
            </a:stretch>
          </a:blipFill>
        </p:spPr>
      </p:sp>
      <p:sp>
        <p:nvSpPr>
          <p:cNvPr id="15" name="TextBox 15"/>
          <p:cNvSpPr txBox="1"/>
          <p:nvPr/>
        </p:nvSpPr>
        <p:spPr>
          <a:xfrm>
            <a:off x="189999" y="291684"/>
            <a:ext cx="518661" cy="645795"/>
          </a:xfrm>
          <a:prstGeom prst="rect">
            <a:avLst/>
          </a:prstGeom>
        </p:spPr>
        <p:txBody>
          <a:bodyPr lIns="0" tIns="0" rIns="0" bIns="0" rtlCol="0" anchor="t">
            <a:spAutoFit/>
          </a:bodyPr>
          <a:lstStyle/>
          <a:p>
            <a:pPr indent="0" algn="ctr">
              <a:lnSpc>
                <a:spcPts val="5040"/>
              </a:lnSpc>
              <a:buNone/>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5</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6" name="TextBox 16"/>
          <p:cNvSpPr txBox="1"/>
          <p:nvPr/>
        </p:nvSpPr>
        <p:spPr>
          <a:xfrm>
            <a:off x="1143000" y="262890"/>
            <a:ext cx="2527300" cy="820420"/>
          </a:xfrm>
          <a:prstGeom prst="rect">
            <a:avLst/>
          </a:prstGeom>
        </p:spPr>
        <p:txBody>
          <a:bodyPr lIns="0" tIns="0" rIns="0" bIns="0" rtlCol="0" anchor="t">
            <a:noAutofit/>
          </a:bodyPr>
          <a:lstStyle/>
          <a:p>
            <a:pPr indent="0" algn="l">
              <a:lnSpc>
                <a:spcPts val="5760"/>
              </a:lnSpc>
              <a:buNone/>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项目测试</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7" name="TextBox 17"/>
          <p:cNvSpPr txBox="1"/>
          <p:nvPr/>
        </p:nvSpPr>
        <p:spPr>
          <a:xfrm>
            <a:off x="3987082" y="435935"/>
            <a:ext cx="2490146" cy="276860"/>
          </a:xfrm>
          <a:prstGeom prst="rect">
            <a:avLst/>
          </a:prstGeom>
        </p:spPr>
        <p:txBody>
          <a:bodyPr lIns="0" tIns="0" rIns="0" bIns="0" rtlCol="0" anchor="t">
            <a:spAutoFit/>
          </a:bodyPr>
          <a:lstStyle/>
          <a:p>
            <a:pPr indent="0" algn="ctr">
              <a:lnSpc>
                <a:spcPts val="2160"/>
              </a:lnSpc>
              <a:buNone/>
            </a:pPr>
            <a:r>
              <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PROJECT TESTING</a:t>
            </a:r>
            <a:endPar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8" name="TextBox 18"/>
          <p:cNvSpPr txBox="1"/>
          <p:nvPr/>
        </p:nvSpPr>
        <p:spPr>
          <a:xfrm>
            <a:off x="708660" y="5178425"/>
            <a:ext cx="8025765" cy="4102735"/>
          </a:xfrm>
          <a:prstGeom prst="rect">
            <a:avLst/>
          </a:prstGeom>
        </p:spPr>
        <p:txBody>
          <a:bodyPr wrap="square" lIns="0" tIns="0" rIns="0" bIns="0" rtlCol="0" anchor="t">
            <a:noAutofit/>
          </a:bodyPr>
          <a:lstStyle/>
          <a:p>
            <a:pPr marL="571500" lvl="1" indent="-571500" algn="l">
              <a:lnSpc>
                <a:spcPts val="4270"/>
              </a:lnSpc>
              <a:buFont typeface="Arial" panose="020B0604020202020204" pitchFamily="34" charset="0"/>
              <a:buChar char="•"/>
            </a:pPr>
            <a:r>
              <a:rPr lang="en-US" sz="356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真实任务集缓存优化效果：基于</a:t>
            </a:r>
            <a:r>
              <a:rPr lang="en-US" sz="3560">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TacleBench</a:t>
            </a:r>
            <a:r>
              <a:rPr lang="en-US" sz="356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 基准测试的结果显著，</a:t>
            </a:r>
            <a:r>
              <a:rPr lang="en-US" sz="3560">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YAT-CASched 实现了 </a:t>
            </a:r>
            <a:r>
              <a:rPr lang="en-US" sz="3560" b="1">
                <a:solidFill>
                  <a:srgbClr val="FF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9.77%</a:t>
            </a:r>
            <a:r>
              <a:rPr lang="en-US" sz="3560">
                <a:solidFill>
                  <a:srgbClr val="FF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 </a:t>
            </a:r>
            <a:r>
              <a:rPr lang="en-US" sz="3560">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的整体执行时间优化。</a:t>
            </a:r>
            <a:endParaRPr lang="en-US" sz="3560">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a:p>
            <a:pPr marL="571500" lvl="1" indent="-571500" algn="l">
              <a:lnSpc>
                <a:spcPts val="4270"/>
              </a:lnSpc>
              <a:buFont typeface="Arial" panose="020B0604020202020204" pitchFamily="34" charset="0"/>
              <a:buChar char="•"/>
            </a:pPr>
            <a:r>
              <a:rPr lang="en-US" sz="3560">
                <a:solidFill>
                  <a:srgbClr val="000000"/>
                </a:solidFill>
                <a:latin typeface="思源黑体" panose="020B0500000000000000" charset="-122"/>
                <a:ea typeface="思源黑体" panose="020B0500000000000000" charset="-122"/>
                <a:cs typeface="思源黑体" panose="020B0500000000000000" charset="-122"/>
                <a:sym typeface="思源黑体" panose="020B0500000000000000" charset="-122"/>
              </a:rPr>
              <a:t>这一结果直接验证了缓存感知调度算法在真实计算密集型任务中的核心价值。</a:t>
            </a:r>
            <a:endParaRPr lang="en-US" sz="3560">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pic>
        <p:nvPicPr>
          <p:cNvPr id="22" name="图片 21"/>
          <p:cNvPicPr>
            <a:picLocks noChangeAspect="1"/>
          </p:cNvPicPr>
          <p:nvPr/>
        </p:nvPicPr>
        <p:blipFill>
          <a:blip r:embed="rId5"/>
          <a:srcRect t="21248" r="7684"/>
          <a:stretch>
            <a:fillRect/>
          </a:stretch>
        </p:blipFill>
        <p:spPr>
          <a:xfrm>
            <a:off x="10515600" y="1333500"/>
            <a:ext cx="6993255" cy="3702685"/>
          </a:xfrm>
          <a:prstGeom prst="rect">
            <a:avLst/>
          </a:prstGeom>
        </p:spPr>
      </p:pic>
      <p:pic>
        <p:nvPicPr>
          <p:cNvPr id="23" name="图片 22"/>
          <p:cNvPicPr>
            <a:picLocks noChangeAspect="1"/>
          </p:cNvPicPr>
          <p:nvPr/>
        </p:nvPicPr>
        <p:blipFill>
          <a:blip r:embed="rId6"/>
          <a:srcRect t="23191"/>
          <a:stretch>
            <a:fillRect/>
          </a:stretch>
        </p:blipFill>
        <p:spPr>
          <a:xfrm>
            <a:off x="10439400" y="5299710"/>
            <a:ext cx="6904990" cy="413004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4130" y="1143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16100484" y="264381"/>
            <a:ext cx="1896959" cy="667167"/>
            <a:chOff x="0" y="0"/>
            <a:chExt cx="2529278" cy="889556"/>
          </a:xfrm>
        </p:grpSpPr>
        <p:sp>
          <p:nvSpPr>
            <p:cNvPr id="4" name="Freeform 4"/>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grpSp>
        <p:nvGrpSpPr>
          <p:cNvPr id="5" name="Group 5"/>
          <p:cNvGrpSpPr/>
          <p:nvPr/>
        </p:nvGrpSpPr>
        <p:grpSpPr>
          <a:xfrm rot="0">
            <a:off x="-381000" y="284064"/>
            <a:ext cx="1347105" cy="659502"/>
            <a:chOff x="0" y="0"/>
            <a:chExt cx="1796140" cy="879336"/>
          </a:xfrm>
        </p:grpSpPr>
        <p:sp>
          <p:nvSpPr>
            <p:cNvPr id="6" name="Freeform 6"/>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7" name="Freeform 7"/>
          <p:cNvSpPr/>
          <p:nvPr/>
        </p:nvSpPr>
        <p:spPr>
          <a:xfrm>
            <a:off x="3886121" y="304646"/>
            <a:ext cx="15144750" cy="659311"/>
          </a:xfrm>
          <a:custGeom>
            <a:avLst/>
            <a:gdLst/>
            <a:ahLst/>
            <a:cxnLst/>
            <a:rect l="l" t="t" r="r" b="b"/>
            <a:pathLst>
              <a:path w="15144750" h="659311">
                <a:moveTo>
                  <a:pt x="0" y="0"/>
                </a:moveTo>
                <a:lnTo>
                  <a:pt x="15144750" y="0"/>
                </a:lnTo>
                <a:lnTo>
                  <a:pt x="15144750" y="659312"/>
                </a:lnTo>
                <a:lnTo>
                  <a:pt x="0" y="6593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a:grpSpLocks noChangeAspect="1"/>
          </p:cNvGrpSpPr>
          <p:nvPr/>
        </p:nvGrpSpPr>
        <p:grpSpPr>
          <a:xfrm rot="0">
            <a:off x="16100484" y="264381"/>
            <a:ext cx="1896959" cy="667167"/>
            <a:chOff x="0" y="0"/>
            <a:chExt cx="2529278" cy="889556"/>
          </a:xfrm>
        </p:grpSpPr>
        <p:sp>
          <p:nvSpPr>
            <p:cNvPr id="9" name="Freeform 9"/>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grpSp>
        <p:nvGrpSpPr>
          <p:cNvPr id="10" name="Group 10"/>
          <p:cNvGrpSpPr/>
          <p:nvPr/>
        </p:nvGrpSpPr>
        <p:grpSpPr>
          <a:xfrm rot="0">
            <a:off x="-1295402" y="1158875"/>
            <a:ext cx="7759065" cy="1219834"/>
            <a:chOff x="-877705" y="0"/>
            <a:chExt cx="5356012" cy="1626446"/>
          </a:xfrm>
        </p:grpSpPr>
        <p:sp>
          <p:nvSpPr>
            <p:cNvPr id="11" name="Freeform 11"/>
            <p:cNvSpPr/>
            <p:nvPr/>
          </p:nvSpPr>
          <p:spPr>
            <a:xfrm>
              <a:off x="0" y="0"/>
              <a:ext cx="3724910" cy="1496263"/>
            </a:xfrm>
            <a:custGeom>
              <a:avLst/>
              <a:gdLst/>
              <a:ahLst/>
              <a:cxnLst/>
              <a:rect l="l" t="t" r="r" b="b"/>
              <a:pathLst>
                <a:path w="3724910" h="1496263">
                  <a:moveTo>
                    <a:pt x="0" y="0"/>
                  </a:moveTo>
                  <a:lnTo>
                    <a:pt x="3724910" y="0"/>
                  </a:lnTo>
                  <a:lnTo>
                    <a:pt x="3724910" y="1496263"/>
                  </a:lnTo>
                  <a:lnTo>
                    <a:pt x="0" y="1496263"/>
                  </a:lnTo>
                  <a:close/>
                </a:path>
              </a:pathLst>
            </a:custGeom>
            <a:solidFill>
              <a:srgbClr val="014924"/>
            </a:solidFill>
          </p:spPr>
        </p:sp>
        <p:sp>
          <p:nvSpPr>
            <p:cNvPr id="12" name="TextBox 12"/>
            <p:cNvSpPr txBox="1"/>
            <p:nvPr/>
          </p:nvSpPr>
          <p:spPr>
            <a:xfrm>
              <a:off x="-877705" y="130386"/>
              <a:ext cx="5356012" cy="1496060"/>
            </a:xfrm>
            <a:prstGeom prst="rect">
              <a:avLst/>
            </a:prstGeom>
          </p:spPr>
          <p:txBody>
            <a:bodyPr lIns="50800" tIns="50800" rIns="50800" bIns="50800" rtlCol="0" anchor="ctr"/>
            <a:lstStyle/>
            <a:p>
              <a:pPr indent="0" algn="ctr">
                <a:lnSpc>
                  <a:spcPts val="3240"/>
                </a:lnSpc>
                <a:buNone/>
              </a:pPr>
              <a:r>
                <a:rPr lang="en-US" sz="36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基准测试集</a:t>
              </a:r>
              <a:r>
                <a:rPr lang="zh-CN" altLang="en-US" sz="36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调度开销对比</a:t>
              </a:r>
              <a:endParaRPr lang="zh-CN" altLang="en-US" sz="36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sp>
        <p:nvSpPr>
          <p:cNvPr id="15" name="TextBox 15"/>
          <p:cNvSpPr txBox="1"/>
          <p:nvPr/>
        </p:nvSpPr>
        <p:spPr>
          <a:xfrm>
            <a:off x="189999" y="291684"/>
            <a:ext cx="518661" cy="645795"/>
          </a:xfrm>
          <a:prstGeom prst="rect">
            <a:avLst/>
          </a:prstGeom>
        </p:spPr>
        <p:txBody>
          <a:bodyPr lIns="0" tIns="0" rIns="0" bIns="0" rtlCol="0" anchor="t">
            <a:spAutoFit/>
          </a:bodyPr>
          <a:lstStyle/>
          <a:p>
            <a:pPr indent="0" algn="ctr">
              <a:lnSpc>
                <a:spcPts val="5040"/>
              </a:lnSpc>
              <a:buNone/>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5</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6" name="TextBox 16"/>
          <p:cNvSpPr txBox="1"/>
          <p:nvPr/>
        </p:nvSpPr>
        <p:spPr>
          <a:xfrm>
            <a:off x="1143000" y="262890"/>
            <a:ext cx="2527300" cy="820420"/>
          </a:xfrm>
          <a:prstGeom prst="rect">
            <a:avLst/>
          </a:prstGeom>
        </p:spPr>
        <p:txBody>
          <a:bodyPr lIns="0" tIns="0" rIns="0" bIns="0" rtlCol="0" anchor="t">
            <a:noAutofit/>
          </a:bodyPr>
          <a:lstStyle/>
          <a:p>
            <a:pPr indent="0" algn="l">
              <a:lnSpc>
                <a:spcPts val="5760"/>
              </a:lnSpc>
              <a:buNone/>
            </a:pPr>
            <a:r>
              <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项目测试</a:t>
            </a:r>
            <a:endParaRPr 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7" name="TextBox 17"/>
          <p:cNvSpPr txBox="1"/>
          <p:nvPr/>
        </p:nvSpPr>
        <p:spPr>
          <a:xfrm>
            <a:off x="3987082" y="435935"/>
            <a:ext cx="2490146" cy="276860"/>
          </a:xfrm>
          <a:prstGeom prst="rect">
            <a:avLst/>
          </a:prstGeom>
        </p:spPr>
        <p:txBody>
          <a:bodyPr lIns="0" tIns="0" rIns="0" bIns="0" rtlCol="0" anchor="t">
            <a:spAutoFit/>
          </a:bodyPr>
          <a:lstStyle/>
          <a:p>
            <a:pPr indent="0" algn="ctr">
              <a:lnSpc>
                <a:spcPts val="2160"/>
              </a:lnSpc>
              <a:buNone/>
            </a:pPr>
            <a:r>
              <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PROJECT TESTING</a:t>
            </a:r>
            <a:endPar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8" name="TextBox 18"/>
          <p:cNvSpPr txBox="1"/>
          <p:nvPr/>
        </p:nvSpPr>
        <p:spPr>
          <a:xfrm>
            <a:off x="708660" y="5448300"/>
            <a:ext cx="8025765" cy="547370"/>
          </a:xfrm>
          <a:prstGeom prst="rect">
            <a:avLst/>
          </a:prstGeom>
        </p:spPr>
        <p:txBody>
          <a:bodyPr wrap="square" lIns="0" tIns="0" rIns="0" bIns="0" rtlCol="0" anchor="t">
            <a:spAutoFit/>
          </a:bodyPr>
          <a:lstStyle/>
          <a:p>
            <a:pPr marL="571500" lvl="1" indent="-571500" algn="l">
              <a:lnSpc>
                <a:spcPts val="4270"/>
              </a:lnSpc>
              <a:buFont typeface="Arial" panose="020B0604020202020204" pitchFamily="34" charset="0"/>
              <a:buChar char="•"/>
            </a:pPr>
            <a:endParaRPr lang="en-US" sz="3560" b="1">
              <a:solidFill>
                <a:srgbClr val="000000"/>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pic>
        <p:nvPicPr>
          <p:cNvPr id="14" name="图片 13" descr="1_average_execution_time"/>
          <p:cNvPicPr>
            <a:picLocks noChangeAspect="1"/>
          </p:cNvPicPr>
          <p:nvPr/>
        </p:nvPicPr>
        <p:blipFill>
          <a:blip r:embed="rId5"/>
          <a:stretch>
            <a:fillRect/>
          </a:stretch>
        </p:blipFill>
        <p:spPr>
          <a:xfrm>
            <a:off x="1371600" y="4152900"/>
            <a:ext cx="6760845" cy="4765675"/>
          </a:xfrm>
          <a:prstGeom prst="rect">
            <a:avLst/>
          </a:prstGeom>
        </p:spPr>
      </p:pic>
      <p:pic>
        <p:nvPicPr>
          <p:cNvPr id="19" name="图片 18" descr="2_call_frequency"/>
          <p:cNvPicPr>
            <a:picLocks noChangeAspect="1"/>
          </p:cNvPicPr>
          <p:nvPr/>
        </p:nvPicPr>
        <p:blipFill>
          <a:blip r:embed="rId6"/>
          <a:stretch>
            <a:fillRect/>
          </a:stretch>
        </p:blipFill>
        <p:spPr>
          <a:xfrm>
            <a:off x="9222740" y="4229100"/>
            <a:ext cx="6515100" cy="4702175"/>
          </a:xfrm>
          <a:prstGeom prst="rect">
            <a:avLst/>
          </a:prstGeom>
        </p:spPr>
      </p:pic>
      <p:pic>
        <p:nvPicPr>
          <p:cNvPr id="20" name="图片 19" descr="1755433142347"/>
          <p:cNvPicPr>
            <a:picLocks noChangeAspect="1"/>
          </p:cNvPicPr>
          <p:nvPr/>
        </p:nvPicPr>
        <p:blipFill>
          <a:blip r:embed="rId7"/>
          <a:stretch>
            <a:fillRect/>
          </a:stretch>
        </p:blipFill>
        <p:spPr>
          <a:xfrm>
            <a:off x="7467600" y="1256665"/>
            <a:ext cx="9570720" cy="2938145"/>
          </a:xfrm>
          <a:prstGeom prst="rect">
            <a:avLst/>
          </a:prstGeom>
        </p:spPr>
      </p:pic>
      <p:sp>
        <p:nvSpPr>
          <p:cNvPr id="21" name="文本框 20"/>
          <p:cNvSpPr txBox="1"/>
          <p:nvPr/>
        </p:nvSpPr>
        <p:spPr>
          <a:xfrm>
            <a:off x="777240" y="2400300"/>
            <a:ext cx="6557010" cy="1150620"/>
          </a:xfrm>
          <a:prstGeom prst="rect">
            <a:avLst/>
          </a:prstGeom>
          <a:noFill/>
        </p:spPr>
        <p:txBody>
          <a:bodyPr wrap="square" rtlCol="0">
            <a:noAutofit/>
          </a:bodyPr>
          <a:p>
            <a:pPr marL="457200" indent="-457200">
              <a:lnSpc>
                <a:spcPct val="110000"/>
              </a:lnSpc>
              <a:buFont typeface="Arial" panose="020B0604020202020204" pitchFamily="34" charset="0"/>
              <a:buChar char="•"/>
            </a:pPr>
            <a:r>
              <a:rPr lang="en-US" altLang="zh-CN" sz="3200" b="1"/>
              <a:t>Yat-CAShed</a:t>
            </a:r>
            <a:r>
              <a:rPr lang="zh-CN" altLang="en-US" sz="3200" b="1"/>
              <a:t>调度开销小于</a:t>
            </a:r>
            <a:r>
              <a:rPr lang="en-US" altLang="zh-CN" sz="3200" b="1"/>
              <a:t> CFS</a:t>
            </a:r>
            <a:r>
              <a:rPr lang="zh-CN" altLang="en-US" sz="3200" b="1"/>
              <a:t>，总执行时间减小</a:t>
            </a:r>
            <a:r>
              <a:rPr lang="en-US" altLang="zh-CN" sz="3200" b="1"/>
              <a:t> </a:t>
            </a:r>
            <a:r>
              <a:rPr lang="en-US" altLang="zh-CN" sz="3200" b="1">
                <a:solidFill>
                  <a:srgbClr val="FF0000"/>
                </a:solidFill>
              </a:rPr>
              <a:t>14.9%</a:t>
            </a:r>
            <a:r>
              <a:rPr lang="zh-CN" altLang="en-US" sz="3200" b="1"/>
              <a:t>，减小验证了调度器轻量化的实现。</a:t>
            </a:r>
            <a:endParaRPr lang="zh-CN" altLang="en-US" sz="3200" b="1"/>
          </a:p>
        </p:txBody>
      </p:sp>
      <p:sp>
        <p:nvSpPr>
          <p:cNvPr id="22" name="文本框 21"/>
          <p:cNvSpPr txBox="1"/>
          <p:nvPr/>
        </p:nvSpPr>
        <p:spPr>
          <a:xfrm>
            <a:off x="2971800" y="9182100"/>
            <a:ext cx="3622040" cy="460375"/>
          </a:xfrm>
          <a:prstGeom prst="rect">
            <a:avLst/>
          </a:prstGeom>
          <a:noFill/>
        </p:spPr>
        <p:txBody>
          <a:bodyPr wrap="square" rtlCol="0">
            <a:spAutoFit/>
          </a:bodyPr>
          <a:p>
            <a:r>
              <a:rPr lang="zh-CN" altLang="en-US" sz="2400" b="1"/>
              <a:t>函数平均执行时间对比图</a:t>
            </a:r>
            <a:endParaRPr lang="zh-CN" altLang="en-US" sz="2400" b="1"/>
          </a:p>
        </p:txBody>
      </p:sp>
      <p:sp>
        <p:nvSpPr>
          <p:cNvPr id="23" name="文本框 22"/>
          <p:cNvSpPr txBox="1"/>
          <p:nvPr/>
        </p:nvSpPr>
        <p:spPr>
          <a:xfrm>
            <a:off x="11049000" y="9182100"/>
            <a:ext cx="3702685" cy="460375"/>
          </a:xfrm>
          <a:prstGeom prst="rect">
            <a:avLst/>
          </a:prstGeom>
          <a:noFill/>
        </p:spPr>
        <p:txBody>
          <a:bodyPr wrap="square" rtlCol="0">
            <a:spAutoFit/>
          </a:bodyPr>
          <a:p>
            <a:r>
              <a:rPr lang="zh-CN" altLang="en-US" sz="2400" b="1"/>
              <a:t>函数平均执行次数对比图</a:t>
            </a:r>
            <a:endParaRPr lang="zh-CN" altLang="en-US" sz="2400" b="1"/>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9481764" y="4029974"/>
            <a:ext cx="8806236" cy="2313674"/>
            <a:chOff x="0" y="0"/>
            <a:chExt cx="11741648" cy="3084898"/>
          </a:xfrm>
        </p:grpSpPr>
        <p:sp>
          <p:nvSpPr>
            <p:cNvPr id="4" name="Freeform 4"/>
            <p:cNvSpPr/>
            <p:nvPr/>
          </p:nvSpPr>
          <p:spPr>
            <a:xfrm>
              <a:off x="0" y="0"/>
              <a:ext cx="11741658" cy="3084957"/>
            </a:xfrm>
            <a:custGeom>
              <a:avLst/>
              <a:gdLst/>
              <a:ahLst/>
              <a:cxnLst/>
              <a:rect l="l" t="t" r="r" b="b"/>
              <a:pathLst>
                <a:path w="11741658" h="3084957">
                  <a:moveTo>
                    <a:pt x="0" y="0"/>
                  </a:moveTo>
                  <a:lnTo>
                    <a:pt x="11741658" y="0"/>
                  </a:lnTo>
                  <a:lnTo>
                    <a:pt x="11741658" y="3084957"/>
                  </a:lnTo>
                  <a:lnTo>
                    <a:pt x="0" y="3084957"/>
                  </a:lnTo>
                  <a:lnTo>
                    <a:pt x="0" y="0"/>
                  </a:lnTo>
                  <a:close/>
                </a:path>
              </a:pathLst>
            </a:custGeom>
            <a:blipFill>
              <a:blip r:embed="rId2"/>
              <a:stretch>
                <a:fillRect t="-74003" r="-17268" b="-160884"/>
              </a:stretch>
            </a:blipFill>
          </p:spPr>
        </p:sp>
      </p:grpSp>
      <p:grpSp>
        <p:nvGrpSpPr>
          <p:cNvPr id="5" name="Group 5"/>
          <p:cNvGrpSpPr/>
          <p:nvPr/>
        </p:nvGrpSpPr>
        <p:grpSpPr>
          <a:xfrm rot="0">
            <a:off x="4286250" y="4029075"/>
            <a:ext cx="14001750" cy="2314573"/>
            <a:chOff x="0" y="0"/>
            <a:chExt cx="18669000" cy="3086098"/>
          </a:xfrm>
        </p:grpSpPr>
        <p:sp>
          <p:nvSpPr>
            <p:cNvPr id="6" name="Freeform 6"/>
            <p:cNvSpPr/>
            <p:nvPr/>
          </p:nvSpPr>
          <p:spPr>
            <a:xfrm>
              <a:off x="0" y="0"/>
              <a:ext cx="18669000" cy="3086100"/>
            </a:xfrm>
            <a:custGeom>
              <a:avLst/>
              <a:gdLst/>
              <a:ahLst/>
              <a:cxnLst/>
              <a:rect l="l" t="t" r="r" b="b"/>
              <a:pathLst>
                <a:path w="18669000" h="3086100">
                  <a:moveTo>
                    <a:pt x="0" y="0"/>
                  </a:moveTo>
                  <a:lnTo>
                    <a:pt x="18669000" y="0"/>
                  </a:lnTo>
                  <a:lnTo>
                    <a:pt x="18669000" y="3086100"/>
                  </a:lnTo>
                  <a:lnTo>
                    <a:pt x="0" y="3086100"/>
                  </a:lnTo>
                  <a:close/>
                </a:path>
              </a:pathLst>
            </a:custGeom>
            <a:gradFill rotWithShape="1">
              <a:gsLst>
                <a:gs pos="0">
                  <a:srgbClr val="014924">
                    <a:alpha val="100000"/>
                  </a:srgbClr>
                </a:gs>
                <a:gs pos="35000">
                  <a:srgbClr val="014924">
                    <a:alpha val="100000"/>
                  </a:srgbClr>
                </a:gs>
                <a:gs pos="59000">
                  <a:srgbClr val="014924">
                    <a:alpha val="95000"/>
                  </a:srgbClr>
                </a:gs>
                <a:gs pos="77000">
                  <a:srgbClr val="014924">
                    <a:alpha val="70000"/>
                  </a:srgbClr>
                </a:gs>
                <a:gs pos="100000">
                  <a:srgbClr val="014924">
                    <a:alpha val="60000"/>
                  </a:srgbClr>
                </a:gs>
              </a:gsLst>
              <a:lin ang="0"/>
            </a:gradFill>
          </p:spPr>
        </p:sp>
      </p:grpSp>
      <p:grpSp>
        <p:nvGrpSpPr>
          <p:cNvPr id="7" name="Group 7"/>
          <p:cNvGrpSpPr/>
          <p:nvPr/>
        </p:nvGrpSpPr>
        <p:grpSpPr>
          <a:xfrm rot="0">
            <a:off x="1685925" y="4029075"/>
            <a:ext cx="2314575" cy="2314575"/>
            <a:chOff x="0" y="0"/>
            <a:chExt cx="3086100" cy="3086100"/>
          </a:xfrm>
        </p:grpSpPr>
        <p:sp>
          <p:nvSpPr>
            <p:cNvPr id="8" name="Freeform 8"/>
            <p:cNvSpPr/>
            <p:nvPr/>
          </p:nvSpPr>
          <p:spPr>
            <a:xfrm>
              <a:off x="0" y="0"/>
              <a:ext cx="3086100" cy="3086100"/>
            </a:xfrm>
            <a:custGeom>
              <a:avLst/>
              <a:gdLst/>
              <a:ahLst/>
              <a:cxnLst/>
              <a:rect l="l" t="t" r="r" b="b"/>
              <a:pathLst>
                <a:path w="3086100" h="3086100">
                  <a:moveTo>
                    <a:pt x="0" y="0"/>
                  </a:moveTo>
                  <a:lnTo>
                    <a:pt x="3086100" y="0"/>
                  </a:lnTo>
                  <a:lnTo>
                    <a:pt x="3086100" y="3086100"/>
                  </a:lnTo>
                  <a:lnTo>
                    <a:pt x="0" y="3086100"/>
                  </a:lnTo>
                  <a:close/>
                </a:path>
              </a:pathLst>
            </a:custGeom>
            <a:solidFill>
              <a:srgbClr val="549E39"/>
            </a:solidFill>
          </p:spPr>
        </p:sp>
      </p:grpSp>
      <p:sp>
        <p:nvSpPr>
          <p:cNvPr id="9" name="TextBox 9"/>
          <p:cNvSpPr txBox="1"/>
          <p:nvPr/>
        </p:nvSpPr>
        <p:spPr>
          <a:xfrm>
            <a:off x="2202368" y="4433471"/>
            <a:ext cx="1281690" cy="1523365"/>
          </a:xfrm>
          <a:prstGeom prst="rect">
            <a:avLst/>
          </a:prstGeom>
        </p:spPr>
        <p:txBody>
          <a:bodyPr lIns="0" tIns="0" rIns="0" bIns="0" rtlCol="0" anchor="t">
            <a:spAutoFit/>
          </a:bodyPr>
          <a:lstStyle/>
          <a:p>
            <a:pPr algn="ctr">
              <a:lnSpc>
                <a:spcPts val="11880"/>
              </a:lnSpc>
            </a:pPr>
            <a:r>
              <a:rPr lang="en-US" sz="99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6</a:t>
            </a:r>
            <a:endParaRPr lang="en-US" sz="99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0" name="TextBox 10"/>
          <p:cNvSpPr txBox="1"/>
          <p:nvPr/>
        </p:nvSpPr>
        <p:spPr>
          <a:xfrm>
            <a:off x="4516938" y="4519632"/>
            <a:ext cx="4710762" cy="1107440"/>
          </a:xfrm>
          <a:prstGeom prst="rect">
            <a:avLst/>
          </a:prstGeom>
        </p:spPr>
        <p:txBody>
          <a:bodyPr lIns="0" tIns="0" rIns="0" bIns="0" rtlCol="0" anchor="t">
            <a:spAutoFit/>
          </a:bodyPr>
          <a:lstStyle/>
          <a:p>
            <a:pPr algn="l">
              <a:lnSpc>
                <a:spcPts val="8640"/>
              </a:lnSpc>
            </a:pPr>
            <a:r>
              <a:rPr lang="zh-CN" altLang="en-US" sz="72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总结与展</a:t>
            </a:r>
            <a:r>
              <a:rPr lang="zh-CN" altLang="en-US" sz="72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望</a:t>
            </a:r>
            <a:endParaRPr lang="zh-CN" altLang="en-US" sz="72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1" name="Group 11"/>
          <p:cNvGrpSpPr>
            <a:grpSpLocks noChangeAspect="1"/>
          </p:cNvGrpSpPr>
          <p:nvPr/>
        </p:nvGrpSpPr>
        <p:grpSpPr>
          <a:xfrm rot="0">
            <a:off x="14723000" y="203883"/>
            <a:ext cx="3565001" cy="1101770"/>
            <a:chOff x="0" y="0"/>
            <a:chExt cx="4753334" cy="1469026"/>
          </a:xfrm>
        </p:grpSpPr>
        <p:sp>
          <p:nvSpPr>
            <p:cNvPr id="12" name="Freeform 12"/>
            <p:cNvSpPr/>
            <p:nvPr/>
          </p:nvSpPr>
          <p:spPr>
            <a:xfrm>
              <a:off x="0" y="0"/>
              <a:ext cx="4753356" cy="1469009"/>
            </a:xfrm>
            <a:custGeom>
              <a:avLst/>
              <a:gdLst/>
              <a:ahLst/>
              <a:cxnLst/>
              <a:rect l="l" t="t" r="r" b="b"/>
              <a:pathLst>
                <a:path w="4753356" h="1469009">
                  <a:moveTo>
                    <a:pt x="0" y="0"/>
                  </a:moveTo>
                  <a:lnTo>
                    <a:pt x="4753356" y="0"/>
                  </a:lnTo>
                  <a:lnTo>
                    <a:pt x="4753356" y="1469009"/>
                  </a:lnTo>
                  <a:lnTo>
                    <a:pt x="0" y="1469009"/>
                  </a:lnTo>
                  <a:lnTo>
                    <a:pt x="0" y="0"/>
                  </a:lnTo>
                  <a:close/>
                </a:path>
              </a:pathLst>
            </a:custGeom>
            <a:blipFill>
              <a:blip r:embed="rId3"/>
              <a:stretch>
                <a:fillRect t="-34825" b="-13078"/>
              </a:stretch>
            </a:blipFill>
          </p:spPr>
        </p:sp>
      </p:grpSp>
      <p:sp>
        <p:nvSpPr>
          <p:cNvPr id="13" name="TextBox 13"/>
          <p:cNvSpPr txBox="1"/>
          <p:nvPr/>
        </p:nvSpPr>
        <p:spPr>
          <a:xfrm>
            <a:off x="4254567" y="5690235"/>
            <a:ext cx="6089464" cy="241935"/>
          </a:xfrm>
          <a:prstGeom prst="rect">
            <a:avLst/>
          </a:prstGeom>
        </p:spPr>
        <p:txBody>
          <a:bodyPr lIns="0" tIns="0" rIns="0" bIns="0" rtlCol="0" anchor="t">
            <a:spAutoFit/>
          </a:bodyPr>
          <a:lstStyle/>
          <a:p>
            <a:pPr algn="ctr">
              <a:lnSpc>
                <a:spcPts val="1890"/>
              </a:lnSpc>
            </a:pPr>
            <a:r>
              <a:rPr lang="en-US" sz="2700">
                <a:solidFill>
                  <a:schemeClr val="bg1"/>
                </a:solidFill>
                <a:latin typeface="思源黑体" panose="020B0500000000000000" charset="-122"/>
                <a:ea typeface="思源黑体" panose="020B0500000000000000" charset="-122"/>
                <a:cs typeface="思源黑体" panose="020B0500000000000000" charset="-122"/>
                <a:sym typeface="思源黑体" panose="020B0500000000000000" charset="-122"/>
              </a:rPr>
              <a:t>CONCLUSION &amp; OUTLOOK</a:t>
            </a:r>
            <a:endParaRPr lang="en-US" sz="2700">
              <a:solidFill>
                <a:schemeClr val="bg1"/>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grpSp>
        <p:nvGrpSpPr>
          <p:cNvPr id="14" name="Group 14"/>
          <p:cNvGrpSpPr>
            <a:grpSpLocks noChangeAspect="1"/>
          </p:cNvGrpSpPr>
          <p:nvPr/>
        </p:nvGrpSpPr>
        <p:grpSpPr>
          <a:xfrm rot="0">
            <a:off x="11023616" y="372126"/>
            <a:ext cx="3466641" cy="765282"/>
            <a:chOff x="0" y="0"/>
            <a:chExt cx="4622188" cy="1020376"/>
          </a:xfrm>
        </p:grpSpPr>
        <p:sp>
          <p:nvSpPr>
            <p:cNvPr id="15" name="Freeform 15"/>
            <p:cNvSpPr/>
            <p:nvPr/>
          </p:nvSpPr>
          <p:spPr>
            <a:xfrm>
              <a:off x="0" y="0"/>
              <a:ext cx="4622165" cy="1020318"/>
            </a:xfrm>
            <a:custGeom>
              <a:avLst/>
              <a:gdLst/>
              <a:ahLst/>
              <a:cxnLst/>
              <a:rect l="l" t="t" r="r" b="b"/>
              <a:pathLst>
                <a:path w="4622165" h="1020318">
                  <a:moveTo>
                    <a:pt x="0" y="0"/>
                  </a:moveTo>
                  <a:lnTo>
                    <a:pt x="4622165" y="0"/>
                  </a:lnTo>
                  <a:lnTo>
                    <a:pt x="4622165" y="1020318"/>
                  </a:lnTo>
                  <a:lnTo>
                    <a:pt x="0" y="1020318"/>
                  </a:lnTo>
                  <a:lnTo>
                    <a:pt x="0" y="0"/>
                  </a:lnTo>
                  <a:close/>
                </a:path>
              </a:pathLst>
            </a:custGeom>
            <a:blipFill>
              <a:blip r:embed="rId4"/>
              <a:stretch>
                <a:fillRect b="-5"/>
              </a:stretch>
            </a:blipFill>
          </p:spPr>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6700" y="-1905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16100484" y="264381"/>
            <a:ext cx="1896959" cy="667167"/>
            <a:chOff x="0" y="0"/>
            <a:chExt cx="2529278" cy="889556"/>
          </a:xfrm>
        </p:grpSpPr>
        <p:sp>
          <p:nvSpPr>
            <p:cNvPr id="4" name="Freeform 4"/>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grpSp>
        <p:nvGrpSpPr>
          <p:cNvPr id="5" name="Group 5"/>
          <p:cNvGrpSpPr/>
          <p:nvPr/>
        </p:nvGrpSpPr>
        <p:grpSpPr>
          <a:xfrm rot="0">
            <a:off x="-381000" y="284064"/>
            <a:ext cx="1347105" cy="659502"/>
            <a:chOff x="0" y="0"/>
            <a:chExt cx="1796140" cy="879336"/>
          </a:xfrm>
        </p:grpSpPr>
        <p:sp>
          <p:nvSpPr>
            <p:cNvPr id="6" name="Freeform 6"/>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7" name="Freeform 7"/>
          <p:cNvSpPr/>
          <p:nvPr/>
        </p:nvSpPr>
        <p:spPr>
          <a:xfrm>
            <a:off x="3886121" y="304646"/>
            <a:ext cx="15144750" cy="659311"/>
          </a:xfrm>
          <a:custGeom>
            <a:avLst/>
            <a:gdLst/>
            <a:ahLst/>
            <a:cxnLst/>
            <a:rect l="l" t="t" r="r" b="b"/>
            <a:pathLst>
              <a:path w="15144750" h="659311">
                <a:moveTo>
                  <a:pt x="0" y="0"/>
                </a:moveTo>
                <a:lnTo>
                  <a:pt x="15144750" y="0"/>
                </a:lnTo>
                <a:lnTo>
                  <a:pt x="15144750" y="659312"/>
                </a:lnTo>
                <a:lnTo>
                  <a:pt x="0" y="659312"/>
                </a:lnTo>
                <a:lnTo>
                  <a:pt x="0" y="0"/>
                </a:lnTo>
                <a:close/>
              </a:path>
            </a:pathLst>
          </a:custGeom>
          <a:blipFill>
            <a:blip r:embed="rId3"/>
            <a:stretch>
              <a:fillRect/>
            </a:stretch>
          </a:blipFill>
        </p:spPr>
      </p:sp>
      <p:grpSp>
        <p:nvGrpSpPr>
          <p:cNvPr id="8" name="Group 8"/>
          <p:cNvGrpSpPr>
            <a:grpSpLocks noChangeAspect="1"/>
          </p:cNvGrpSpPr>
          <p:nvPr/>
        </p:nvGrpSpPr>
        <p:grpSpPr>
          <a:xfrm rot="0">
            <a:off x="16100484" y="264381"/>
            <a:ext cx="1896959" cy="667167"/>
            <a:chOff x="0" y="0"/>
            <a:chExt cx="2529278" cy="889556"/>
          </a:xfrm>
        </p:grpSpPr>
        <p:sp>
          <p:nvSpPr>
            <p:cNvPr id="9" name="Freeform 9"/>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grpSp>
        <p:nvGrpSpPr>
          <p:cNvPr id="10" name="Group 10"/>
          <p:cNvGrpSpPr/>
          <p:nvPr/>
        </p:nvGrpSpPr>
        <p:grpSpPr>
          <a:xfrm rot="0">
            <a:off x="-914401" y="1235075"/>
            <a:ext cx="7759065" cy="1296669"/>
            <a:chOff x="-667304" y="0"/>
            <a:chExt cx="5356012" cy="1728893"/>
          </a:xfrm>
        </p:grpSpPr>
        <p:sp>
          <p:nvSpPr>
            <p:cNvPr id="11" name="Freeform 11"/>
            <p:cNvSpPr/>
            <p:nvPr/>
          </p:nvSpPr>
          <p:spPr>
            <a:xfrm>
              <a:off x="0" y="0"/>
              <a:ext cx="3724910" cy="1496263"/>
            </a:xfrm>
            <a:custGeom>
              <a:avLst/>
              <a:gdLst/>
              <a:ahLst/>
              <a:cxnLst/>
              <a:rect l="l" t="t" r="r" b="b"/>
              <a:pathLst>
                <a:path w="3724910" h="1496263">
                  <a:moveTo>
                    <a:pt x="0" y="0"/>
                  </a:moveTo>
                  <a:lnTo>
                    <a:pt x="3724910" y="0"/>
                  </a:lnTo>
                  <a:lnTo>
                    <a:pt x="3724910" y="1496263"/>
                  </a:lnTo>
                  <a:lnTo>
                    <a:pt x="0" y="1496263"/>
                  </a:lnTo>
                  <a:close/>
                </a:path>
              </a:pathLst>
            </a:custGeom>
            <a:solidFill>
              <a:srgbClr val="014924"/>
            </a:solidFill>
          </p:spPr>
        </p:sp>
        <p:sp>
          <p:nvSpPr>
            <p:cNvPr id="12" name="TextBox 12"/>
            <p:cNvSpPr txBox="1"/>
            <p:nvPr/>
          </p:nvSpPr>
          <p:spPr>
            <a:xfrm>
              <a:off x="-667304" y="232833"/>
              <a:ext cx="5356012" cy="1496060"/>
            </a:xfrm>
            <a:prstGeom prst="rect">
              <a:avLst/>
            </a:prstGeom>
          </p:spPr>
          <p:txBody>
            <a:bodyPr lIns="50800" tIns="50800" rIns="50800" bIns="50800" rtlCol="0" anchor="ctr"/>
            <a:lstStyle/>
            <a:p>
              <a:pPr indent="0" algn="ctr">
                <a:lnSpc>
                  <a:spcPts val="3240"/>
                </a:lnSpc>
                <a:buNone/>
              </a:pPr>
              <a:r>
                <a:rPr lang="zh-CN" altLang="en-US" sz="44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总结与创新性工作</a:t>
              </a:r>
              <a:endParaRPr lang="zh-CN" altLang="en-US" sz="44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sp>
        <p:nvSpPr>
          <p:cNvPr id="15" name="TextBox 15"/>
          <p:cNvSpPr txBox="1"/>
          <p:nvPr/>
        </p:nvSpPr>
        <p:spPr>
          <a:xfrm>
            <a:off x="189999" y="291684"/>
            <a:ext cx="518661" cy="645795"/>
          </a:xfrm>
          <a:prstGeom prst="rect">
            <a:avLst/>
          </a:prstGeom>
        </p:spPr>
        <p:txBody>
          <a:bodyPr lIns="0" tIns="0" rIns="0" bIns="0" rtlCol="0" anchor="t">
            <a:spAutoFit/>
          </a:bodyPr>
          <a:lstStyle/>
          <a:p>
            <a:pPr indent="0" algn="ctr">
              <a:lnSpc>
                <a:spcPts val="5040"/>
              </a:lnSpc>
              <a:buNone/>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6</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6" name="TextBox 16"/>
          <p:cNvSpPr txBox="1"/>
          <p:nvPr/>
        </p:nvSpPr>
        <p:spPr>
          <a:xfrm>
            <a:off x="1143000" y="262890"/>
            <a:ext cx="2527300" cy="820420"/>
          </a:xfrm>
          <a:prstGeom prst="rect">
            <a:avLst/>
          </a:prstGeom>
        </p:spPr>
        <p:txBody>
          <a:bodyPr lIns="0" tIns="0" rIns="0" bIns="0" rtlCol="0" anchor="t">
            <a:noAutofit/>
          </a:bodyPr>
          <a:lstStyle/>
          <a:p>
            <a:pPr indent="0" algn="l">
              <a:lnSpc>
                <a:spcPts val="5760"/>
              </a:lnSpc>
              <a:buNone/>
            </a:pPr>
            <a:r>
              <a:rPr lang="zh-CN" alt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总结展望</a:t>
            </a:r>
            <a:endParaRPr lang="zh-CN" alt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7" name="TextBox 17"/>
          <p:cNvSpPr txBox="1"/>
          <p:nvPr/>
        </p:nvSpPr>
        <p:spPr>
          <a:xfrm>
            <a:off x="3987082" y="435935"/>
            <a:ext cx="2490146" cy="241935"/>
          </a:xfrm>
          <a:prstGeom prst="rect">
            <a:avLst/>
          </a:prstGeom>
        </p:spPr>
        <p:txBody>
          <a:bodyPr lIns="0" tIns="0" rIns="0" bIns="0" rtlCol="0" anchor="t">
            <a:spAutoFit/>
          </a:bodyPr>
          <a:lstStyle/>
          <a:p>
            <a:pPr algn="ctr">
              <a:lnSpc>
                <a:spcPts val="1890"/>
              </a:lnSpc>
            </a:pPr>
            <a:r>
              <a:rPr lang="en-US">
                <a:solidFill>
                  <a:schemeClr val="bg1"/>
                </a:solidFill>
                <a:latin typeface="思源黑体" panose="020B0500000000000000" charset="-122"/>
                <a:ea typeface="思源黑体" panose="020B0500000000000000" charset="-122"/>
                <a:cs typeface="思源黑体" panose="020B0500000000000000" charset="-122"/>
                <a:sym typeface="思源黑体" panose="020B0500000000000000" charset="-122"/>
              </a:rPr>
              <a:t>CONCLUSION &amp; OUTLOOK</a:t>
            </a:r>
            <a:endPar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3" name="文本框 12"/>
          <p:cNvSpPr txBox="1"/>
          <p:nvPr/>
        </p:nvSpPr>
        <p:spPr>
          <a:xfrm>
            <a:off x="189865" y="2574290"/>
            <a:ext cx="7106285" cy="7765415"/>
          </a:xfrm>
          <a:prstGeom prst="rect">
            <a:avLst/>
          </a:prstGeom>
          <a:noFill/>
        </p:spPr>
        <p:txBody>
          <a:bodyPr wrap="square" rtlCol="0">
            <a:noAutofit/>
          </a:bodyPr>
          <a:p>
            <a:pPr marL="571500" indent="-571500">
              <a:lnSpc>
                <a:spcPct val="140000"/>
              </a:lnSpc>
              <a:buFont typeface="Arial" panose="020B0604020202020204" pitchFamily="34" charset="0"/>
              <a:buChar char="•"/>
            </a:pPr>
            <a:r>
              <a:rPr lang="zh-CN" altLang="en-US" sz="3200">
                <a:sym typeface="+mn-ea"/>
              </a:rPr>
              <a:t>本项目成功设计并实现了Yat-CASched缓存感知调度器，有效解决了CFS调度器臃肿、缺乏关键线程优先调度、时延不可控等核心问题。</a:t>
            </a:r>
            <a:endParaRPr lang="zh-CN" altLang="en-US" sz="3200"/>
          </a:p>
          <a:p>
            <a:pPr marL="571500" indent="-571500">
              <a:lnSpc>
                <a:spcPct val="140000"/>
              </a:lnSpc>
              <a:buFont typeface="Arial" panose="020B0604020202020204" pitchFamily="34" charset="0"/>
              <a:buChar char="•"/>
            </a:pPr>
            <a:r>
              <a:rPr lang="zh-CN" altLang="en-US" sz="3200">
                <a:sym typeface="+mn-ea"/>
              </a:rPr>
              <a:t>基于Cache Recency Profile等理论，构建了分层调度架构，实现了轻量化设计，低延迟保证以及性能优化。</a:t>
            </a:r>
            <a:endParaRPr lang="zh-CN" altLang="en-US" sz="3200"/>
          </a:p>
          <a:p>
            <a:pPr marL="571500" indent="-571500">
              <a:lnSpc>
                <a:spcPct val="140000"/>
              </a:lnSpc>
              <a:buFont typeface="Arial" panose="020B0604020202020204" pitchFamily="34" charset="0"/>
              <a:buChar char="•"/>
            </a:pPr>
            <a:r>
              <a:rPr lang="zh-CN" altLang="en-US" sz="3200">
                <a:sym typeface="+mn-ea"/>
              </a:rPr>
              <a:t>通过完整的"理论验证→模拟验证→内核集成→性能测试"技术路线，成功将调度器集成到Linux 6.8内核。</a:t>
            </a:r>
            <a:endParaRPr lang="zh-CN" altLang="en-US" sz="3200"/>
          </a:p>
        </p:txBody>
      </p:sp>
      <p:pic>
        <p:nvPicPr>
          <p:cNvPr id="19" name="图片 18" descr="1755436350350"/>
          <p:cNvPicPr>
            <a:picLocks noChangeAspect="1"/>
          </p:cNvPicPr>
          <p:nvPr/>
        </p:nvPicPr>
        <p:blipFill>
          <a:blip r:embed="rId4"/>
          <a:srcRect r="22157"/>
          <a:stretch>
            <a:fillRect/>
          </a:stretch>
        </p:blipFill>
        <p:spPr>
          <a:xfrm>
            <a:off x="8915400" y="1218565"/>
            <a:ext cx="7277100" cy="4127500"/>
          </a:xfrm>
          <a:prstGeom prst="rect">
            <a:avLst/>
          </a:prstGeom>
        </p:spPr>
      </p:pic>
      <p:pic>
        <p:nvPicPr>
          <p:cNvPr id="20" name="图片 19" descr="1755436414953"/>
          <p:cNvPicPr>
            <a:picLocks noChangeAspect="1"/>
          </p:cNvPicPr>
          <p:nvPr/>
        </p:nvPicPr>
        <p:blipFill>
          <a:blip r:embed="rId5"/>
          <a:srcRect r="21026"/>
          <a:stretch>
            <a:fillRect/>
          </a:stretch>
        </p:blipFill>
        <p:spPr>
          <a:xfrm>
            <a:off x="7315200" y="5600700"/>
            <a:ext cx="10233660" cy="405066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6200" y="1905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a:grpSpLocks noChangeAspect="1"/>
          </p:cNvGrpSpPr>
          <p:nvPr/>
        </p:nvGrpSpPr>
        <p:grpSpPr>
          <a:xfrm rot="0">
            <a:off x="16100484" y="264381"/>
            <a:ext cx="1896959" cy="667167"/>
            <a:chOff x="0" y="0"/>
            <a:chExt cx="2529278" cy="889556"/>
          </a:xfrm>
        </p:grpSpPr>
        <p:sp>
          <p:nvSpPr>
            <p:cNvPr id="4" name="Freeform 4"/>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grpSp>
        <p:nvGrpSpPr>
          <p:cNvPr id="5" name="Group 5"/>
          <p:cNvGrpSpPr/>
          <p:nvPr/>
        </p:nvGrpSpPr>
        <p:grpSpPr>
          <a:xfrm rot="0">
            <a:off x="-381000" y="284064"/>
            <a:ext cx="1347105" cy="659502"/>
            <a:chOff x="0" y="0"/>
            <a:chExt cx="1796140" cy="879336"/>
          </a:xfrm>
        </p:grpSpPr>
        <p:sp>
          <p:nvSpPr>
            <p:cNvPr id="6" name="Freeform 6"/>
            <p:cNvSpPr/>
            <p:nvPr/>
          </p:nvSpPr>
          <p:spPr>
            <a:xfrm>
              <a:off x="0" y="0"/>
              <a:ext cx="1796161" cy="879348"/>
            </a:xfrm>
            <a:custGeom>
              <a:avLst/>
              <a:gdLst/>
              <a:ahLst/>
              <a:cxnLst/>
              <a:rect l="l" t="t" r="r" b="b"/>
              <a:pathLst>
                <a:path w="1796161" h="879348">
                  <a:moveTo>
                    <a:pt x="0" y="439674"/>
                  </a:moveTo>
                  <a:cubicBezTo>
                    <a:pt x="0" y="196850"/>
                    <a:pt x="196850" y="0"/>
                    <a:pt x="439674" y="0"/>
                  </a:cubicBezTo>
                  <a:lnTo>
                    <a:pt x="1356487" y="0"/>
                  </a:lnTo>
                  <a:cubicBezTo>
                    <a:pt x="1599311" y="0"/>
                    <a:pt x="1796161" y="196850"/>
                    <a:pt x="1796161" y="439674"/>
                  </a:cubicBezTo>
                  <a:cubicBezTo>
                    <a:pt x="1796161" y="682498"/>
                    <a:pt x="1599311" y="879348"/>
                    <a:pt x="1356487" y="879348"/>
                  </a:cubicBezTo>
                  <a:lnTo>
                    <a:pt x="439674" y="879348"/>
                  </a:lnTo>
                  <a:cubicBezTo>
                    <a:pt x="196850" y="879348"/>
                    <a:pt x="0" y="682498"/>
                    <a:pt x="0" y="439674"/>
                  </a:cubicBezTo>
                  <a:close/>
                </a:path>
              </a:pathLst>
            </a:custGeom>
            <a:solidFill>
              <a:srgbClr val="014924"/>
            </a:solidFill>
          </p:spPr>
        </p:sp>
      </p:grpSp>
      <p:sp>
        <p:nvSpPr>
          <p:cNvPr id="7" name="Freeform 7"/>
          <p:cNvSpPr/>
          <p:nvPr/>
        </p:nvSpPr>
        <p:spPr>
          <a:xfrm>
            <a:off x="3886121" y="304646"/>
            <a:ext cx="15144750" cy="659311"/>
          </a:xfrm>
          <a:custGeom>
            <a:avLst/>
            <a:gdLst/>
            <a:ahLst/>
            <a:cxnLst/>
            <a:rect l="l" t="t" r="r" b="b"/>
            <a:pathLst>
              <a:path w="15144750" h="659311">
                <a:moveTo>
                  <a:pt x="0" y="0"/>
                </a:moveTo>
                <a:lnTo>
                  <a:pt x="15144750" y="0"/>
                </a:lnTo>
                <a:lnTo>
                  <a:pt x="15144750" y="659312"/>
                </a:lnTo>
                <a:lnTo>
                  <a:pt x="0" y="659312"/>
                </a:lnTo>
                <a:lnTo>
                  <a:pt x="0" y="0"/>
                </a:lnTo>
                <a:close/>
              </a:path>
            </a:pathLst>
          </a:custGeom>
          <a:blipFill>
            <a:blip r:embed="rId3"/>
            <a:stretch>
              <a:fillRect/>
            </a:stretch>
          </a:blipFill>
        </p:spPr>
      </p:sp>
      <p:grpSp>
        <p:nvGrpSpPr>
          <p:cNvPr id="8" name="Group 8"/>
          <p:cNvGrpSpPr>
            <a:grpSpLocks noChangeAspect="1"/>
          </p:cNvGrpSpPr>
          <p:nvPr/>
        </p:nvGrpSpPr>
        <p:grpSpPr>
          <a:xfrm rot="0">
            <a:off x="16100484" y="264381"/>
            <a:ext cx="1896959" cy="667167"/>
            <a:chOff x="0" y="0"/>
            <a:chExt cx="2529278" cy="889556"/>
          </a:xfrm>
        </p:grpSpPr>
        <p:sp>
          <p:nvSpPr>
            <p:cNvPr id="9" name="Freeform 9"/>
            <p:cNvSpPr/>
            <p:nvPr/>
          </p:nvSpPr>
          <p:spPr>
            <a:xfrm>
              <a:off x="0" y="0"/>
              <a:ext cx="2529332" cy="889508"/>
            </a:xfrm>
            <a:custGeom>
              <a:avLst/>
              <a:gdLst/>
              <a:ahLst/>
              <a:cxnLst/>
              <a:rect l="l" t="t" r="r" b="b"/>
              <a:pathLst>
                <a:path w="2529332" h="889508">
                  <a:moveTo>
                    <a:pt x="0" y="0"/>
                  </a:moveTo>
                  <a:lnTo>
                    <a:pt x="2529332" y="0"/>
                  </a:lnTo>
                  <a:lnTo>
                    <a:pt x="2529332" y="889508"/>
                  </a:lnTo>
                  <a:lnTo>
                    <a:pt x="0" y="889508"/>
                  </a:lnTo>
                  <a:lnTo>
                    <a:pt x="0" y="0"/>
                  </a:lnTo>
                  <a:close/>
                </a:path>
              </a:pathLst>
            </a:custGeom>
            <a:blipFill>
              <a:blip r:embed="rId2"/>
              <a:stretch>
                <a:fillRect t="-29960" r="2" b="-53"/>
              </a:stretch>
            </a:blipFill>
          </p:spPr>
        </p:sp>
      </p:grpSp>
      <p:grpSp>
        <p:nvGrpSpPr>
          <p:cNvPr id="10" name="Group 10"/>
          <p:cNvGrpSpPr/>
          <p:nvPr/>
        </p:nvGrpSpPr>
        <p:grpSpPr>
          <a:xfrm rot="0">
            <a:off x="-1066801" y="1158875"/>
            <a:ext cx="7759065" cy="1296669"/>
            <a:chOff x="-719904" y="0"/>
            <a:chExt cx="5356012" cy="1728893"/>
          </a:xfrm>
        </p:grpSpPr>
        <p:sp>
          <p:nvSpPr>
            <p:cNvPr id="11" name="Freeform 11"/>
            <p:cNvSpPr/>
            <p:nvPr/>
          </p:nvSpPr>
          <p:spPr>
            <a:xfrm>
              <a:off x="0" y="0"/>
              <a:ext cx="3724910" cy="1496263"/>
            </a:xfrm>
            <a:custGeom>
              <a:avLst/>
              <a:gdLst/>
              <a:ahLst/>
              <a:cxnLst/>
              <a:rect l="l" t="t" r="r" b="b"/>
              <a:pathLst>
                <a:path w="3724910" h="1496263">
                  <a:moveTo>
                    <a:pt x="0" y="0"/>
                  </a:moveTo>
                  <a:lnTo>
                    <a:pt x="3724910" y="0"/>
                  </a:lnTo>
                  <a:lnTo>
                    <a:pt x="3724910" y="1496263"/>
                  </a:lnTo>
                  <a:lnTo>
                    <a:pt x="0" y="1496263"/>
                  </a:lnTo>
                  <a:close/>
                </a:path>
              </a:pathLst>
            </a:custGeom>
            <a:solidFill>
              <a:srgbClr val="014924"/>
            </a:solidFill>
          </p:spPr>
        </p:sp>
        <p:sp>
          <p:nvSpPr>
            <p:cNvPr id="12" name="TextBox 12"/>
            <p:cNvSpPr txBox="1"/>
            <p:nvPr/>
          </p:nvSpPr>
          <p:spPr>
            <a:xfrm>
              <a:off x="-719904" y="232833"/>
              <a:ext cx="5356012" cy="1496060"/>
            </a:xfrm>
            <a:prstGeom prst="rect">
              <a:avLst/>
            </a:prstGeom>
          </p:spPr>
          <p:txBody>
            <a:bodyPr lIns="50800" tIns="50800" rIns="50800" bIns="50800" rtlCol="0" anchor="ctr"/>
            <a:lstStyle/>
            <a:p>
              <a:pPr indent="0" algn="ctr">
                <a:lnSpc>
                  <a:spcPts val="3240"/>
                </a:lnSpc>
                <a:buNone/>
              </a:pPr>
              <a:endParaRPr lang="zh-CN" altLang="en-US" sz="44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sp>
        <p:nvSpPr>
          <p:cNvPr id="15" name="TextBox 15"/>
          <p:cNvSpPr txBox="1"/>
          <p:nvPr/>
        </p:nvSpPr>
        <p:spPr>
          <a:xfrm>
            <a:off x="189999" y="291684"/>
            <a:ext cx="518661" cy="645795"/>
          </a:xfrm>
          <a:prstGeom prst="rect">
            <a:avLst/>
          </a:prstGeom>
        </p:spPr>
        <p:txBody>
          <a:bodyPr lIns="0" tIns="0" rIns="0" bIns="0" rtlCol="0" anchor="t">
            <a:spAutoFit/>
          </a:bodyPr>
          <a:lstStyle/>
          <a:p>
            <a:pPr indent="0" algn="ctr">
              <a:lnSpc>
                <a:spcPts val="5040"/>
              </a:lnSpc>
              <a:buNone/>
            </a:pPr>
            <a:r>
              <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6</a:t>
            </a:r>
            <a:endParaRPr lang="en-US" sz="420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16" name="TextBox 16"/>
          <p:cNvSpPr txBox="1"/>
          <p:nvPr/>
        </p:nvSpPr>
        <p:spPr>
          <a:xfrm>
            <a:off x="1143000" y="262890"/>
            <a:ext cx="2527300" cy="820420"/>
          </a:xfrm>
          <a:prstGeom prst="rect">
            <a:avLst/>
          </a:prstGeom>
        </p:spPr>
        <p:txBody>
          <a:bodyPr lIns="0" tIns="0" rIns="0" bIns="0" rtlCol="0" anchor="t">
            <a:noAutofit/>
          </a:bodyPr>
          <a:lstStyle/>
          <a:p>
            <a:pPr indent="0" algn="l">
              <a:lnSpc>
                <a:spcPts val="5760"/>
              </a:lnSpc>
              <a:buNone/>
            </a:pPr>
            <a:r>
              <a:rPr lang="zh-CN" alt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rPr>
              <a:t>总结展望</a:t>
            </a:r>
            <a:endParaRPr lang="zh-CN" altLang="en-US" sz="4800">
              <a:solidFill>
                <a:srgbClr val="595959"/>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7" name="TextBox 17"/>
          <p:cNvSpPr txBox="1"/>
          <p:nvPr/>
        </p:nvSpPr>
        <p:spPr>
          <a:xfrm>
            <a:off x="3987082" y="435935"/>
            <a:ext cx="2490146" cy="241935"/>
          </a:xfrm>
          <a:prstGeom prst="rect">
            <a:avLst/>
          </a:prstGeom>
        </p:spPr>
        <p:txBody>
          <a:bodyPr lIns="0" tIns="0" rIns="0" bIns="0" rtlCol="0" anchor="t">
            <a:spAutoFit/>
          </a:bodyPr>
          <a:lstStyle/>
          <a:p>
            <a:pPr algn="ctr">
              <a:lnSpc>
                <a:spcPts val="1890"/>
              </a:lnSpc>
            </a:pPr>
            <a:r>
              <a:rPr lang="en-US">
                <a:solidFill>
                  <a:schemeClr val="bg1"/>
                </a:solidFill>
                <a:latin typeface="思源黑体" panose="020B0500000000000000" charset="-122"/>
                <a:ea typeface="思源黑体" panose="020B0500000000000000" charset="-122"/>
                <a:cs typeface="思源黑体" panose="020B0500000000000000" charset="-122"/>
                <a:sym typeface="思源黑体" panose="020B0500000000000000" charset="-122"/>
              </a:rPr>
              <a:t>CONCLUSION &amp; OUTLOOK</a:t>
            </a:r>
            <a:endParaRPr lang="en-US" sz="1800">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13" name="文本框 12"/>
          <p:cNvSpPr txBox="1"/>
          <p:nvPr/>
        </p:nvSpPr>
        <p:spPr>
          <a:xfrm>
            <a:off x="12039600" y="2324100"/>
            <a:ext cx="4068445" cy="7677150"/>
          </a:xfrm>
          <a:prstGeom prst="rect">
            <a:avLst/>
          </a:prstGeom>
          <a:noFill/>
        </p:spPr>
        <p:txBody>
          <a:bodyPr wrap="square" rtlCol="0">
            <a:noAutofit/>
          </a:bodyPr>
          <a:p>
            <a:pPr indent="0">
              <a:lnSpc>
                <a:spcPct val="110000"/>
              </a:lnSpc>
              <a:buFont typeface="Arial" panose="020B0604020202020204" pitchFamily="34" charset="0"/>
              <a:buNone/>
            </a:pPr>
            <a:endParaRPr lang="zh-CN" altLang="en-US" sz="3200"/>
          </a:p>
        </p:txBody>
      </p:sp>
      <p:sp>
        <p:nvSpPr>
          <p:cNvPr id="18" name="文本框 17"/>
          <p:cNvSpPr txBox="1"/>
          <p:nvPr/>
        </p:nvSpPr>
        <p:spPr>
          <a:xfrm>
            <a:off x="4572000" y="1995805"/>
            <a:ext cx="9144000" cy="780415"/>
          </a:xfrm>
          <a:prstGeom prst="rect">
            <a:avLst/>
          </a:prstGeom>
          <a:noFill/>
        </p:spPr>
        <p:txBody>
          <a:bodyPr wrap="square" rtlCol="0" anchor="t">
            <a:spAutoFit/>
          </a:bodyPr>
          <a:p>
            <a:pPr marL="571500" indent="-571500">
              <a:lnSpc>
                <a:spcPct val="140000"/>
              </a:lnSpc>
              <a:buFont typeface="Arial" panose="020B0604020202020204" pitchFamily="34" charset="0"/>
              <a:buChar char="•"/>
            </a:pPr>
            <a:endParaRPr lang="zh-CN" altLang="en-US" sz="3200">
              <a:sym typeface="+mn-ea"/>
            </a:endParaRPr>
          </a:p>
        </p:txBody>
      </p:sp>
      <p:sp>
        <p:nvSpPr>
          <p:cNvPr id="19" name="文本框 18"/>
          <p:cNvSpPr txBox="1"/>
          <p:nvPr/>
        </p:nvSpPr>
        <p:spPr>
          <a:xfrm>
            <a:off x="1703705" y="1333500"/>
            <a:ext cx="1835785" cy="768350"/>
          </a:xfrm>
          <a:prstGeom prst="rect">
            <a:avLst/>
          </a:prstGeom>
          <a:noFill/>
        </p:spPr>
        <p:txBody>
          <a:bodyPr wrap="square" rtlCol="0">
            <a:spAutoFit/>
          </a:bodyPr>
          <a:p>
            <a:r>
              <a:rPr lang="zh-CN" altLang="en-US" sz="4400" b="1">
                <a:solidFill>
                  <a:schemeClr val="bg1"/>
                </a:solidFill>
              </a:rPr>
              <a:t>展望</a:t>
            </a:r>
            <a:endParaRPr lang="zh-CN" altLang="en-US" sz="4400" b="1">
              <a:solidFill>
                <a:schemeClr val="bg1"/>
              </a:solidFill>
            </a:endParaRPr>
          </a:p>
        </p:txBody>
      </p:sp>
      <p:pic>
        <p:nvPicPr>
          <p:cNvPr id="21" name="图片 20"/>
          <p:cNvPicPr>
            <a:picLocks noChangeAspect="1"/>
          </p:cNvPicPr>
          <p:nvPr/>
        </p:nvPicPr>
        <p:blipFill>
          <a:blip r:embed="rId4"/>
          <a:stretch>
            <a:fillRect/>
          </a:stretch>
        </p:blipFill>
        <p:spPr>
          <a:xfrm>
            <a:off x="6096000" y="1333500"/>
            <a:ext cx="11442065" cy="8582660"/>
          </a:xfrm>
          <a:prstGeom prst="rect">
            <a:avLst/>
          </a:prstGeom>
        </p:spPr>
      </p:pic>
      <p:sp>
        <p:nvSpPr>
          <p:cNvPr id="22" name="文本框 21"/>
          <p:cNvSpPr txBox="1"/>
          <p:nvPr/>
        </p:nvSpPr>
        <p:spPr>
          <a:xfrm>
            <a:off x="653415" y="2549525"/>
            <a:ext cx="4920615" cy="6572250"/>
          </a:xfrm>
          <a:prstGeom prst="rect">
            <a:avLst/>
          </a:prstGeom>
          <a:noFill/>
        </p:spPr>
        <p:txBody>
          <a:bodyPr wrap="square" rtlCol="0">
            <a:spAutoFit/>
          </a:bodyPr>
          <a:p>
            <a:pPr indent="0">
              <a:lnSpc>
                <a:spcPct val="130000"/>
              </a:lnSpc>
              <a:buFont typeface="Arial" panose="020B0604020202020204" pitchFamily="34" charset="0"/>
              <a:buNone/>
            </a:pPr>
            <a:r>
              <a:rPr lang="en-US" altLang="zh-CN" sz="3600">
                <a:sym typeface="+mn-ea"/>
              </a:rPr>
              <a:t>        Yat-CAShed </a:t>
            </a:r>
            <a:r>
              <a:rPr lang="zh-CN" altLang="en-US" sz="3600">
                <a:sym typeface="+mn-ea"/>
              </a:rPr>
              <a:t>项目是团队一次宝贵的内核编程实践。</a:t>
            </a:r>
            <a:endParaRPr lang="zh-CN" altLang="en-US" sz="3600">
              <a:sym typeface="+mn-ea"/>
            </a:endParaRPr>
          </a:p>
          <a:p>
            <a:pPr indent="0">
              <a:lnSpc>
                <a:spcPct val="130000"/>
              </a:lnSpc>
              <a:buFont typeface="Arial" panose="020B0604020202020204" pitchFamily="34" charset="0"/>
              <a:buNone/>
            </a:pPr>
            <a:r>
              <a:rPr lang="en-US" altLang="zh-CN" sz="3600">
                <a:sym typeface="+mn-ea"/>
              </a:rPr>
              <a:t>        </a:t>
            </a:r>
            <a:r>
              <a:rPr lang="zh-CN" altLang="en-US" sz="3600">
                <a:sym typeface="+mn-ea"/>
              </a:rPr>
              <a:t>同时我们清醒地认识到，本次工作仅是学习操作系统万里长征的第一步。</a:t>
            </a:r>
            <a:r>
              <a:rPr lang="zh-CN" altLang="en-US" sz="3600">
                <a:sym typeface="+mn-ea"/>
              </a:rPr>
              <a:t>未来我们将以更大的热忱投入到操作系统的学习研究中。</a:t>
            </a:r>
            <a:endParaRPr lang="zh-CN" altLang="en-US" sz="3600">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a:stretch>
          </a:blipFill>
        </p:spPr>
      </p:sp>
      <p:grpSp>
        <p:nvGrpSpPr>
          <p:cNvPr id="3" name="Group 3"/>
          <p:cNvGrpSpPr/>
          <p:nvPr/>
        </p:nvGrpSpPr>
        <p:grpSpPr>
          <a:xfrm rot="-10800000">
            <a:off x="0" y="-11"/>
            <a:ext cx="18288000" cy="3639927"/>
            <a:chOff x="0" y="0"/>
            <a:chExt cx="24384000" cy="4853236"/>
          </a:xfrm>
        </p:grpSpPr>
        <p:sp>
          <p:nvSpPr>
            <p:cNvPr id="4" name="Freeform 4"/>
            <p:cNvSpPr/>
            <p:nvPr/>
          </p:nvSpPr>
          <p:spPr>
            <a:xfrm>
              <a:off x="0" y="0"/>
              <a:ext cx="24384000" cy="4853178"/>
            </a:xfrm>
            <a:custGeom>
              <a:avLst/>
              <a:gdLst/>
              <a:ahLst/>
              <a:cxnLst/>
              <a:rect l="l" t="t" r="r" b="b"/>
              <a:pathLst>
                <a:path w="24384000" h="4853178">
                  <a:moveTo>
                    <a:pt x="0" y="0"/>
                  </a:moveTo>
                  <a:lnTo>
                    <a:pt x="24384000" y="0"/>
                  </a:lnTo>
                  <a:lnTo>
                    <a:pt x="24384000" y="4853178"/>
                  </a:lnTo>
                  <a:lnTo>
                    <a:pt x="0" y="4853178"/>
                  </a:lnTo>
                  <a:close/>
                </a:path>
              </a:pathLst>
            </a:custGeom>
            <a:solidFill>
              <a:srgbClr val="014924"/>
            </a:solidFill>
          </p:spPr>
        </p:sp>
      </p:grpSp>
      <p:grpSp>
        <p:nvGrpSpPr>
          <p:cNvPr id="5" name="Group 5"/>
          <p:cNvGrpSpPr/>
          <p:nvPr/>
        </p:nvGrpSpPr>
        <p:grpSpPr>
          <a:xfrm rot="-10800000">
            <a:off x="0" y="3740912"/>
            <a:ext cx="18288000" cy="106047"/>
            <a:chOff x="0" y="0"/>
            <a:chExt cx="24384000" cy="141396"/>
          </a:xfrm>
        </p:grpSpPr>
        <p:sp>
          <p:nvSpPr>
            <p:cNvPr id="6" name="Freeform 6"/>
            <p:cNvSpPr/>
            <p:nvPr/>
          </p:nvSpPr>
          <p:spPr>
            <a:xfrm>
              <a:off x="0" y="0"/>
              <a:ext cx="24384000" cy="141351"/>
            </a:xfrm>
            <a:custGeom>
              <a:avLst/>
              <a:gdLst/>
              <a:ahLst/>
              <a:cxnLst/>
              <a:rect l="l" t="t" r="r" b="b"/>
              <a:pathLst>
                <a:path w="24384000" h="141351">
                  <a:moveTo>
                    <a:pt x="0" y="0"/>
                  </a:moveTo>
                  <a:lnTo>
                    <a:pt x="24384000" y="0"/>
                  </a:lnTo>
                  <a:lnTo>
                    <a:pt x="24384000" y="141351"/>
                  </a:lnTo>
                  <a:lnTo>
                    <a:pt x="0" y="141351"/>
                  </a:lnTo>
                  <a:close/>
                </a:path>
              </a:pathLst>
            </a:custGeom>
            <a:solidFill>
              <a:srgbClr val="014924"/>
            </a:solidFill>
          </p:spPr>
        </p:sp>
      </p:grpSp>
      <p:sp>
        <p:nvSpPr>
          <p:cNvPr id="7" name="TextBox 7"/>
          <p:cNvSpPr txBox="1"/>
          <p:nvPr/>
        </p:nvSpPr>
        <p:spPr>
          <a:xfrm>
            <a:off x="1774125" y="7096750"/>
            <a:ext cx="15328928" cy="1095375"/>
          </a:xfrm>
          <a:prstGeom prst="rect">
            <a:avLst/>
          </a:prstGeom>
        </p:spPr>
        <p:txBody>
          <a:bodyPr lIns="0" tIns="0" rIns="0" bIns="0" rtlCol="0" anchor="t">
            <a:spAutoFit/>
          </a:bodyPr>
          <a:lstStyle/>
          <a:p>
            <a:pPr algn="ctr">
              <a:lnSpc>
                <a:spcPts val="8640"/>
              </a:lnSpc>
            </a:pPr>
            <a:r>
              <a:rPr lang="en-US" sz="7200" b="1">
                <a:solidFill>
                  <a:srgbClr val="014924"/>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望各位评委老师们批评指正！</a:t>
            </a:r>
            <a:endParaRPr lang="en-US" sz="7200" b="1">
              <a:solidFill>
                <a:srgbClr val="014924"/>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sp>
        <p:nvSpPr>
          <p:cNvPr id="8" name="TextBox 8"/>
          <p:cNvSpPr txBox="1"/>
          <p:nvPr/>
        </p:nvSpPr>
        <p:spPr>
          <a:xfrm>
            <a:off x="577212" y="174"/>
            <a:ext cx="17133577" cy="4552950"/>
          </a:xfrm>
          <a:prstGeom prst="rect">
            <a:avLst/>
          </a:prstGeom>
        </p:spPr>
        <p:txBody>
          <a:bodyPr lIns="0" tIns="0" rIns="0" bIns="0" rtlCol="0" anchor="t">
            <a:spAutoFit/>
          </a:bodyPr>
          <a:lstStyle/>
          <a:p>
            <a:pPr algn="just">
              <a:lnSpc>
                <a:spcPts val="35820"/>
              </a:lnSpc>
            </a:pPr>
            <a:r>
              <a:rPr lang="en-US" sz="29850" b="1">
                <a:solidFill>
                  <a:srgbClr val="FFFFFF">
                    <a:alpha val="9804"/>
                  </a:srgbClr>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THANKS</a:t>
            </a:r>
            <a:endParaRPr lang="en-US" sz="29850" b="1">
              <a:solidFill>
                <a:srgbClr val="FFFFFF">
                  <a:alpha val="9804"/>
                </a:srgbClr>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endParaRPr>
          </a:p>
        </p:txBody>
      </p:sp>
      <p:grpSp>
        <p:nvGrpSpPr>
          <p:cNvPr id="9" name="Group 9"/>
          <p:cNvGrpSpPr/>
          <p:nvPr/>
        </p:nvGrpSpPr>
        <p:grpSpPr>
          <a:xfrm rot="0">
            <a:off x="3089108" y="1932174"/>
            <a:ext cx="3658785" cy="3658788"/>
            <a:chOff x="0" y="0"/>
            <a:chExt cx="4878380" cy="4878384"/>
          </a:xfrm>
        </p:grpSpPr>
        <p:sp>
          <p:nvSpPr>
            <p:cNvPr id="10" name="Freeform 10"/>
            <p:cNvSpPr/>
            <p:nvPr/>
          </p:nvSpPr>
          <p:spPr>
            <a:xfrm>
              <a:off x="0" y="0"/>
              <a:ext cx="4878324" cy="4878324"/>
            </a:xfrm>
            <a:custGeom>
              <a:avLst/>
              <a:gdLst/>
              <a:ahLst/>
              <a:cxnLst/>
              <a:rect l="l" t="t" r="r" b="b"/>
              <a:pathLst>
                <a:path w="4878324" h="4878324">
                  <a:moveTo>
                    <a:pt x="0" y="2439162"/>
                  </a:moveTo>
                  <a:cubicBezTo>
                    <a:pt x="0" y="1092073"/>
                    <a:pt x="1092073" y="0"/>
                    <a:pt x="2439162" y="0"/>
                  </a:cubicBezTo>
                  <a:cubicBezTo>
                    <a:pt x="3786251" y="0"/>
                    <a:pt x="4878324" y="1092073"/>
                    <a:pt x="4878324" y="2439162"/>
                  </a:cubicBezTo>
                  <a:cubicBezTo>
                    <a:pt x="4878324" y="3786251"/>
                    <a:pt x="3786378" y="4878324"/>
                    <a:pt x="2439162" y="4878324"/>
                  </a:cubicBezTo>
                  <a:cubicBezTo>
                    <a:pt x="1091946" y="4878324"/>
                    <a:pt x="0" y="3786378"/>
                    <a:pt x="0" y="2439162"/>
                  </a:cubicBezTo>
                  <a:close/>
                </a:path>
              </a:pathLst>
            </a:custGeom>
            <a:gradFill rotWithShape="1">
              <a:gsLst>
                <a:gs pos="0">
                  <a:srgbClr val="FFFFFF">
                    <a:alpha val="100000"/>
                  </a:srgbClr>
                </a:gs>
                <a:gs pos="100000">
                  <a:srgbClr val="E8E8E8">
                    <a:alpha val="100000"/>
                  </a:srgbClr>
                </a:gs>
              </a:gsLst>
              <a:lin ang="5400000"/>
            </a:gradFill>
          </p:spPr>
        </p:sp>
      </p:grpSp>
      <p:grpSp>
        <p:nvGrpSpPr>
          <p:cNvPr id="11" name="Group 11"/>
          <p:cNvGrpSpPr/>
          <p:nvPr/>
        </p:nvGrpSpPr>
        <p:grpSpPr>
          <a:xfrm rot="-10800000">
            <a:off x="3308321" y="2151383"/>
            <a:ext cx="3183307" cy="3183308"/>
            <a:chOff x="0" y="0"/>
            <a:chExt cx="4244409" cy="4244411"/>
          </a:xfrm>
        </p:grpSpPr>
        <p:sp>
          <p:nvSpPr>
            <p:cNvPr id="12" name="Freeform 12"/>
            <p:cNvSpPr/>
            <p:nvPr/>
          </p:nvSpPr>
          <p:spPr>
            <a:xfrm>
              <a:off x="0" y="0"/>
              <a:ext cx="4244340" cy="4244340"/>
            </a:xfrm>
            <a:custGeom>
              <a:avLst/>
              <a:gdLst/>
              <a:ahLst/>
              <a:cxnLst/>
              <a:rect l="l" t="t" r="r" b="b"/>
              <a:pathLst>
                <a:path w="4244340" h="4244340">
                  <a:moveTo>
                    <a:pt x="0" y="2122170"/>
                  </a:moveTo>
                  <a:cubicBezTo>
                    <a:pt x="0" y="950087"/>
                    <a:pt x="950087" y="0"/>
                    <a:pt x="2122170" y="0"/>
                  </a:cubicBezTo>
                  <a:cubicBezTo>
                    <a:pt x="3294253" y="0"/>
                    <a:pt x="4244340" y="950087"/>
                    <a:pt x="4244340" y="2122170"/>
                  </a:cubicBezTo>
                  <a:cubicBezTo>
                    <a:pt x="4244340" y="3294253"/>
                    <a:pt x="3294253" y="4244340"/>
                    <a:pt x="2122170" y="4244340"/>
                  </a:cubicBezTo>
                  <a:cubicBezTo>
                    <a:pt x="950087" y="4244340"/>
                    <a:pt x="0" y="3294253"/>
                    <a:pt x="0" y="2122170"/>
                  </a:cubicBezTo>
                  <a:close/>
                </a:path>
              </a:pathLst>
            </a:custGeom>
            <a:gradFill rotWithShape="1">
              <a:gsLst>
                <a:gs pos="0">
                  <a:srgbClr val="FFFFFF">
                    <a:alpha val="100000"/>
                  </a:srgbClr>
                </a:gs>
                <a:gs pos="100000">
                  <a:srgbClr val="E8E8E8">
                    <a:alpha val="100000"/>
                  </a:srgbClr>
                </a:gs>
              </a:gsLst>
              <a:lin ang="5400000"/>
            </a:gradFill>
          </p:spPr>
        </p:sp>
      </p:grpSp>
      <p:grpSp>
        <p:nvGrpSpPr>
          <p:cNvPr id="13" name="Group 13"/>
          <p:cNvGrpSpPr>
            <a:grpSpLocks noChangeAspect="1"/>
          </p:cNvGrpSpPr>
          <p:nvPr/>
        </p:nvGrpSpPr>
        <p:grpSpPr>
          <a:xfrm rot="0">
            <a:off x="3466206" y="2227816"/>
            <a:ext cx="2904588" cy="2896216"/>
            <a:chOff x="0" y="0"/>
            <a:chExt cx="3872784" cy="3861622"/>
          </a:xfrm>
        </p:grpSpPr>
        <p:sp>
          <p:nvSpPr>
            <p:cNvPr id="14" name="Freeform 14"/>
            <p:cNvSpPr/>
            <p:nvPr/>
          </p:nvSpPr>
          <p:spPr>
            <a:xfrm>
              <a:off x="0" y="0"/>
              <a:ext cx="3872738" cy="3861562"/>
            </a:xfrm>
            <a:custGeom>
              <a:avLst/>
              <a:gdLst/>
              <a:ahLst/>
              <a:cxnLst/>
              <a:rect l="l" t="t" r="r" b="b"/>
              <a:pathLst>
                <a:path w="3872738" h="3861562">
                  <a:moveTo>
                    <a:pt x="0" y="0"/>
                  </a:moveTo>
                  <a:lnTo>
                    <a:pt x="3872738" y="0"/>
                  </a:lnTo>
                  <a:lnTo>
                    <a:pt x="3872738" y="3861562"/>
                  </a:lnTo>
                  <a:lnTo>
                    <a:pt x="0" y="3861562"/>
                  </a:lnTo>
                  <a:lnTo>
                    <a:pt x="0" y="0"/>
                  </a:lnTo>
                  <a:close/>
                </a:path>
              </a:pathLst>
            </a:custGeom>
            <a:blipFill>
              <a:blip r:embed="rId2"/>
              <a:stretch>
                <a:fillRect t="-36" r="-1" b="-38"/>
              </a:stretch>
            </a:blipFill>
          </p:spPr>
        </p:sp>
      </p:grpSp>
    </p:spTree>
  </p:cSld>
  <p:clrMapOvr>
    <a:masterClrMapping/>
  </p:clrMapOvr>
</p:sld>
</file>

<file path=ppt/tags/tag1.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2.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3.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4.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5.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6.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7.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8.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9.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10.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11.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12.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13.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14.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15.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16.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17.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18.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19.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20.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21.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22.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23.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24.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25.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26.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27.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28.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29.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30.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31.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32.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33.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34.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35.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36.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37.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38.xml><?xml version="1.0" encoding="utf-8"?>
<p:tagLst xmlns:p="http://schemas.openxmlformats.org/presentationml/2006/main">
  <p:tag name="KSO_WM_DIAGRAM_VIRTUALLY_FRAME" val="{&quot;height&quot;:810.0001574803149,&quot;left&quot;:202.28940856167483,&quot;top&quot;:0.00015748031501061632,&quot;width&quot;:1240.7105529553905}"/>
</p:tagLst>
</file>

<file path=ppt/tags/tag39.xml><?xml version="1.0" encoding="utf-8"?>
<p:tagLst xmlns:p="http://schemas.openxmlformats.org/presentationml/2006/main">
  <p:tag name="TABLE_ENDDRAG_ORIGIN_RECT" val="1348*592"/>
  <p:tag name="TABLE_ENDDRAG_RECT" val="36*179*1348*592"/>
</p:tagLst>
</file>

<file path=ppt/tags/tag40.xml><?xml version="1.0" encoding="utf-8"?>
<p:tagLst xmlns:p="http://schemas.openxmlformats.org/presentationml/2006/main">
  <p:tag name="COMMONDATA" val="eyJoZGlkIjoiMjZiOGRiYThkM2I1OWIwNDYwMmY5YTk1OGE0YTQwZGI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4811</Words>
  <Application>WPS 演示</Application>
  <PresentationFormat>On-screen Show (4:3)</PresentationFormat>
  <Paragraphs>458</Paragraphs>
  <Slides>35</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35</vt:i4>
      </vt:variant>
    </vt:vector>
  </HeadingPairs>
  <TitlesOfParts>
    <vt:vector size="49" baseType="lpstr">
      <vt:lpstr>Arial</vt:lpstr>
      <vt:lpstr>宋体</vt:lpstr>
      <vt:lpstr>Wingdings</vt:lpstr>
      <vt:lpstr>思源黑体 Bold</vt:lpstr>
      <vt:lpstr>黑体</vt:lpstr>
      <vt:lpstr>思源黑体</vt:lpstr>
      <vt:lpstr>Arial</vt:lpstr>
      <vt:lpstr>Calibri (MS)</vt:lpstr>
      <vt:lpstr>Calibri (MS) Bold</vt:lpstr>
      <vt:lpstr>Calibri</vt:lpstr>
      <vt:lpstr>微软雅黑</vt:lpstr>
      <vt:lpstr>Arial Unicode MS</vt:lpstr>
      <vt:lpstr>华文中宋</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proj59.pptx</dc:title>
  <dc:creator/>
  <cp:lastModifiedBy>马福泉</cp:lastModifiedBy>
  <cp:revision>21</cp:revision>
  <dcterms:created xsi:type="dcterms:W3CDTF">2006-08-16T00:00:00Z</dcterms:created>
  <dcterms:modified xsi:type="dcterms:W3CDTF">2025-08-18T08:09:52Z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B9709FFDB8014EC48AB26D288C97664F_12</vt:lpwstr>
  </property>
  <property fmtid="{D5CDD505-2E9C-101B-9397-08002B2CF9AE}" pid="3" name="KSOProductBuildVer">
    <vt:lpwstr>2052-12.1.0.18912</vt:lpwstr>
  </property>
</Properties>
</file>